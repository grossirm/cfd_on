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09/15/2026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FAAB37-1D7F-73EB-E92D-AB6513FCD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475780"/>
            <a:ext cx="2809875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5CDA9-0F54-3488-3FBB-CC7738CAA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3918615"/>
            <a:ext cx="2962275" cy="942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0A005E-2866-6328-552C-0291B1E94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9" y="2547015"/>
            <a:ext cx="2954777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0CBDAB-83AC-8610-55EE-2A371D96B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761891"/>
            <a:ext cx="1304925" cy="438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47D79C-6002-D6F2-05FE-0173FD5BF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35538"/>
            <a:ext cx="5257800" cy="352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6FC8A7-96E0-1B4C-5678-CCDD1373B2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46" t="-12545" b="-1"/>
          <a:stretch>
            <a:fillRect/>
          </a:stretch>
        </p:blipFill>
        <p:spPr>
          <a:xfrm>
            <a:off x="2727279" y="2517551"/>
            <a:ext cx="3368721" cy="3657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1D6B448-9326-6A9C-5E46-321CD199A864}"/>
              </a:ext>
            </a:extLst>
          </p:cNvPr>
          <p:cNvSpPr txBox="1"/>
          <p:nvPr/>
        </p:nvSpPr>
        <p:spPr>
          <a:xfrm>
            <a:off x="6096000" y="4879165"/>
            <a:ext cx="25600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4.4.1 Interpolation schemes</a:t>
            </a:r>
          </a:p>
          <a:p>
            <a:pPr algn="l"/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fr-FR" sz="1400" dirty="0"/>
              <a:t>4.4.2 Surface normal ∆ </a:t>
            </a:r>
            <a:r>
              <a:rPr lang="fr-FR" sz="1400" dirty="0" err="1"/>
              <a:t>schemes</a:t>
            </a:r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4.4.3 Gradient schemes</a:t>
            </a:r>
            <a:endParaRPr lang="en-US" sz="1400" b="0" i="0" u="none" strike="noStrike" baseline="0" dirty="0">
              <a:solidFill>
                <a:srgbClr val="00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4.4.4 Laplacian schemes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FF"/>
                </a:solidFill>
                <a:latin typeface="CMR12"/>
              </a:rPr>
              <a:t>4.4.5 Divergence schemes ____</a:t>
            </a: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4.4.6 Time schemes</a:t>
            </a: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4.4.7 Flux calculation</a:t>
            </a:r>
            <a:endParaRPr lang="LID4096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04ECA-2ED9-6984-099E-2BC11BBAFBFA}"/>
              </a:ext>
            </a:extLst>
          </p:cNvPr>
          <p:cNvSpPr txBox="1"/>
          <p:nvPr/>
        </p:nvSpPr>
        <p:spPr>
          <a:xfrm>
            <a:off x="2920144" y="5078976"/>
            <a:ext cx="3489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baseline="0" dirty="0">
                <a:latin typeface="CMBX12"/>
              </a:rPr>
              <a:t>4.4.1.1 Schemes for strictly bounded scalar fields</a:t>
            </a:r>
          </a:p>
          <a:p>
            <a:r>
              <a:rPr lang="en-GB" sz="1200" dirty="0"/>
              <a:t>4.4.1.2 Schemes for vector fields</a:t>
            </a:r>
            <a:endParaRPr lang="LID4096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8C6906-CF15-941F-3915-BA1BA0E38E57}"/>
              </a:ext>
            </a:extLst>
          </p:cNvPr>
          <p:cNvGrpSpPr/>
          <p:nvPr/>
        </p:nvGrpSpPr>
        <p:grpSpPr>
          <a:xfrm>
            <a:off x="151039" y="766708"/>
            <a:ext cx="2930034" cy="1585372"/>
            <a:chOff x="151039" y="766708"/>
            <a:chExt cx="2930034" cy="158537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1EC75C-8402-47E1-A2D1-B5B7973D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1039" y="766708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122025-25DF-2E1F-A7E4-75818D194E4B}"/>
                </a:ext>
              </a:extLst>
            </p:cNvPr>
            <p:cNvSpPr txBox="1"/>
            <p:nvPr/>
          </p:nvSpPr>
          <p:spPr>
            <a:xfrm>
              <a:off x="211999" y="2077236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/>
                <a:t>Finite 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762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7132155-2F91-E519-0239-5AE20681D681}"/>
              </a:ext>
            </a:extLst>
          </p:cNvPr>
          <p:cNvGrpSpPr/>
          <p:nvPr/>
        </p:nvGrpSpPr>
        <p:grpSpPr>
          <a:xfrm>
            <a:off x="287322" y="4594862"/>
            <a:ext cx="10719809" cy="809299"/>
            <a:chOff x="287322" y="4864829"/>
            <a:chExt cx="10719809" cy="809299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C98F7D3-B2B1-458B-795A-2A800B6D6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322" y="4864829"/>
              <a:ext cx="4481342" cy="809299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310240C-3952-3C2E-B532-5009D1426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0779" y="4928438"/>
              <a:ext cx="3758045" cy="66675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75D6A8-DE90-4155-3A60-0D2607E0EE8A}"/>
                </a:ext>
              </a:extLst>
            </p:cNvPr>
            <p:cNvSpPr txBox="1"/>
            <p:nvPr/>
          </p:nvSpPr>
          <p:spPr>
            <a:xfrm>
              <a:off x="9370603" y="5007897"/>
              <a:ext cx="16365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Tutorial Four p. 45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307B6A-AEB0-E00F-A835-EAC653D23E51}"/>
              </a:ext>
            </a:extLst>
          </p:cNvPr>
          <p:cNvGrpSpPr/>
          <p:nvPr/>
        </p:nvGrpSpPr>
        <p:grpSpPr>
          <a:xfrm>
            <a:off x="248516" y="3624236"/>
            <a:ext cx="4675859" cy="1005763"/>
            <a:chOff x="508633" y="3499957"/>
            <a:chExt cx="4675859" cy="10057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AD3A5AE-7214-A8F0-EF2F-FAA849B87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21"/>
            <a:stretch>
              <a:fillRect/>
            </a:stretch>
          </p:blipFill>
          <p:spPr>
            <a:xfrm>
              <a:off x="609600" y="3513653"/>
              <a:ext cx="4574892" cy="90621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8FC23A-3296-6DDC-FD36-820AF71BBC42}"/>
                </a:ext>
              </a:extLst>
            </p:cNvPr>
            <p:cNvSpPr/>
            <p:nvPr/>
          </p:nvSpPr>
          <p:spPr>
            <a:xfrm>
              <a:off x="508633" y="3499957"/>
              <a:ext cx="1823233" cy="1005763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EC8758-54C4-4F62-EBE5-767EF1982B3D}"/>
              </a:ext>
            </a:extLst>
          </p:cNvPr>
          <p:cNvGrpSpPr/>
          <p:nvPr/>
        </p:nvGrpSpPr>
        <p:grpSpPr>
          <a:xfrm>
            <a:off x="5531353" y="3569026"/>
            <a:ext cx="3839250" cy="1060974"/>
            <a:chOff x="5504924" y="2631158"/>
            <a:chExt cx="3839250" cy="106097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CDD00C9-ECE7-4ED6-A30E-E8DBB6D7C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967"/>
            <a:stretch>
              <a:fillRect/>
            </a:stretch>
          </p:blipFill>
          <p:spPr>
            <a:xfrm>
              <a:off x="5504924" y="2631158"/>
              <a:ext cx="3839250" cy="99609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E0D9EF-6F2B-5C68-063D-49BE3E05944F}"/>
                </a:ext>
              </a:extLst>
            </p:cNvPr>
            <p:cNvSpPr txBox="1"/>
            <p:nvPr/>
          </p:nvSpPr>
          <p:spPr>
            <a:xfrm>
              <a:off x="6256542" y="3295168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5A08A2-44D2-2E73-8374-285C8F0C5BAF}"/>
                </a:ext>
              </a:extLst>
            </p:cNvPr>
            <p:cNvSpPr txBox="1"/>
            <p:nvPr/>
          </p:nvSpPr>
          <p:spPr>
            <a:xfrm>
              <a:off x="6512242" y="343821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/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6F7D440-9B11-A3A4-35BA-40FAE21516DE}"/>
              </a:ext>
            </a:extLst>
          </p:cNvPr>
          <p:cNvGrpSpPr/>
          <p:nvPr/>
        </p:nvGrpSpPr>
        <p:grpSpPr>
          <a:xfrm>
            <a:off x="1132005" y="4214063"/>
            <a:ext cx="2027611" cy="406030"/>
            <a:chOff x="1379095" y="4061515"/>
            <a:chExt cx="2027611" cy="40603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242161-60D1-7962-8AAC-A331409DC3E2}"/>
                </a:ext>
              </a:extLst>
            </p:cNvPr>
            <p:cNvSpPr txBox="1"/>
            <p:nvPr/>
          </p:nvSpPr>
          <p:spPr>
            <a:xfrm>
              <a:off x="1379095" y="4061515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0AA16CA-C4F1-CCFE-BB6B-59EF59F297B6}"/>
                </a:ext>
              </a:extLst>
            </p:cNvPr>
            <p:cNvSpPr txBox="1"/>
            <p:nvPr/>
          </p:nvSpPr>
          <p:spPr>
            <a:xfrm>
              <a:off x="1634795" y="4213629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EF56DDC-9C31-45AC-D7FA-A17A8127615C}"/>
              </a:ext>
            </a:extLst>
          </p:cNvPr>
          <p:cNvGrpSpPr/>
          <p:nvPr/>
        </p:nvGrpSpPr>
        <p:grpSpPr>
          <a:xfrm>
            <a:off x="5598692" y="2885734"/>
            <a:ext cx="2790457" cy="762942"/>
            <a:chOff x="5481171" y="2685020"/>
            <a:chExt cx="2790457" cy="762942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01504D9-71FC-0C21-3DF2-6C5F3D2AE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277" r="66555" b="23374"/>
            <a:stretch>
              <a:fillRect/>
            </a:stretch>
          </p:blipFill>
          <p:spPr>
            <a:xfrm>
              <a:off x="5481171" y="2685020"/>
              <a:ext cx="2037092" cy="68082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D00A65-B956-4D40-79D9-E75850C1BF91}"/>
                </a:ext>
              </a:extLst>
            </p:cNvPr>
            <p:cNvSpPr txBox="1"/>
            <p:nvPr/>
          </p:nvSpPr>
          <p:spPr>
            <a:xfrm>
              <a:off x="6499717" y="319404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18FC71-6437-21B3-26D8-3196491EDBE9}"/>
              </a:ext>
            </a:extLst>
          </p:cNvPr>
          <p:cNvGrpSpPr/>
          <p:nvPr/>
        </p:nvGrpSpPr>
        <p:grpSpPr>
          <a:xfrm>
            <a:off x="174169" y="2031080"/>
            <a:ext cx="5625737" cy="805705"/>
            <a:chOff x="470263" y="1258066"/>
            <a:chExt cx="5625737" cy="80570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4DDBC08-AB3E-320F-1B05-A7D4641D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052" b="48031"/>
            <a:stretch>
              <a:fillRect/>
            </a:stretch>
          </p:blipFill>
          <p:spPr>
            <a:xfrm>
              <a:off x="470263" y="1258066"/>
              <a:ext cx="5625737" cy="77220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DF293F-4E3A-75DA-78C0-759BF3648BCF}"/>
                </a:ext>
              </a:extLst>
            </p:cNvPr>
            <p:cNvCxnSpPr>
              <a:cxnSpLocks/>
            </p:cNvCxnSpPr>
            <p:nvPr/>
          </p:nvCxnSpPr>
          <p:spPr>
            <a:xfrm>
              <a:off x="2999288" y="2063771"/>
              <a:ext cx="168864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4847EF-FDC2-5878-FF02-0799C72BD516}"/>
              </a:ext>
            </a:extLst>
          </p:cNvPr>
          <p:cNvGrpSpPr/>
          <p:nvPr/>
        </p:nvGrpSpPr>
        <p:grpSpPr>
          <a:xfrm>
            <a:off x="174169" y="1009726"/>
            <a:ext cx="5842328" cy="981075"/>
            <a:chOff x="470263" y="210586"/>
            <a:chExt cx="5842328" cy="9810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F84D371-DC81-BFCB-879C-180768C8A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193"/>
            <a:stretch>
              <a:fillRect/>
            </a:stretch>
          </p:blipFill>
          <p:spPr>
            <a:xfrm>
              <a:off x="470263" y="210586"/>
              <a:ext cx="5254261" cy="98107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881AF7-CE9D-A4C9-6F44-1A6E6394FB9C}"/>
                </a:ext>
              </a:extLst>
            </p:cNvPr>
            <p:cNvSpPr txBox="1"/>
            <p:nvPr/>
          </p:nvSpPr>
          <p:spPr>
            <a:xfrm>
              <a:off x="5862538" y="478371"/>
              <a:ext cx="450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2.3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9C4E34-D752-C98F-0296-F8021A155D37}"/>
                </a:ext>
              </a:extLst>
            </p:cNvPr>
            <p:cNvCxnSpPr>
              <a:cxnSpLocks/>
            </p:cNvCxnSpPr>
            <p:nvPr/>
          </p:nvCxnSpPr>
          <p:spPr>
            <a:xfrm>
              <a:off x="1887085" y="1019532"/>
              <a:ext cx="1255638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DA42186-D9A5-C16B-8947-126F322FFD44}"/>
                </a:ext>
              </a:extLst>
            </p:cNvPr>
            <p:cNvCxnSpPr>
              <a:cxnSpLocks/>
            </p:cNvCxnSpPr>
            <p:nvPr/>
          </p:nvCxnSpPr>
          <p:spPr>
            <a:xfrm>
              <a:off x="3359925" y="1018884"/>
              <a:ext cx="1185440" cy="648"/>
            </a:xfrm>
            <a:prstGeom prst="line">
              <a:avLst/>
            </a:prstGeom>
            <a:ln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FBEC9D1-044A-2724-06EF-333CB2299B64}"/>
              </a:ext>
            </a:extLst>
          </p:cNvPr>
          <p:cNvSpPr txBox="1"/>
          <p:nvPr/>
        </p:nvSpPr>
        <p:spPr>
          <a:xfrm>
            <a:off x="3490174" y="2606793"/>
            <a:ext cx="999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6AE4483-795B-A27D-99FD-FA8DE25F2C82}"/>
              </a:ext>
            </a:extLst>
          </p:cNvPr>
          <p:cNvGrpSpPr/>
          <p:nvPr/>
        </p:nvGrpSpPr>
        <p:grpSpPr>
          <a:xfrm>
            <a:off x="8350944" y="105148"/>
            <a:ext cx="3565688" cy="476250"/>
            <a:chOff x="6579218" y="1414866"/>
            <a:chExt cx="3565688" cy="4762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50F9A7-0D71-FD02-B370-87205EE152DC}"/>
                </a:ext>
              </a:extLst>
            </p:cNvPr>
            <p:cNvSpPr txBox="1"/>
            <p:nvPr/>
          </p:nvSpPr>
          <p:spPr>
            <a:xfrm>
              <a:off x="9711724" y="1499103"/>
              <a:ext cx="433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2.5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4073551-39D1-104C-8A26-BFF43DB5F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79218" y="1414866"/>
              <a:ext cx="3038475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E98A3FF-E4A6-C563-882A-A4DDB81E3F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7854" y="5956863"/>
            <a:ext cx="2838450" cy="6667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/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/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AA739BAB-3B02-B01F-68A5-F9F5AA2A44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296" t="52147" r="1"/>
          <a:stretch>
            <a:fillRect/>
          </a:stretch>
        </p:blipFill>
        <p:spPr>
          <a:xfrm>
            <a:off x="5566444" y="2092245"/>
            <a:ext cx="4577823" cy="711042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6E6629-A27E-39F6-7834-DCFFF79A0762}"/>
              </a:ext>
            </a:extLst>
          </p:cNvPr>
          <p:cNvCxnSpPr>
            <a:cxnSpLocks/>
          </p:cNvCxnSpPr>
          <p:nvPr/>
        </p:nvCxnSpPr>
        <p:spPr>
          <a:xfrm>
            <a:off x="6846442" y="2803286"/>
            <a:ext cx="131350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E3EA4D5-DE4E-DF1E-78F7-74B6FEAC142A}"/>
              </a:ext>
            </a:extLst>
          </p:cNvPr>
          <p:cNvSpPr txBox="1"/>
          <p:nvPr/>
        </p:nvSpPr>
        <p:spPr>
          <a:xfrm>
            <a:off x="10691110" y="2256129"/>
            <a:ext cx="433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2.4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2FAA748-BD70-2F74-A911-144C33646381}"/>
              </a:ext>
            </a:extLst>
          </p:cNvPr>
          <p:cNvCxnSpPr/>
          <p:nvPr/>
        </p:nvCxnSpPr>
        <p:spPr>
          <a:xfrm>
            <a:off x="6553154" y="3412396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D2AA57D-48C5-B51C-D73D-0DDC1D18BD34}"/>
              </a:ext>
            </a:extLst>
          </p:cNvPr>
          <p:cNvCxnSpPr/>
          <p:nvPr/>
        </p:nvCxnSpPr>
        <p:spPr>
          <a:xfrm>
            <a:off x="6425887" y="4223970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64F103-39A0-1730-297F-F6DB9824D3BE}"/>
              </a:ext>
            </a:extLst>
          </p:cNvPr>
          <p:cNvCxnSpPr/>
          <p:nvPr/>
        </p:nvCxnSpPr>
        <p:spPr>
          <a:xfrm>
            <a:off x="1326906" y="4182299"/>
            <a:ext cx="365760" cy="0"/>
          </a:xfrm>
          <a:prstGeom prst="line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B2A8037-737E-186D-C1C2-3513891FB690}"/>
              </a:ext>
            </a:extLst>
          </p:cNvPr>
          <p:cNvSpPr txBox="1"/>
          <p:nvPr/>
        </p:nvSpPr>
        <p:spPr>
          <a:xfrm>
            <a:off x="7348670" y="2565550"/>
            <a:ext cx="706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>
                <a:solidFill>
                  <a:srgbClr val="FF0000"/>
                </a:solidFill>
              </a:rPr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76F5FD8-FBFC-2DF3-8B56-AF71BF540FEC}"/>
              </a:ext>
            </a:extLst>
          </p:cNvPr>
          <p:cNvGrpSpPr/>
          <p:nvPr/>
        </p:nvGrpSpPr>
        <p:grpSpPr>
          <a:xfrm>
            <a:off x="2751291" y="2942437"/>
            <a:ext cx="1615883" cy="834059"/>
            <a:chOff x="2751291" y="2099753"/>
            <a:chExt cx="1615883" cy="834059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ADDB1AE-D479-D686-2B42-3E348E4D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92" t="7962" r="73685"/>
            <a:stretch>
              <a:fillRect/>
            </a:stretch>
          </p:blipFill>
          <p:spPr>
            <a:xfrm>
              <a:off x="2751291" y="2099753"/>
              <a:ext cx="1615883" cy="83405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69AAD-0B84-CB59-394F-38F3416B2982}"/>
                </a:ext>
              </a:extLst>
            </p:cNvPr>
            <p:cNvSpPr txBox="1"/>
            <p:nvPr/>
          </p:nvSpPr>
          <p:spPr>
            <a:xfrm>
              <a:off x="3427169" y="2552076"/>
              <a:ext cx="82899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D0E836-C22B-9C04-CEE4-E67DEA10A88B}"/>
                </a:ext>
              </a:extLst>
            </p:cNvPr>
            <p:cNvCxnSpPr/>
            <p:nvPr/>
          </p:nvCxnSpPr>
          <p:spPr>
            <a:xfrm>
              <a:off x="3282876" y="2560417"/>
              <a:ext cx="707010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33EDD9C-EA66-6BBC-F468-37428C6F7AAC}"/>
              </a:ext>
            </a:extLst>
          </p:cNvPr>
          <p:cNvSpPr txBox="1"/>
          <p:nvPr/>
        </p:nvSpPr>
        <p:spPr>
          <a:xfrm>
            <a:off x="10613652" y="640358"/>
            <a:ext cx="786958" cy="262517"/>
          </a:xfrm>
          <a:prstGeom prst="rect">
            <a:avLst/>
          </a:prstGeom>
          <a:solidFill>
            <a:srgbClr val="00B0F0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>
                <a:solidFill>
                  <a:schemeClr val="bg1"/>
                </a:solidFill>
              </a:rPr>
              <a:t>Schemes!</a:t>
            </a:r>
            <a:endParaRPr lang="en-GB" sz="2000" noProof="0" dirty="0">
              <a:solidFill>
                <a:schemeClr val="bg1"/>
              </a:solidFill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60D33EC-30C3-65F8-41F4-E4788EEA08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611" y="142472"/>
            <a:ext cx="2962275" cy="447675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F353D17-9949-A4D6-0AA5-183BBFC99A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9206" y="939158"/>
            <a:ext cx="4895850" cy="714375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53B2F3EA-46CB-29FE-D83B-3AC547450482}"/>
              </a:ext>
            </a:extLst>
          </p:cNvPr>
          <p:cNvSpPr txBox="1"/>
          <p:nvPr/>
        </p:nvSpPr>
        <p:spPr>
          <a:xfrm>
            <a:off x="10555472" y="1566744"/>
            <a:ext cx="145958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US" sz="1300" dirty="0">
                <a:solidFill>
                  <a:srgbClr val="FF0000"/>
                </a:solidFill>
              </a:rPr>
              <a:t>Notes on CFD</a:t>
            </a:r>
            <a:endParaRPr lang="LID4096" sz="1300" dirty="0">
              <a:solidFill>
                <a:srgbClr val="FF000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A32D044-DBC5-0668-0D97-B65E2952CACF}"/>
              </a:ext>
            </a:extLst>
          </p:cNvPr>
          <p:cNvGrpSpPr/>
          <p:nvPr/>
        </p:nvGrpSpPr>
        <p:grpSpPr>
          <a:xfrm>
            <a:off x="140892" y="5607532"/>
            <a:ext cx="3625338" cy="1107996"/>
            <a:chOff x="-213656" y="5559119"/>
            <a:chExt cx="3625338" cy="1107996"/>
          </a:xfrm>
        </p:grpSpPr>
        <p:pic>
          <p:nvPicPr>
            <p:cNvPr id="102" name="Picture 1">
              <a:extLst>
                <a:ext uri="{FF2B5EF4-FFF2-40B4-BE49-F238E27FC236}">
                  <a16:creationId xmlns:a16="http://schemas.microsoft.com/office/drawing/2014/main" id="{9FFDCD54-B920-60A0-EF20-FF38AD257D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3" t="7716" r="4082" b="24547"/>
            <a:stretch>
              <a:fillRect/>
            </a:stretch>
          </p:blipFill>
          <p:spPr bwMode="auto">
            <a:xfrm>
              <a:off x="1750235" y="5571248"/>
              <a:ext cx="1661447" cy="3385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0CFC7EB-52DE-65B0-6D3F-919641005405}"/>
                </a:ext>
              </a:extLst>
            </p:cNvPr>
            <p:cNvSpPr txBox="1"/>
            <p:nvPr/>
          </p:nvSpPr>
          <p:spPr>
            <a:xfrm>
              <a:off x="-213656" y="5559119"/>
              <a:ext cx="1932186" cy="1107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Solve (</a:t>
              </a:r>
            </a:p>
            <a:p>
              <a:r>
                <a:rPr lang="en-US" sz="1200" b="1" dirty="0"/>
                <a:t>   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ddt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(rho,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+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::div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(phi,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laplacian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(nu, U)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  ==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fvc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grad(p))</a:t>
              </a:r>
              <a:endParaRPr lang="LID4096" sz="1000" dirty="0">
                <a:solidFill>
                  <a:srgbClr val="24292E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B7D0B72D-BA6F-E0BF-2572-D425A25B5712}"/>
              </a:ext>
            </a:extLst>
          </p:cNvPr>
          <p:cNvSpPr txBox="1"/>
          <p:nvPr/>
        </p:nvSpPr>
        <p:spPr>
          <a:xfrm>
            <a:off x="3841667" y="5607950"/>
            <a:ext cx="203709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fvScalarMatrix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TEqn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   (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ddt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::div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(phi,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laplacian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(DT,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==</a:t>
            </a:r>
            <a:endParaRPr lang="en-US" sz="10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fvOptions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        );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4102456-FC59-8121-900C-863BD88E1FAD}"/>
              </a:ext>
            </a:extLst>
          </p:cNvPr>
          <p:cNvGrpSpPr/>
          <p:nvPr/>
        </p:nvGrpSpPr>
        <p:grpSpPr>
          <a:xfrm>
            <a:off x="6034912" y="5424117"/>
            <a:ext cx="2918333" cy="1308050"/>
            <a:chOff x="6034912" y="5424117"/>
            <a:chExt cx="2918333" cy="130805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3C20295-5EB8-5E84-5760-CB8FB967BBA5}"/>
                </a:ext>
              </a:extLst>
            </p:cNvPr>
            <p:cNvGrpSpPr/>
            <p:nvPr/>
          </p:nvGrpSpPr>
          <p:grpSpPr>
            <a:xfrm>
              <a:off x="6087742" y="5670338"/>
              <a:ext cx="2865503" cy="1061829"/>
              <a:chOff x="9177854" y="3009624"/>
              <a:chExt cx="2865503" cy="1061829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11EE9B3-8954-6F59-9CFF-DF383F45DE17}"/>
                  </a:ext>
                </a:extLst>
              </p:cNvPr>
              <p:cNvSpPr txBox="1"/>
              <p:nvPr/>
            </p:nvSpPr>
            <p:spPr>
              <a:xfrm>
                <a:off x="9177854" y="3009624"/>
                <a:ext cx="2865503" cy="10618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divSchemes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    {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sz="9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default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        none;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upwind;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linear;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linearUpwind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 grad(T);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QUICK;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en-US" sz="900" b="0" dirty="0">
                    <a:solidFill>
                      <a:srgbClr val="6F42C1"/>
                    </a:solidFill>
                    <a:effectLst/>
                    <a:latin typeface="Consolas" panose="020B0609020204030204" pitchFamily="49" charset="0"/>
                  </a:rPr>
                  <a:t>div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)  Gauss cubic;  }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7F91039-004C-3234-E495-F9836A640454}"/>
                  </a:ext>
                </a:extLst>
              </p:cNvPr>
              <p:cNvSpPr txBox="1"/>
              <p:nvPr/>
            </p:nvSpPr>
            <p:spPr>
              <a:xfrm>
                <a:off x="10803261" y="3009624"/>
                <a:ext cx="12254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LID4096"/>
                </a:defPPr>
                <a:lvl1pPr>
                  <a:defRPr sz="1000">
                    <a:solidFill>
                      <a:srgbClr val="24292E"/>
                    </a:solidFill>
                    <a:latin typeface="Consolas" panose="020B0609020204030204" pitchFamily="49" charset="0"/>
                  </a:defRPr>
                </a:lvl1pPr>
              </a:lstStyle>
              <a:p>
                <a:pPr algn="r"/>
                <a:r>
                  <a:rPr lang="LID4096" sz="1400" dirty="0">
                    <a:solidFill>
                      <a:srgbClr val="0000FF"/>
                    </a:solidFill>
                  </a:rPr>
                  <a:t>fvSchemes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4DA7E74-CA11-C340-2487-28946251AE3E}"/>
                </a:ext>
              </a:extLst>
            </p:cNvPr>
            <p:cNvSpPr txBox="1"/>
            <p:nvPr/>
          </p:nvSpPr>
          <p:spPr>
            <a:xfrm>
              <a:off x="6034912" y="5424117"/>
              <a:ext cx="186318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scalarTransportFoam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/>
              <p:nvPr/>
            </p:nvSpPr>
            <p:spPr>
              <a:xfrm>
                <a:off x="4940228" y="4616963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4616963"/>
                <a:ext cx="51888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Picture 111">
            <a:extLst>
              <a:ext uri="{FF2B5EF4-FFF2-40B4-BE49-F238E27FC236}">
                <a16:creationId xmlns:a16="http://schemas.microsoft.com/office/drawing/2014/main" id="{4B5C8BD1-4F2B-6D6C-96B0-68717505FF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635" y="299301"/>
            <a:ext cx="2598519" cy="469177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74283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03B52-36C3-6294-1EA1-E88EFB53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29" y="581295"/>
            <a:ext cx="1609725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108FD-AC69-AA6B-94C1-72A26F43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852" y="607422"/>
            <a:ext cx="3886200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583D6-29E8-5E2E-9787-4902615A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018" y="1126805"/>
            <a:ext cx="6610350" cy="581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A23C5-253B-A03D-7625-DAF5129FF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08" y="1074551"/>
            <a:ext cx="1628775" cy="57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8A5B7B-4305-2128-3698-4F313A335E71}"/>
              </a:ext>
            </a:extLst>
          </p:cNvPr>
          <p:cNvSpPr txBox="1"/>
          <p:nvPr/>
        </p:nvSpPr>
        <p:spPr>
          <a:xfrm>
            <a:off x="335146" y="383236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/>
              <a:t>Conservação de massa</a:t>
            </a:r>
            <a:endParaRPr lang="pt-BR" sz="1400" noProof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2426A-0F11-287F-2B95-241E66692D7E}"/>
              </a:ext>
            </a:extLst>
          </p:cNvPr>
          <p:cNvSpPr txBox="1"/>
          <p:nvPr/>
        </p:nvSpPr>
        <p:spPr>
          <a:xfrm>
            <a:off x="2277018" y="409363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 dirty="0"/>
              <a:t>Qde de movimento</a:t>
            </a:r>
            <a:endParaRPr lang="pt-BR" sz="14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03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5164</TotalTime>
  <Words>212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CMBX12</vt:lpstr>
      <vt:lpstr>CMR12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103</cp:revision>
  <dcterms:created xsi:type="dcterms:W3CDTF">2026-05-20T13:22:55Z</dcterms:created>
  <dcterms:modified xsi:type="dcterms:W3CDTF">2026-09-16T14:22:00Z</dcterms:modified>
</cp:coreProperties>
</file>