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8" r:id="rId10"/>
    <p:sldId id="267" r:id="rId11"/>
    <p:sldId id="266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09/29/2026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www.youtube.com/watch?v=PaDDplpAJJ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file:///\\wsl.localhost\Ubuntu\mnt\wslg\distro\usr\lib\openfoam\openfoam2412\applications\solver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hyperlink" Target="https://www.youtube.com/watch?v=yN58_cevRxE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12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36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5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50.png"/><Relationship Id="rId5" Type="http://schemas.openxmlformats.org/officeDocument/2006/relationships/image" Target="../media/image42.png"/><Relationship Id="rId10" Type="http://schemas.openxmlformats.org/officeDocument/2006/relationships/image" Target="../media/image49.png"/><Relationship Id="rId4" Type="http://schemas.openxmlformats.org/officeDocument/2006/relationships/image" Target="../media/image41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F85A9-FF1B-56FF-B4F8-080257483BDE}"/>
              </a:ext>
            </a:extLst>
          </p:cNvPr>
          <p:cNvSpPr txBox="1"/>
          <p:nvPr/>
        </p:nvSpPr>
        <p:spPr>
          <a:xfrm>
            <a:off x="408691" y="2373934"/>
            <a:ext cx="5322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F</a:t>
            </a:r>
            <a:r>
              <a:rPr lang="en-GB" sz="2800" b="1" i="0" u="none" strike="noStrike" baseline="0" dirty="0">
                <a:latin typeface="LMRoman12-Regular"/>
              </a:rPr>
              <a:t>ield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</a:t>
            </a:r>
            <a:r>
              <a:rPr lang="en-GB" sz="2800" b="1" i="0" u="none" strike="noStrike" baseline="0" dirty="0">
                <a:latin typeface="LMRoman12-Regular"/>
              </a:rPr>
              <a:t>peration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A</a:t>
            </a:r>
            <a:r>
              <a:rPr lang="en-GB" sz="2800" b="1" i="0" u="none" strike="noStrike" baseline="0" dirty="0">
                <a:latin typeface="LMRoman12-Regular"/>
              </a:rPr>
              <a:t>nd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</a:t>
            </a:r>
            <a:r>
              <a:rPr lang="en-GB" sz="2800" b="1" i="0" u="none" strike="noStrike" baseline="0" dirty="0">
                <a:latin typeface="LMRoman12-Regular"/>
              </a:rPr>
              <a:t>anipulation </a:t>
            </a:r>
            <a:endParaRPr lang="LID4096" sz="28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E8BF9E-F9BA-B702-A493-5025E9CC8625}"/>
              </a:ext>
            </a:extLst>
          </p:cNvPr>
          <p:cNvGrpSpPr>
            <a:grpSpLocks noChangeAspect="1"/>
          </p:cNvGrpSpPr>
          <p:nvPr/>
        </p:nvGrpSpPr>
        <p:grpSpPr>
          <a:xfrm>
            <a:off x="565019" y="3166449"/>
            <a:ext cx="3478797" cy="2896389"/>
            <a:chOff x="570368" y="3228186"/>
            <a:chExt cx="2453773" cy="204297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510B1-08AD-722C-2323-BF07527EC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6539" y="3228186"/>
              <a:ext cx="1747602" cy="204297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38E16340-B04A-BD7E-C439-B2F0D2752FF4}"/>
                </a:ext>
              </a:extLst>
            </p:cNvPr>
            <p:cNvSpPr/>
            <p:nvPr/>
          </p:nvSpPr>
          <p:spPr>
            <a:xfrm>
              <a:off x="570368" y="4721351"/>
              <a:ext cx="491402" cy="461665"/>
            </a:xfrm>
            <a:prstGeom prst="rightArrow">
              <a:avLst/>
            </a:prstGeom>
            <a:solidFill>
              <a:srgbClr val="0000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152A27A-57FB-DE69-67B1-731C23C8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92" t="1090"/>
          <a:stretch>
            <a:fillRect/>
          </a:stretch>
        </p:blipFill>
        <p:spPr>
          <a:xfrm>
            <a:off x="6116811" y="2373934"/>
            <a:ext cx="5510170" cy="39503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FB053-56FD-2B57-6107-3979686561C6}"/>
              </a:ext>
            </a:extLst>
          </p:cNvPr>
          <p:cNvSpPr txBox="1"/>
          <p:nvPr/>
        </p:nvSpPr>
        <p:spPr>
          <a:xfrm>
            <a:off x="408691" y="1850714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Open</a:t>
            </a:r>
            <a:endParaRPr lang="LID4096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35D20-BB5B-6452-A701-2E4A2634173B}"/>
              </a:ext>
            </a:extLst>
          </p:cNvPr>
          <p:cNvSpPr txBox="1"/>
          <p:nvPr/>
        </p:nvSpPr>
        <p:spPr>
          <a:xfrm>
            <a:off x="408691" y="285954"/>
            <a:ext cx="332511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==========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  \ \              /    </a:t>
            </a:r>
            <a:r>
              <a:rPr lang="en-US" b="1" dirty="0">
                <a:solidFill>
                  <a:schemeClr val="bg1"/>
                </a:solidFill>
              </a:rPr>
              <a:t>F</a:t>
            </a:r>
            <a:r>
              <a:rPr lang="en-US" dirty="0">
                <a:solidFill>
                  <a:schemeClr val="bg1"/>
                </a:solidFill>
              </a:rPr>
              <a:t>    ield             </a:t>
            </a:r>
          </a:p>
          <a:p>
            <a:r>
              <a:rPr lang="en-US" dirty="0">
                <a:solidFill>
                  <a:schemeClr val="bg1"/>
                </a:solidFill>
              </a:rPr>
              <a:t>      \ \          /     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>
                <a:solidFill>
                  <a:schemeClr val="bg1"/>
                </a:solidFill>
              </a:rPr>
              <a:t>   peration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  \ \      /       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  nd      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    \ \  /         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 anipulation  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02686F-573C-322B-B9DD-69BC1B5F0469}"/>
              </a:ext>
            </a:extLst>
          </p:cNvPr>
          <p:cNvGrpSpPr>
            <a:grpSpLocks noChangeAspect="1"/>
          </p:cNvGrpSpPr>
          <p:nvPr/>
        </p:nvGrpSpPr>
        <p:grpSpPr>
          <a:xfrm>
            <a:off x="9076565" y="2811811"/>
            <a:ext cx="2343910" cy="1670981"/>
            <a:chOff x="6075190" y="2359743"/>
            <a:chExt cx="1849609" cy="131859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DA89C75-DA8C-3F5F-A6CE-A84B712EC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5190" y="2359743"/>
              <a:ext cx="1849609" cy="1318592"/>
            </a:xfrm>
            <a:prstGeom prst="rect">
              <a:avLst/>
            </a:prstGeom>
            <a:effectLst>
              <a:outerShdw blurRad="50800" dist="38100" dir="8100000" algn="tr" rotWithShape="0">
                <a:schemeClr val="bg1">
                  <a:alpha val="40000"/>
                </a:scheme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D16CCE9-3DD1-9E06-AFE2-FB4DCA464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7569"/>
            <a:stretch>
              <a:fillRect/>
            </a:stretch>
          </p:blipFill>
          <p:spPr>
            <a:xfrm>
              <a:off x="6807319" y="2389809"/>
              <a:ext cx="1076325" cy="12483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FF0315E-7ABF-83DB-3C2F-F182D1653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3131"/>
            <a:stretch>
              <a:fillRect/>
            </a:stretch>
          </p:blipFill>
          <p:spPr>
            <a:xfrm>
              <a:off x="6157657" y="2389809"/>
              <a:ext cx="649662" cy="190500"/>
            </a:xfrm>
            <a:prstGeom prst="rect">
              <a:avLst/>
            </a:prstGeom>
          </p:spPr>
        </p:pic>
      </p:grpSp>
      <p:pic>
        <p:nvPicPr>
          <p:cNvPr id="1026" name="Picture 2" descr="Ícone de Ubuntu simples a marca logo">
            <a:extLst>
              <a:ext uri="{FF2B5EF4-FFF2-40B4-BE49-F238E27FC236}">
                <a16:creationId xmlns:a16="http://schemas.microsoft.com/office/drawing/2014/main" id="{A52461A6-8019-39A8-06C3-26D37783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722" y="203191"/>
            <a:ext cx="1856259" cy="185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ux SVG and transparent PNG icons | TechIcons">
            <a:extLst>
              <a:ext uri="{FF2B5EF4-FFF2-40B4-BE49-F238E27FC236}">
                <a16:creationId xmlns:a16="http://schemas.microsoft.com/office/drawing/2014/main" id="{EF388739-051E-7521-CCE5-B5D99084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742" y="203191"/>
            <a:ext cx="1560091" cy="156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4184A7-4084-6542-F0A6-FDDC628F01DF}"/>
              </a:ext>
            </a:extLst>
          </p:cNvPr>
          <p:cNvSpPr txBox="1"/>
          <p:nvPr/>
        </p:nvSpPr>
        <p:spPr>
          <a:xfrm>
            <a:off x="8031465" y="1631776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Linux</a:t>
            </a:r>
            <a:endParaRPr lang="LID4096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99A8-A3DA-DDB6-30C5-62ECBA5B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BABC49D-0846-6BBC-19D9-FFA53216CBDE}"/>
              </a:ext>
            </a:extLst>
          </p:cNvPr>
          <p:cNvGrpSpPr>
            <a:grpSpLocks noChangeAspect="1"/>
          </p:cNvGrpSpPr>
          <p:nvPr/>
        </p:nvGrpSpPr>
        <p:grpSpPr>
          <a:xfrm>
            <a:off x="9459737" y="2759467"/>
            <a:ext cx="2343910" cy="1670981"/>
            <a:chOff x="6075190" y="2359743"/>
            <a:chExt cx="1849609" cy="131859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86D22FC-F8F5-EB1B-36D6-5FE1ECCFE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5190" y="2359743"/>
              <a:ext cx="1849609" cy="131859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F73980A-3587-01AD-C696-FA4F833B0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7569"/>
            <a:stretch>
              <a:fillRect/>
            </a:stretch>
          </p:blipFill>
          <p:spPr>
            <a:xfrm>
              <a:off x="6807319" y="2389809"/>
              <a:ext cx="1076325" cy="124839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EC9010F-2180-515B-61C5-F7D462676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3131"/>
            <a:stretch>
              <a:fillRect/>
            </a:stretch>
          </p:blipFill>
          <p:spPr>
            <a:xfrm>
              <a:off x="6157657" y="2389809"/>
              <a:ext cx="649662" cy="190500"/>
            </a:xfrm>
            <a:prstGeom prst="rect">
              <a:avLst/>
            </a:prstGeom>
            <a:ln>
              <a:noFill/>
            </a:ln>
            <a:effectLst/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F7A361F-9089-D98A-C37A-05722B93D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92" y="3091322"/>
            <a:ext cx="2437602" cy="35365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471398-07A8-FD1D-C296-A0D2529491BD}"/>
              </a:ext>
            </a:extLst>
          </p:cNvPr>
          <p:cNvSpPr txBox="1"/>
          <p:nvPr/>
        </p:nvSpPr>
        <p:spPr>
          <a:xfrm>
            <a:off x="423692" y="2460477"/>
            <a:ext cx="2346130" cy="51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sz="105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volScalarField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p;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34288-46DC-41EF-1393-B36D867C70CB}"/>
              </a:ext>
            </a:extLst>
          </p:cNvPr>
          <p:cNvSpPr txBox="1"/>
          <p:nvPr/>
        </p:nvSpPr>
        <p:spPr>
          <a:xfrm>
            <a:off x="3115437" y="2698744"/>
            <a:ext cx="2705942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GB" sz="11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polyBoundaryMesh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location    </a:t>
            </a:r>
            <a:r>
              <a:rPr lang="en-GB" sz="11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"constant/polyMesh"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boundary;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6C745B-D7FA-E8CC-0965-31B8E0B81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436" y="3612332"/>
            <a:ext cx="2451915" cy="30146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9C64F6-C7ED-5EF3-88B1-27F4C7F7C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069" y="1099164"/>
            <a:ext cx="2994881" cy="55361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4DA6038-DDA0-A0DB-05C3-E065C86A4E83}"/>
              </a:ext>
            </a:extLst>
          </p:cNvPr>
          <p:cNvSpPr txBox="1"/>
          <p:nvPr/>
        </p:nvSpPr>
        <p:spPr>
          <a:xfrm>
            <a:off x="5736069" y="827787"/>
            <a:ext cx="2346130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Source code</a:t>
            </a:r>
            <a:endParaRPr lang="en-US" sz="105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FDB98F-C48A-775F-9F2D-3D3BC8DD6B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1767"/>
          <a:stretch>
            <a:fillRect/>
          </a:stretch>
        </p:blipFill>
        <p:spPr>
          <a:xfrm>
            <a:off x="8899667" y="300488"/>
            <a:ext cx="2900987" cy="23427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405BBD46-3506-28CF-4029-FEC23A35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279" y="315182"/>
            <a:ext cx="2924175" cy="7905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F5EDB72-2A50-C5A8-6E36-00510CDBC827}"/>
              </a:ext>
            </a:extLst>
          </p:cNvPr>
          <p:cNvSpPr txBox="1"/>
          <p:nvPr/>
        </p:nvSpPr>
        <p:spPr>
          <a:xfrm>
            <a:off x="497941" y="320927"/>
            <a:ext cx="1729211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solve</a:t>
            </a:r>
          </a:p>
          <a:p>
            <a:r>
              <a:rPr lang="en-US" sz="1200" b="1" dirty="0"/>
              <a:t>(</a:t>
            </a:r>
          </a:p>
          <a:p>
            <a:r>
              <a:rPr lang="en-US" sz="1200" b="1" dirty="0"/>
              <a:t>    </a:t>
            </a:r>
            <a:r>
              <a:rPr lang="en-US" sz="1200" b="1" dirty="0" err="1"/>
              <a:t>fvm</a:t>
            </a:r>
            <a:r>
              <a:rPr lang="en-US" sz="1200" b="1" dirty="0"/>
              <a:t>::</a:t>
            </a:r>
            <a:r>
              <a:rPr lang="en-US" sz="1200" b="1" dirty="0" err="1"/>
              <a:t>ddt</a:t>
            </a:r>
            <a:r>
              <a:rPr lang="en-US" sz="1200" b="1" dirty="0"/>
              <a:t>(rho, U)</a:t>
            </a:r>
          </a:p>
          <a:p>
            <a:r>
              <a:rPr lang="en-US" sz="1200" b="1" dirty="0"/>
              <a:t>  + </a:t>
            </a:r>
            <a:r>
              <a:rPr lang="en-US" sz="1200" b="1" dirty="0" err="1"/>
              <a:t>fvm</a:t>
            </a:r>
            <a:r>
              <a:rPr lang="en-US" sz="1200" b="1" dirty="0"/>
              <a:t>::div(phi, U)</a:t>
            </a:r>
          </a:p>
          <a:p>
            <a:r>
              <a:rPr lang="en-US" sz="1200" b="1" dirty="0"/>
              <a:t>  - </a:t>
            </a:r>
            <a:r>
              <a:rPr lang="en-US" sz="1200" b="1" dirty="0" err="1"/>
              <a:t>fvm</a:t>
            </a:r>
            <a:r>
              <a:rPr lang="en-US" sz="1200" b="1" dirty="0"/>
              <a:t>::</a:t>
            </a:r>
            <a:r>
              <a:rPr lang="en-US" sz="1200" b="1" dirty="0" err="1"/>
              <a:t>laplacian</a:t>
            </a:r>
            <a:r>
              <a:rPr lang="en-US" sz="1200" b="1" dirty="0"/>
              <a:t>(nu, U)</a:t>
            </a:r>
          </a:p>
          <a:p>
            <a:r>
              <a:rPr lang="en-US" sz="1200" b="1" dirty="0"/>
              <a:t>    ==</a:t>
            </a:r>
          </a:p>
          <a:p>
            <a:r>
              <a:rPr lang="en-US" sz="1200" b="1" dirty="0"/>
              <a:t>  - </a:t>
            </a:r>
            <a:r>
              <a:rPr lang="en-US" sz="1200" b="1" dirty="0" err="1"/>
              <a:t>fvc</a:t>
            </a:r>
            <a:r>
              <a:rPr lang="en-US" sz="1200" b="1" dirty="0"/>
              <a:t>::grad(p)</a:t>
            </a:r>
          </a:p>
          <a:p>
            <a:r>
              <a:rPr lang="en-US" sz="1200" b="1" dirty="0"/>
              <a:t>)</a:t>
            </a:r>
            <a:endParaRPr lang="LID4096" sz="12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0550F9F-390C-0CA4-69F7-6E6A0C13A1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3326" y="3984307"/>
            <a:ext cx="2907327" cy="26594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654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CEC6D2-00C6-D441-D1F4-22D0E2106FE8}"/>
              </a:ext>
            </a:extLst>
          </p:cNvPr>
          <p:cNvSpPr txBox="1"/>
          <p:nvPr/>
        </p:nvSpPr>
        <p:spPr>
          <a:xfrm>
            <a:off x="132806" y="0"/>
            <a:ext cx="1243148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vertices</a:t>
            </a:r>
          </a:p>
          <a:p>
            <a:r>
              <a:rPr lang="en-US" sz="1100" b="1" dirty="0"/>
              <a:t>(</a:t>
            </a:r>
          </a:p>
          <a:p>
            <a:r>
              <a:rPr lang="en-US" sz="1100" b="1" dirty="0"/>
              <a:t>    (0 0 -0.05)</a:t>
            </a:r>
          </a:p>
          <a:p>
            <a:r>
              <a:rPr lang="en-US" sz="1100" b="1" dirty="0"/>
              <a:t>    (0.6 0 -0.05)</a:t>
            </a:r>
          </a:p>
          <a:p>
            <a:r>
              <a:rPr lang="en-US" sz="1100" b="1" dirty="0"/>
              <a:t>    (0 0.2 -0.05)</a:t>
            </a:r>
          </a:p>
          <a:p>
            <a:r>
              <a:rPr lang="en-US" sz="1100" b="1" dirty="0"/>
              <a:t>    (0.6 0.2 -0.05)</a:t>
            </a:r>
          </a:p>
          <a:p>
            <a:r>
              <a:rPr lang="en-US" sz="1100" b="1" dirty="0"/>
              <a:t>    (3 0.2 -0.05)</a:t>
            </a:r>
          </a:p>
          <a:p>
            <a:r>
              <a:rPr lang="en-US" sz="1100" b="1" dirty="0"/>
              <a:t>    (0 1 -0.05)</a:t>
            </a:r>
          </a:p>
          <a:p>
            <a:r>
              <a:rPr lang="en-US" sz="1100" b="1" dirty="0"/>
              <a:t>    (0.6 1 -0.05)</a:t>
            </a:r>
          </a:p>
          <a:p>
            <a:r>
              <a:rPr lang="en-US" sz="1100" b="1" dirty="0"/>
              <a:t>    (3 1 -0.05)</a:t>
            </a:r>
          </a:p>
          <a:p>
            <a:r>
              <a:rPr lang="en-US" sz="1100" b="1" dirty="0"/>
              <a:t>    (0 0 0.05)</a:t>
            </a:r>
          </a:p>
          <a:p>
            <a:r>
              <a:rPr lang="en-US" sz="1100" b="1" dirty="0"/>
              <a:t>    (0.6 0 0.05)</a:t>
            </a:r>
          </a:p>
          <a:p>
            <a:r>
              <a:rPr lang="en-US" sz="1100" b="1" dirty="0"/>
              <a:t>    (0 0.2 0.05)</a:t>
            </a:r>
          </a:p>
          <a:p>
            <a:r>
              <a:rPr lang="en-US" sz="1100" b="1" dirty="0"/>
              <a:t>    (0.6 0.2 0.05)</a:t>
            </a:r>
          </a:p>
          <a:p>
            <a:r>
              <a:rPr lang="en-US" sz="1100" b="1" dirty="0"/>
              <a:t>    (3 0.2 0.05)</a:t>
            </a:r>
          </a:p>
          <a:p>
            <a:r>
              <a:rPr lang="en-US" sz="1100" b="1" dirty="0"/>
              <a:t>    (0 1 0.05)</a:t>
            </a:r>
          </a:p>
          <a:p>
            <a:r>
              <a:rPr lang="en-US" sz="1100" b="1" dirty="0"/>
              <a:t>    (0.6 1 0.05)</a:t>
            </a:r>
          </a:p>
          <a:p>
            <a:r>
              <a:rPr lang="en-US" sz="1100" b="1" dirty="0"/>
              <a:t>    (3 1 0.05)</a:t>
            </a:r>
          </a:p>
          <a:p>
            <a:r>
              <a:rPr lang="en-US" sz="1100" b="1" dirty="0"/>
              <a:t>);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F8E5B8-8EC6-6EFD-A161-1D6C0D85DFF6}"/>
              </a:ext>
            </a:extLst>
          </p:cNvPr>
          <p:cNvGrpSpPr/>
          <p:nvPr/>
        </p:nvGrpSpPr>
        <p:grpSpPr>
          <a:xfrm>
            <a:off x="1423446" y="0"/>
            <a:ext cx="8185253" cy="6762675"/>
            <a:chOff x="471338" y="0"/>
            <a:chExt cx="8185253" cy="67626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FF627E-339E-533D-9471-545A08AE73E6}"/>
                </a:ext>
              </a:extLst>
            </p:cNvPr>
            <p:cNvSpPr txBox="1"/>
            <p:nvPr/>
          </p:nvSpPr>
          <p:spPr>
            <a:xfrm>
              <a:off x="471338" y="0"/>
              <a:ext cx="412355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blocks</a:t>
              </a:r>
            </a:p>
            <a:p>
              <a:r>
                <a:rPr lang="en-US" sz="1200" dirty="0"/>
                <a:t>(</a:t>
              </a:r>
            </a:p>
            <a:p>
              <a:r>
                <a:rPr lang="en-US" sz="1200" dirty="0"/>
                <a:t>    hex (0 1 3 2 8 9 11 10) </a:t>
              </a:r>
              <a:r>
                <a:rPr lang="en-US" sz="1200" dirty="0">
                  <a:solidFill>
                    <a:srgbClr val="0000FF"/>
                  </a:solidFill>
                </a:rPr>
                <a:t>(25 10 1)</a:t>
              </a:r>
              <a:r>
                <a:rPr lang="en-US" sz="1200" dirty="0"/>
                <a:t> </a:t>
              </a:r>
              <a:r>
                <a:rPr lang="en-US" sz="1200" dirty="0" err="1"/>
                <a:t>simpleGrading</a:t>
              </a:r>
              <a:r>
                <a:rPr lang="en-US" sz="1200" dirty="0"/>
                <a:t> (1 1 1)</a:t>
              </a:r>
            </a:p>
            <a:p>
              <a:r>
                <a:rPr lang="en-US" sz="1200" dirty="0"/>
                <a:t>    hex (2 3 6 5 10 11 14 13) (25 40 1) </a:t>
              </a:r>
              <a:r>
                <a:rPr lang="en-US" sz="1200" dirty="0" err="1"/>
                <a:t>simpleGrading</a:t>
              </a:r>
              <a:r>
                <a:rPr lang="en-US" sz="1200" dirty="0"/>
                <a:t> (1 1 1)</a:t>
              </a:r>
            </a:p>
            <a:p>
              <a:r>
                <a:rPr lang="en-US" sz="1200" dirty="0"/>
                <a:t>    hex (3 4 7 6 11 12 15 14) (100 40 1) </a:t>
              </a:r>
              <a:r>
                <a:rPr lang="en-US" sz="1200" dirty="0" err="1"/>
                <a:t>simpleGrading</a:t>
              </a:r>
              <a:r>
                <a:rPr lang="en-US" sz="1200" dirty="0"/>
                <a:t> (1 1 1)</a:t>
              </a:r>
            </a:p>
            <a:p>
              <a:r>
                <a:rPr lang="en-US" sz="1200" dirty="0"/>
                <a:t>);</a:t>
              </a:r>
            </a:p>
            <a:p>
              <a:endParaRPr lang="en-US" sz="1200" dirty="0"/>
            </a:p>
            <a:p>
              <a:r>
                <a:rPr lang="en-US" sz="1200" dirty="0"/>
                <a:t>edges</a:t>
              </a:r>
            </a:p>
            <a:p>
              <a:r>
                <a:rPr lang="en-US" sz="1200" dirty="0"/>
                <a:t>(</a:t>
              </a:r>
            </a:p>
            <a:p>
              <a:r>
                <a:rPr lang="en-US" sz="1200" dirty="0"/>
                <a:t>);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390098-F73D-3BA8-1B5C-A54E9D6EA111}"/>
                </a:ext>
              </a:extLst>
            </p:cNvPr>
            <p:cNvSpPr txBox="1"/>
            <p:nvPr/>
          </p:nvSpPr>
          <p:spPr>
            <a:xfrm>
              <a:off x="4615000" y="22368"/>
              <a:ext cx="1981940" cy="6740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boundary</a:t>
              </a:r>
            </a:p>
            <a:p>
              <a:r>
                <a:rPr lang="en-US" sz="1200" b="1" dirty="0"/>
                <a:t>(</a:t>
              </a:r>
            </a:p>
            <a:p>
              <a:r>
                <a:rPr lang="en-US" sz="1200" b="1" dirty="0"/>
                <a:t>    inlet</a:t>
              </a:r>
            </a:p>
            <a:p>
              <a:r>
                <a:rPr lang="en-US" sz="1200" b="1" dirty="0"/>
                <a:t>    {</a:t>
              </a:r>
            </a:p>
            <a:p>
              <a:r>
                <a:rPr lang="en-US" sz="1200" b="1" dirty="0"/>
                <a:t>        type patch;</a:t>
              </a:r>
            </a:p>
            <a:p>
              <a:r>
                <a:rPr lang="en-US" sz="1200" b="1" dirty="0"/>
                <a:t>        faces</a:t>
              </a:r>
            </a:p>
            <a:p>
              <a:r>
                <a:rPr lang="en-US" sz="1200" b="1" dirty="0"/>
                <a:t>        (</a:t>
              </a:r>
            </a:p>
            <a:p>
              <a:r>
                <a:rPr lang="en-US" sz="1200" b="1" dirty="0"/>
                <a:t>            (0 8 10 2)</a:t>
              </a:r>
            </a:p>
            <a:p>
              <a:r>
                <a:rPr lang="en-US" sz="1200" b="1" dirty="0"/>
                <a:t>            (2 10 13 5)</a:t>
              </a:r>
            </a:p>
            <a:p>
              <a:r>
                <a:rPr lang="en-US" sz="1200" b="1" dirty="0"/>
                <a:t>        );</a:t>
              </a:r>
            </a:p>
            <a:p>
              <a:r>
                <a:rPr lang="en-US" sz="1200" b="1" dirty="0"/>
                <a:t>    }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outlet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{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    type patch;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    faces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    (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        (4 7 15 12)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    );</a:t>
              </a:r>
            </a:p>
            <a:p>
              <a:r>
                <a:rPr lang="en-US" sz="1200" b="1" dirty="0">
                  <a:solidFill>
                    <a:srgbClr val="0000FF"/>
                  </a:solidFill>
                </a:rPr>
                <a:t>    }</a:t>
              </a:r>
            </a:p>
            <a:p>
              <a:r>
                <a:rPr lang="en-US" sz="1200" b="1" dirty="0"/>
                <a:t>    bottom</a:t>
              </a:r>
            </a:p>
            <a:p>
              <a:r>
                <a:rPr lang="en-US" sz="1200" b="1" dirty="0"/>
                <a:t>    {</a:t>
              </a:r>
            </a:p>
            <a:p>
              <a:r>
                <a:rPr lang="en-US" sz="1200" b="1" dirty="0"/>
                <a:t>        type </a:t>
              </a:r>
              <a:r>
                <a:rPr lang="en-US" sz="1200" b="1" dirty="0" err="1"/>
                <a:t>symmetryPlane</a:t>
              </a:r>
              <a:r>
                <a:rPr lang="en-US" sz="1200" b="1" dirty="0"/>
                <a:t>;</a:t>
              </a:r>
            </a:p>
            <a:p>
              <a:r>
                <a:rPr lang="en-US" sz="1200" b="1" dirty="0"/>
                <a:t>        faces</a:t>
              </a:r>
            </a:p>
            <a:p>
              <a:r>
                <a:rPr lang="en-US" sz="1200" b="1" dirty="0"/>
                <a:t>        (</a:t>
              </a:r>
            </a:p>
            <a:p>
              <a:r>
                <a:rPr lang="en-US" sz="1200" b="1" dirty="0"/>
                <a:t>            (0 1 9 8)</a:t>
              </a:r>
            </a:p>
            <a:p>
              <a:r>
                <a:rPr lang="en-US" sz="1200" b="1" dirty="0"/>
                <a:t>        );</a:t>
              </a:r>
            </a:p>
            <a:p>
              <a:r>
                <a:rPr lang="en-US" sz="1200" b="1" dirty="0"/>
                <a:t>    }</a:t>
              </a:r>
            </a:p>
            <a:p>
              <a:r>
                <a:rPr lang="en-US" sz="1200" b="1" dirty="0"/>
                <a:t>    top</a:t>
              </a:r>
            </a:p>
            <a:p>
              <a:r>
                <a:rPr lang="en-US" sz="1200" b="1" dirty="0"/>
                <a:t>    {</a:t>
              </a:r>
            </a:p>
            <a:p>
              <a:r>
                <a:rPr lang="en-US" sz="1200" b="1" dirty="0"/>
                <a:t>        type </a:t>
              </a:r>
              <a:r>
                <a:rPr lang="en-US" sz="1200" b="1" dirty="0" err="1"/>
                <a:t>symmetryPlane</a:t>
              </a:r>
              <a:r>
                <a:rPr lang="en-US" sz="1200" b="1" dirty="0"/>
                <a:t>;</a:t>
              </a:r>
            </a:p>
            <a:p>
              <a:r>
                <a:rPr lang="en-US" sz="1200" b="1" dirty="0"/>
                <a:t>        faces</a:t>
              </a:r>
            </a:p>
            <a:p>
              <a:r>
                <a:rPr lang="en-US" sz="1200" b="1" dirty="0"/>
                <a:t>        (</a:t>
              </a:r>
            </a:p>
            <a:p>
              <a:r>
                <a:rPr lang="en-US" sz="1200" b="1" dirty="0"/>
                <a:t>            (5 13 14 6)</a:t>
              </a:r>
            </a:p>
            <a:p>
              <a:r>
                <a:rPr lang="en-US" sz="1200" b="1" dirty="0"/>
                <a:t>            (6 14 15 7)</a:t>
              </a:r>
            </a:p>
            <a:p>
              <a:r>
                <a:rPr lang="en-US" sz="1200" b="1" dirty="0"/>
                <a:t>        );</a:t>
              </a:r>
            </a:p>
            <a:p>
              <a:r>
                <a:rPr lang="en-US" sz="1200" b="1" dirty="0"/>
                <a:t>    }</a:t>
              </a:r>
              <a:endParaRPr lang="LID4096" sz="12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A9D77A-19B6-B8B3-F42E-392909C893EF}"/>
                </a:ext>
              </a:extLst>
            </p:cNvPr>
            <p:cNvSpPr txBox="1"/>
            <p:nvPr/>
          </p:nvSpPr>
          <p:spPr>
            <a:xfrm>
              <a:off x="6587407" y="22368"/>
              <a:ext cx="2069184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boundary</a:t>
              </a:r>
            </a:p>
            <a:p>
              <a:r>
                <a:rPr lang="en-US" sz="1400" b="1" dirty="0"/>
                <a:t>(</a:t>
              </a:r>
            </a:p>
            <a:p>
              <a:endParaRPr lang="en-US" sz="1400" b="1" dirty="0"/>
            </a:p>
            <a:p>
              <a:pPr lvl="1"/>
              <a:r>
                <a:rPr lang="en-US" sz="1400" b="1" dirty="0"/>
                <a:t>obstacle</a:t>
              </a:r>
            </a:p>
            <a:p>
              <a:pPr lvl="1"/>
              <a:r>
                <a:rPr lang="en-US" sz="1400" b="1" dirty="0"/>
                <a:t>    {</a:t>
              </a:r>
            </a:p>
            <a:p>
              <a:pPr lvl="1"/>
              <a:r>
                <a:rPr lang="en-US" sz="1400" b="1" dirty="0"/>
                <a:t>        type </a:t>
              </a:r>
              <a:r>
                <a:rPr lang="en-US" sz="1400" b="1" dirty="0">
                  <a:solidFill>
                    <a:srgbClr val="0000FF"/>
                  </a:solidFill>
                </a:rPr>
                <a:t>wall</a:t>
              </a:r>
              <a:r>
                <a:rPr lang="en-US" sz="1400" b="1" dirty="0"/>
                <a:t>;</a:t>
              </a:r>
            </a:p>
            <a:p>
              <a:pPr lvl="1"/>
              <a:r>
                <a:rPr lang="en-US" sz="1400" b="1" dirty="0"/>
                <a:t>        faces</a:t>
              </a:r>
            </a:p>
            <a:p>
              <a:pPr lvl="1"/>
              <a:r>
                <a:rPr lang="en-US" sz="1400" b="1" dirty="0"/>
                <a:t>        (</a:t>
              </a:r>
            </a:p>
            <a:p>
              <a:pPr lvl="1"/>
              <a:r>
                <a:rPr lang="en-US" sz="1400" b="1" dirty="0"/>
                <a:t>            (1 3 11 9)</a:t>
              </a:r>
            </a:p>
            <a:p>
              <a:pPr lvl="1"/>
              <a:r>
                <a:rPr lang="en-US" sz="1400" b="1" dirty="0"/>
                <a:t>            (3 4 12 11)</a:t>
              </a:r>
            </a:p>
            <a:p>
              <a:pPr lvl="1"/>
              <a:r>
                <a:rPr lang="en-US" sz="1400" b="1" dirty="0"/>
                <a:t>        );</a:t>
              </a:r>
            </a:p>
            <a:p>
              <a:pPr lvl="1"/>
              <a:r>
                <a:rPr lang="en-US" sz="1400" b="1" dirty="0"/>
                <a:t>    }</a:t>
              </a:r>
            </a:p>
            <a:p>
              <a:pPr lvl="1"/>
              <a:r>
                <a:rPr lang="en-US" sz="1400" b="1" dirty="0"/>
                <a:t>);</a:t>
              </a:r>
            </a:p>
            <a:p>
              <a:pPr lvl="1"/>
              <a:endParaRPr lang="en-US" sz="1400" b="1" dirty="0"/>
            </a:p>
            <a:p>
              <a:pPr lvl="1"/>
              <a:r>
                <a:rPr lang="en-US" sz="1400" b="1" dirty="0" err="1"/>
                <a:t>mergePatchPairs</a:t>
              </a:r>
              <a:endParaRPr lang="en-US" sz="1400" b="1" dirty="0"/>
            </a:p>
            <a:p>
              <a:pPr lvl="1"/>
              <a:r>
                <a:rPr lang="en-US" sz="1400" b="1" dirty="0"/>
                <a:t>(</a:t>
              </a:r>
            </a:p>
            <a:p>
              <a:pPr lvl="1"/>
              <a:r>
                <a:rPr lang="en-US" sz="1400" b="1" dirty="0"/>
                <a:t>);</a:t>
              </a:r>
            </a:p>
            <a:p>
              <a:pPr lvl="1"/>
              <a:endParaRPr lang="en-US" sz="14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DC14CCF-4BFF-313D-AD9B-7312714FA942}"/>
                </a:ext>
              </a:extLst>
            </p:cNvPr>
            <p:cNvSpPr txBox="1"/>
            <p:nvPr/>
          </p:nvSpPr>
          <p:spPr>
            <a:xfrm>
              <a:off x="2086380" y="55251"/>
              <a:ext cx="470262" cy="2489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0000FF"/>
                  </a:solidFill>
                </a:rPr>
                <a:t>mesh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54686C-FBE7-33DB-52E8-E1D79A1A8674}"/>
              </a:ext>
            </a:extLst>
          </p:cNvPr>
          <p:cNvGrpSpPr/>
          <p:nvPr/>
        </p:nvGrpSpPr>
        <p:grpSpPr>
          <a:xfrm>
            <a:off x="1545725" y="3127122"/>
            <a:ext cx="3626032" cy="3551160"/>
            <a:chOff x="1545725" y="3127122"/>
            <a:chExt cx="3626032" cy="355116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C2BEF24-0035-6C2F-84E6-B0A681C00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5691" y="3127122"/>
              <a:ext cx="3371516" cy="170816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FF999FE-4044-9898-FF95-9FD88133F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45725" y="4921223"/>
              <a:ext cx="3626032" cy="1757059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845CFA0-DEB1-078E-5C32-5847C7D5799B}"/>
              </a:ext>
            </a:extLst>
          </p:cNvPr>
          <p:cNvGrpSpPr>
            <a:grpSpLocks noChangeAspect="1"/>
          </p:cNvGrpSpPr>
          <p:nvPr/>
        </p:nvGrpSpPr>
        <p:grpSpPr>
          <a:xfrm>
            <a:off x="8380429" y="1928050"/>
            <a:ext cx="3688833" cy="4834626"/>
            <a:chOff x="8569234" y="2184300"/>
            <a:chExt cx="3434041" cy="450069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5B76521-C922-6CA1-DA66-70DB9D07B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69234" y="4993308"/>
              <a:ext cx="3262535" cy="169168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5A53BBB-6EA4-8F23-0D3F-20DE275D7F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021335" y="2184300"/>
              <a:ext cx="1981940" cy="2650982"/>
              <a:chOff x="9318806" y="214181"/>
              <a:chExt cx="2862943" cy="3829384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6D97666-6249-9FEA-B07B-32171F4B9A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31679" y="214181"/>
                <a:ext cx="2302329" cy="38293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E546A47-D3CE-97B8-C716-942FC2F6C28E}"/>
                  </a:ext>
                </a:extLst>
              </p:cNvPr>
              <p:cNvSpPr/>
              <p:nvPr/>
            </p:nvSpPr>
            <p:spPr>
              <a:xfrm>
                <a:off x="9318806" y="979852"/>
                <a:ext cx="2862943" cy="16197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F51B08-827C-1905-ED98-F9443DB432F1}"/>
              </a:ext>
            </a:extLst>
          </p:cNvPr>
          <p:cNvCxnSpPr/>
          <p:nvPr/>
        </p:nvCxnSpPr>
        <p:spPr>
          <a:xfrm>
            <a:off x="1375954" y="160257"/>
            <a:ext cx="0" cy="32004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4F758BF-E651-A694-5D5B-047882BBAC8A}"/>
              </a:ext>
            </a:extLst>
          </p:cNvPr>
          <p:cNvCxnSpPr/>
          <p:nvPr/>
        </p:nvCxnSpPr>
        <p:spPr>
          <a:xfrm>
            <a:off x="5553600" y="160257"/>
            <a:ext cx="0" cy="658368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1F3925-F10E-11D4-A111-509A5B3C15B2}"/>
              </a:ext>
            </a:extLst>
          </p:cNvPr>
          <p:cNvCxnSpPr/>
          <p:nvPr/>
        </p:nvCxnSpPr>
        <p:spPr>
          <a:xfrm>
            <a:off x="7464095" y="160257"/>
            <a:ext cx="0" cy="658368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2604F5-7A9C-338E-32FF-3CAD53D6F68D}"/>
              </a:ext>
            </a:extLst>
          </p:cNvPr>
          <p:cNvCxnSpPr/>
          <p:nvPr/>
        </p:nvCxnSpPr>
        <p:spPr>
          <a:xfrm>
            <a:off x="9591056" y="160257"/>
            <a:ext cx="0" cy="374904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33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E5850-3319-7F84-45CA-A4DA3E494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64" y="493589"/>
            <a:ext cx="5040963" cy="22970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5472F-B9E9-AEBF-9212-FBA7EEF1960C}"/>
              </a:ext>
            </a:extLst>
          </p:cNvPr>
          <p:cNvSpPr txBox="1"/>
          <p:nvPr/>
        </p:nvSpPr>
        <p:spPr>
          <a:xfrm>
            <a:off x="2764972" y="117565"/>
            <a:ext cx="28433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solidFill>
                  <a:srgbClr val="0000FF"/>
                </a:solidFill>
              </a:rPr>
              <a:t>Understanding grid convergence - Part 1 </a:t>
            </a:r>
            <a:endParaRPr lang="en-US" sz="1050" b="1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CB4DA-5746-94BF-3557-EF432193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551" y="493589"/>
            <a:ext cx="5683823" cy="30810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23A55-86C3-42DD-E2FD-1965C0B4BFF4}"/>
              </a:ext>
            </a:extLst>
          </p:cNvPr>
          <p:cNvSpPr txBox="1"/>
          <p:nvPr/>
        </p:nvSpPr>
        <p:spPr>
          <a:xfrm>
            <a:off x="5900551" y="117565"/>
            <a:ext cx="5817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solidFill>
                  <a:srgbClr val="0000FF"/>
                </a:solidFill>
                <a:hlinkClick r:id="rId4"/>
              </a:rPr>
              <a:t>https://www.youtube.com/watch?v=PaDDplpAJJ0</a:t>
            </a:r>
            <a:endParaRPr lang="en-US" sz="1050" b="1" dirty="0">
              <a:solidFill>
                <a:srgbClr val="0000FF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FD971A-DF1B-514C-CAED-2593CB20A855}"/>
              </a:ext>
            </a:extLst>
          </p:cNvPr>
          <p:cNvGrpSpPr/>
          <p:nvPr/>
        </p:nvGrpSpPr>
        <p:grpSpPr>
          <a:xfrm>
            <a:off x="4568991" y="4906977"/>
            <a:ext cx="2344022" cy="1390127"/>
            <a:chOff x="4568991" y="4906977"/>
            <a:chExt cx="2344022" cy="139012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BDCF9C-C1D7-DBFC-3F6A-5C6B97C1C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8991" y="4906977"/>
              <a:ext cx="2342480" cy="139012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EDFECB-13AA-A014-E4C3-FB50C12FB86E}"/>
                </a:ext>
              </a:extLst>
            </p:cNvPr>
            <p:cNvSpPr txBox="1"/>
            <p:nvPr/>
          </p:nvSpPr>
          <p:spPr>
            <a:xfrm>
              <a:off x="6465017" y="5776618"/>
              <a:ext cx="4479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rgbClr val="0000FF"/>
                  </a:solidFill>
                </a:rPr>
                <a:t>(T)</a:t>
              </a:r>
              <a:endParaRPr lang="en-US" sz="105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D63DFC-9A32-D50C-F4BC-557EA9EBBC6A}"/>
              </a:ext>
            </a:extLst>
          </p:cNvPr>
          <p:cNvGrpSpPr/>
          <p:nvPr/>
        </p:nvGrpSpPr>
        <p:grpSpPr>
          <a:xfrm>
            <a:off x="8101480" y="5268987"/>
            <a:ext cx="3765147" cy="1295400"/>
            <a:chOff x="8101480" y="5268987"/>
            <a:chExt cx="3765147" cy="12954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FC3274E-A6B2-64D6-FEF2-A93837096A9D}"/>
                </a:ext>
              </a:extLst>
            </p:cNvPr>
            <p:cNvGrpSpPr/>
            <p:nvPr/>
          </p:nvGrpSpPr>
          <p:grpSpPr>
            <a:xfrm>
              <a:off x="8101480" y="5268987"/>
              <a:ext cx="3762375" cy="1295400"/>
              <a:chOff x="7529768" y="4495989"/>
              <a:chExt cx="3762375" cy="129540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B0A45C1-FC16-A9FD-A71D-7E31E0D59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9768" y="4495989"/>
                <a:ext cx="3762375" cy="1295400"/>
              </a:xfrm>
              <a:prstGeom prst="rect">
                <a:avLst/>
              </a:prstGeom>
            </p:spPr>
          </p:pic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EAA29B9-D35A-3491-4D21-F48BC40CC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4237" y="4908019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EF31A2C-0D85-BD22-7746-DCD0D90F6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19043" y="4929376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021B1C-98B0-2413-D28F-54F306DFD790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2CAE2C-3F78-A2F3-F490-DA9C16E574AF}"/>
                </a:ext>
              </a:extLst>
            </p:cNvPr>
            <p:cNvSpPr txBox="1"/>
            <p:nvPr/>
          </p:nvSpPr>
          <p:spPr>
            <a:xfrm>
              <a:off x="11561878" y="5655077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BD56200-2A27-3CEB-EF8B-8D037611EDBF}"/>
              </a:ext>
            </a:extLst>
          </p:cNvPr>
          <p:cNvSpPr txBox="1"/>
          <p:nvPr/>
        </p:nvSpPr>
        <p:spPr>
          <a:xfrm>
            <a:off x="5289745" y="3696721"/>
            <a:ext cx="6294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dirty="0">
                <a:solidFill>
                  <a:srgbClr val="0000FF"/>
                </a:solidFill>
              </a:rPr>
              <a:t>||05a| transport || solver || NEW discretization fvSchemes || blockMesh | setFields | nano foam.foam | paraview foam.foam &amp;</a:t>
            </a:r>
          </a:p>
        </p:txBody>
      </p:sp>
    </p:spTree>
    <p:extLst>
      <p:ext uri="{BB962C8B-B14F-4D97-AF65-F5344CB8AC3E}">
        <p14:creationId xmlns:p14="http://schemas.microsoft.com/office/powerpoint/2010/main" val="212743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8396AA-5669-AE18-94C7-8F91674FE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805" y="2838652"/>
            <a:ext cx="5353050" cy="22479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070E2-6E9E-803B-4F64-6D755CF6030B}"/>
              </a:ext>
            </a:extLst>
          </p:cNvPr>
          <p:cNvGrpSpPr/>
          <p:nvPr/>
        </p:nvGrpSpPr>
        <p:grpSpPr>
          <a:xfrm>
            <a:off x="42018" y="0"/>
            <a:ext cx="7905411" cy="5157379"/>
            <a:chOff x="221127" y="573115"/>
            <a:chExt cx="7905411" cy="515737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C8FF30-8E66-BCA9-E401-E700FCA0EBA2}"/>
                </a:ext>
              </a:extLst>
            </p:cNvPr>
            <p:cNvSpPr txBox="1"/>
            <p:nvPr/>
          </p:nvSpPr>
          <p:spPr>
            <a:xfrm>
              <a:off x="221127" y="573115"/>
              <a:ext cx="2346130" cy="2688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volScalarField T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 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"T"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timeName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::AUTO_WRITE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mesh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EFBD7-903C-101D-5E2B-81BBAA9AA59F}"/>
                </a:ext>
              </a:extLst>
            </p:cNvPr>
            <p:cNvSpPr txBox="1"/>
            <p:nvPr/>
          </p:nvSpPr>
          <p:spPr>
            <a:xfrm>
              <a:off x="2540893" y="651675"/>
              <a:ext cx="2346130" cy="2688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volVectorField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U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"U"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timeName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::AUTO_WRITE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mesh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1B6FB4-2E45-7835-EEAF-CB7B2A2B7253}"/>
                </a:ext>
              </a:extLst>
            </p:cNvPr>
            <p:cNvSpPr txBox="1"/>
            <p:nvPr/>
          </p:nvSpPr>
          <p:spPr>
            <a:xfrm>
              <a:off x="4761445" y="651675"/>
              <a:ext cx="3365093" cy="247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IOdictionary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transportProperties</a:t>
              </a:r>
              <a:endParaRPr lang="en-GB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GB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GB" sz="1050" b="0" dirty="0" err="1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transportProperties</a:t>
              </a:r>
              <a:r>
                <a:rPr lang="en-GB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constant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::MUST_READ_IF_MODIFIED,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::NO_WRITE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78CB83-EE8B-F339-32C9-9EA631A0DA31}"/>
                </a:ext>
              </a:extLst>
            </p:cNvPr>
            <p:cNvSpPr txBox="1"/>
            <p:nvPr/>
          </p:nvSpPr>
          <p:spPr>
            <a:xfrm>
              <a:off x="349961" y="3913971"/>
              <a:ext cx="3309488" cy="1816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fvScalarMatrix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TEqn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ddt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::div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(phi, 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laplacian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(DT, 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==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fvOptions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);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B81080-C2A4-5B08-3130-8F203C27E0E5}"/>
              </a:ext>
            </a:extLst>
          </p:cNvPr>
          <p:cNvGrpSpPr/>
          <p:nvPr/>
        </p:nvGrpSpPr>
        <p:grpSpPr>
          <a:xfrm>
            <a:off x="3608590" y="3223369"/>
            <a:ext cx="1796521" cy="3439570"/>
            <a:chOff x="3608590" y="3223369"/>
            <a:chExt cx="1796521" cy="343957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1030C96-F7CB-61B3-73EA-030F8239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08590" y="3510164"/>
              <a:ext cx="1609725" cy="315277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C736726-467D-1444-A798-95B3F9A87A85}"/>
                </a:ext>
              </a:extLst>
            </p:cNvPr>
            <p:cNvSpPr txBox="1"/>
            <p:nvPr/>
          </p:nvSpPr>
          <p:spPr>
            <a:xfrm>
              <a:off x="3764082" y="3223369"/>
              <a:ext cx="883332" cy="2489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0000FF"/>
                  </a:solidFill>
                </a:rPr>
                <a:t>Solvers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4E1941-22E8-3E8C-4C4F-3212FD8FE45B}"/>
                </a:ext>
              </a:extLst>
            </p:cNvPr>
            <p:cNvSpPr txBox="1"/>
            <p:nvPr/>
          </p:nvSpPr>
          <p:spPr>
            <a:xfrm>
              <a:off x="4903914" y="3429000"/>
              <a:ext cx="501197" cy="3162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050" dirty="0">
                  <a:hlinkClick r:id="rId4" action="ppaction://hlinkfile"/>
                </a:rPr>
                <a:t>\\wsl.localhost\Ubuntu\mnt\wslg\distro\usr\lib\openfoam\openfoam2412\applications\solvers</a:t>
              </a:r>
              <a:endParaRPr lang="LID4096" sz="1050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76E27F-58C4-6091-1511-B83D9CAE4C9A}"/>
              </a:ext>
            </a:extLst>
          </p:cNvPr>
          <p:cNvCxnSpPr/>
          <p:nvPr/>
        </p:nvCxnSpPr>
        <p:spPr>
          <a:xfrm>
            <a:off x="2281471" y="141404"/>
            <a:ext cx="0" cy="27432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EDE8D1-3239-DB4A-B09E-29C069858595}"/>
              </a:ext>
            </a:extLst>
          </p:cNvPr>
          <p:cNvCxnSpPr/>
          <p:nvPr/>
        </p:nvCxnSpPr>
        <p:spPr>
          <a:xfrm>
            <a:off x="4582336" y="141404"/>
            <a:ext cx="0" cy="274320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BD1C8D-951E-C8EA-6716-8A1B749DBEE3}"/>
              </a:ext>
            </a:extLst>
          </p:cNvPr>
          <p:cNvCxnSpPr>
            <a:cxnSpLocks/>
          </p:cNvCxnSpPr>
          <p:nvPr/>
        </p:nvCxnSpPr>
        <p:spPr>
          <a:xfrm flipH="1">
            <a:off x="122549" y="3223369"/>
            <a:ext cx="2651760" cy="0"/>
          </a:xfrm>
          <a:prstGeom prst="line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049F80-5F93-F46D-787A-BF64E63FB5E7}"/>
              </a:ext>
            </a:extLst>
          </p:cNvPr>
          <p:cNvGrpSpPr/>
          <p:nvPr/>
        </p:nvGrpSpPr>
        <p:grpSpPr>
          <a:xfrm>
            <a:off x="8101480" y="5268987"/>
            <a:ext cx="3765147" cy="1295400"/>
            <a:chOff x="8101480" y="5268987"/>
            <a:chExt cx="3765147" cy="129540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A1B90B2-823E-BEB6-61B6-E4520D3C97CE}"/>
                </a:ext>
              </a:extLst>
            </p:cNvPr>
            <p:cNvGrpSpPr/>
            <p:nvPr/>
          </p:nvGrpSpPr>
          <p:grpSpPr>
            <a:xfrm>
              <a:off x="8101480" y="5268987"/>
              <a:ext cx="3762375" cy="1295400"/>
              <a:chOff x="7529768" y="4495989"/>
              <a:chExt cx="3762375" cy="129540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5A4E9A50-CCF6-614B-3A17-F203672C7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29768" y="4495989"/>
                <a:ext cx="3762375" cy="1295400"/>
              </a:xfrm>
              <a:prstGeom prst="rect">
                <a:avLst/>
              </a:prstGeom>
            </p:spPr>
          </p:pic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521D7FD-4A84-752D-020F-2500AD5EC5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4237" y="4908019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BA00BC8-B9A3-5E63-23A7-DF1D03909B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19043" y="4929376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183B8A-537F-EA14-CB15-8528BA28FAE3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180E8A-6463-33FD-2F98-89EB5EA57607}"/>
                </a:ext>
              </a:extLst>
            </p:cNvPr>
            <p:cNvSpPr txBox="1"/>
            <p:nvPr/>
          </p:nvSpPr>
          <p:spPr>
            <a:xfrm>
              <a:off x="11561878" y="5655077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11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6443082-D3B0-1E4F-9F16-288A4E61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109" y="2636243"/>
            <a:ext cx="7175141" cy="40001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0F5CDC-D8C9-A45E-C734-E821A819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179" y="869404"/>
            <a:ext cx="8582025" cy="130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BE0FB-EA74-4E50-DA38-0125403C5F12}"/>
              </a:ext>
            </a:extLst>
          </p:cNvPr>
          <p:cNvSpPr txBox="1"/>
          <p:nvPr/>
        </p:nvSpPr>
        <p:spPr>
          <a:xfrm>
            <a:off x="11032148" y="5059929"/>
            <a:ext cx="355431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84E6D-1468-38DC-7E78-073CA7302840}"/>
              </a:ext>
            </a:extLst>
          </p:cNvPr>
          <p:cNvSpPr txBox="1"/>
          <p:nvPr/>
        </p:nvSpPr>
        <p:spPr>
          <a:xfrm>
            <a:off x="9459443" y="3304533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424D7-D130-2A2D-9B15-860106949817}"/>
              </a:ext>
            </a:extLst>
          </p:cNvPr>
          <p:cNvSpPr txBox="1"/>
          <p:nvPr/>
        </p:nvSpPr>
        <p:spPr>
          <a:xfrm>
            <a:off x="4766173" y="3347835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AA5CD-C886-301F-44B9-0C3D0E65AFAD}"/>
              </a:ext>
            </a:extLst>
          </p:cNvPr>
          <p:cNvSpPr txBox="1"/>
          <p:nvPr/>
        </p:nvSpPr>
        <p:spPr>
          <a:xfrm>
            <a:off x="3409005" y="1684694"/>
            <a:ext cx="1342103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2335F-70B3-1966-07DD-0998E721DC82}"/>
              </a:ext>
            </a:extLst>
          </p:cNvPr>
          <p:cNvSpPr txBox="1"/>
          <p:nvPr/>
        </p:nvSpPr>
        <p:spPr>
          <a:xfrm>
            <a:off x="8201319" y="5070488"/>
            <a:ext cx="284374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E4700-3D82-2E2A-9DE6-549BB5F06143}"/>
              </a:ext>
            </a:extLst>
          </p:cNvPr>
          <p:cNvSpPr txBox="1"/>
          <p:nvPr/>
        </p:nvSpPr>
        <p:spPr>
          <a:xfrm>
            <a:off x="4766173" y="4221758"/>
            <a:ext cx="242310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40A6C-D3FB-18C2-4BFE-62C2D1C23660}"/>
              </a:ext>
            </a:extLst>
          </p:cNvPr>
          <p:cNvSpPr txBox="1"/>
          <p:nvPr/>
        </p:nvSpPr>
        <p:spPr>
          <a:xfrm>
            <a:off x="10854432" y="4387390"/>
            <a:ext cx="863086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BBC925-F3BD-99A1-FEEB-20183EBFB522}"/>
              </a:ext>
            </a:extLst>
          </p:cNvPr>
          <p:cNvSpPr txBox="1"/>
          <p:nvPr/>
        </p:nvSpPr>
        <p:spPr>
          <a:xfrm>
            <a:off x="4780669" y="4683672"/>
            <a:ext cx="227814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A8869-2423-8A78-C72A-28388487BCF6}"/>
              </a:ext>
            </a:extLst>
          </p:cNvPr>
          <p:cNvSpPr txBox="1"/>
          <p:nvPr/>
        </p:nvSpPr>
        <p:spPr>
          <a:xfrm>
            <a:off x="4766173" y="3809749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87809-4C44-51A1-C90B-385D7C6C4B50}"/>
              </a:ext>
            </a:extLst>
          </p:cNvPr>
          <p:cNvSpPr txBox="1"/>
          <p:nvPr/>
        </p:nvSpPr>
        <p:spPr>
          <a:xfrm>
            <a:off x="9030701" y="6295972"/>
            <a:ext cx="1342103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 / density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CBBD3-84C5-FF6B-4885-8E74898EC8CF}"/>
              </a:ext>
            </a:extLst>
          </p:cNvPr>
          <p:cNvSpPr txBox="1"/>
          <p:nvPr/>
        </p:nvSpPr>
        <p:spPr>
          <a:xfrm>
            <a:off x="151064" y="3256950"/>
            <a:ext cx="26139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04_b_shockTube_pitzDaily</a:t>
            </a:r>
          </a:p>
          <a:p>
            <a:r>
              <a:rPr lang="en-GB" dirty="0"/>
              <a:t>           </a:t>
            </a:r>
            <a:r>
              <a:rPr lang="en-GB" noProof="0" dirty="0"/>
              <a:t>Transport Case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D9AB0BA-EB4A-DC50-4FC5-39337222092A}"/>
              </a:ext>
            </a:extLst>
          </p:cNvPr>
          <p:cNvGrpSpPr>
            <a:grpSpLocks noChangeAspect="1"/>
          </p:cNvGrpSpPr>
          <p:nvPr/>
        </p:nvGrpSpPr>
        <p:grpSpPr>
          <a:xfrm>
            <a:off x="555480" y="3839950"/>
            <a:ext cx="3743891" cy="2524461"/>
            <a:chOff x="98414" y="3464699"/>
            <a:chExt cx="4637671" cy="312712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1D64A66-2894-2D05-9155-B9473B124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2858" y="3565962"/>
              <a:ext cx="1993227" cy="30258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402645B-C0BA-9772-632F-162271B05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414" y="3464699"/>
              <a:ext cx="2476394" cy="312712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48BE00F-1C02-9BF9-767A-0C46B0487C56}"/>
              </a:ext>
            </a:extLst>
          </p:cNvPr>
          <p:cNvSpPr txBox="1"/>
          <p:nvPr/>
        </p:nvSpPr>
        <p:spPr>
          <a:xfrm>
            <a:off x="2872084" y="4307500"/>
            <a:ext cx="1771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100" noProof="0" dirty="0"/>
              <a:t>Numerical </a:t>
            </a:r>
            <a:r>
              <a:rPr lang="en-GB" sz="1400" noProof="0" dirty="0">
                <a:solidFill>
                  <a:srgbClr val="FF0000"/>
                </a:solidFill>
              </a:rPr>
              <a:t>Diffusion</a:t>
            </a:r>
          </a:p>
          <a:p>
            <a:r>
              <a:rPr lang="en-GB" sz="1100" dirty="0"/>
              <a:t>Physical     </a:t>
            </a:r>
            <a:r>
              <a:rPr lang="en-GB" sz="1400" dirty="0">
                <a:solidFill>
                  <a:srgbClr val="FF0000"/>
                </a:solidFill>
              </a:rPr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496B6C-EDE2-BED2-E76E-CAC4B12E3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6" y="368183"/>
            <a:ext cx="1909609" cy="26339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946CD6-16C3-46D4-4122-48ED8291A4A3}"/>
              </a:ext>
            </a:extLst>
          </p:cNvPr>
          <p:cNvSpPr txBox="1"/>
          <p:nvPr/>
        </p:nvSpPr>
        <p:spPr>
          <a:xfrm>
            <a:off x="3043702" y="3670115"/>
            <a:ext cx="14286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7F76B21E-E363-8BCB-E340-004449049A6E}"/>
              </a:ext>
            </a:extLst>
          </p:cNvPr>
          <p:cNvSpPr/>
          <p:nvPr/>
        </p:nvSpPr>
        <p:spPr>
          <a:xfrm>
            <a:off x="470780" y="368183"/>
            <a:ext cx="362139" cy="1460617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F9BD9146-2B61-FE7E-B413-E00289C30892}"/>
              </a:ext>
            </a:extLst>
          </p:cNvPr>
          <p:cNvSpPr/>
          <p:nvPr/>
        </p:nvSpPr>
        <p:spPr>
          <a:xfrm>
            <a:off x="469271" y="1887219"/>
            <a:ext cx="362139" cy="1114908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D9C32-9072-10E8-1D27-3C26D52A28B1}"/>
              </a:ext>
            </a:extLst>
          </p:cNvPr>
          <p:cNvSpPr txBox="1"/>
          <p:nvPr/>
        </p:nvSpPr>
        <p:spPr>
          <a:xfrm>
            <a:off x="3023747" y="5220887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025FF3-1AF6-FD7F-190F-2251626DB4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3059"/>
          <a:stretch>
            <a:fillRect/>
          </a:stretch>
        </p:blipFill>
        <p:spPr>
          <a:xfrm>
            <a:off x="2749823" y="2508036"/>
            <a:ext cx="1540470" cy="13049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F1ECC0E-FF07-4F7C-E791-C5EEB05F5CEE}"/>
              </a:ext>
            </a:extLst>
          </p:cNvPr>
          <p:cNvSpPr/>
          <p:nvPr/>
        </p:nvSpPr>
        <p:spPr>
          <a:xfrm>
            <a:off x="3068179" y="5911913"/>
            <a:ext cx="1141682" cy="2539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D84043-7FAC-A4C3-8A39-59D592E32B57}"/>
              </a:ext>
            </a:extLst>
          </p:cNvPr>
          <p:cNvSpPr txBox="1"/>
          <p:nvPr/>
        </p:nvSpPr>
        <p:spPr>
          <a:xfrm>
            <a:off x="4732967" y="214998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FF0000"/>
                </a:solidFill>
              </a:rPr>
              <a:t>scalarTransportFoam</a:t>
            </a:r>
          </a:p>
        </p:txBody>
      </p:sp>
    </p:spTree>
    <p:extLst>
      <p:ext uri="{BB962C8B-B14F-4D97-AF65-F5344CB8AC3E}">
        <p14:creationId xmlns:p14="http://schemas.microsoft.com/office/powerpoint/2010/main" val="224015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3EC8E5-3E6B-6D65-34D0-781331A9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2" y="784478"/>
            <a:ext cx="5048250" cy="638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C7319B-1B38-8435-F587-FC016BE7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92" y="1713732"/>
            <a:ext cx="2686050" cy="9525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76CA7-EF47-6C5B-B07B-A53F8498E692}"/>
                  </a:ext>
                </a:extLst>
              </p:cNvPr>
              <p:cNvSpPr txBox="1"/>
              <p:nvPr/>
            </p:nvSpPr>
            <p:spPr>
              <a:xfrm>
                <a:off x="846782" y="1800672"/>
                <a:ext cx="6716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76CA7-EF47-6C5B-B07B-A53F8498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82" y="1800672"/>
                <a:ext cx="671658" cy="276999"/>
              </a:xfrm>
              <a:prstGeom prst="rect">
                <a:avLst/>
              </a:prstGeom>
              <a:blipFill>
                <a:blip r:embed="rId4"/>
                <a:stretch>
                  <a:fillRect l="-8182" r="-8182" b="-65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5D5367-EE13-35B6-217A-6F6EC9EE4545}"/>
                  </a:ext>
                </a:extLst>
              </p:cNvPr>
              <p:cNvSpPr txBox="1"/>
              <p:nvPr/>
            </p:nvSpPr>
            <p:spPr>
              <a:xfrm>
                <a:off x="912505" y="1523673"/>
                <a:ext cx="605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pt-BR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>
                    <a:solidFill>
                      <a:srgbClr val="0000FF"/>
                    </a:solidFill>
                  </a:rPr>
                  <a:t> </a:t>
                </a:r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5D5367-EE13-35B6-217A-6F6EC9EE4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05" y="1523673"/>
                <a:ext cx="605935" cy="276999"/>
              </a:xfrm>
              <a:prstGeom prst="rect">
                <a:avLst/>
              </a:prstGeom>
              <a:blipFill>
                <a:blip r:embed="rId5"/>
                <a:stretch>
                  <a:fillRect l="-14141" r="-404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6D0CAC-811B-5969-CEAD-69D929761E5E}"/>
                  </a:ext>
                </a:extLst>
              </p:cNvPr>
              <p:cNvSpPr txBox="1"/>
              <p:nvPr/>
            </p:nvSpPr>
            <p:spPr>
              <a:xfrm>
                <a:off x="830751" y="2142900"/>
                <a:ext cx="703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6D0CAC-811B-5969-CEAD-69D929761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51" y="2142900"/>
                <a:ext cx="703719" cy="276999"/>
              </a:xfrm>
              <a:prstGeom prst="rect">
                <a:avLst/>
              </a:prstGeom>
              <a:blipFill>
                <a:blip r:embed="rId6"/>
                <a:stretch>
                  <a:fillRect l="-6897" r="-7759" b="-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DF84D48B-968C-F7C8-F7CC-9FC4CA8AEB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975" b="38440"/>
          <a:stretch>
            <a:fillRect/>
          </a:stretch>
        </p:blipFill>
        <p:spPr>
          <a:xfrm>
            <a:off x="830751" y="2821020"/>
            <a:ext cx="5445049" cy="874287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F1F819D-C7A7-6BF9-CC76-B8B70DE964C3}"/>
              </a:ext>
            </a:extLst>
          </p:cNvPr>
          <p:cNvGrpSpPr/>
          <p:nvPr/>
        </p:nvGrpSpPr>
        <p:grpSpPr>
          <a:xfrm>
            <a:off x="8971865" y="4658748"/>
            <a:ext cx="2930034" cy="1846982"/>
            <a:chOff x="8698488" y="4135955"/>
            <a:chExt cx="2930034" cy="18469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C180BB-6CCB-3188-B7DE-AA65ECF6D112}"/>
                </a:ext>
              </a:extLst>
            </p:cNvPr>
            <p:cNvSpPr txBox="1"/>
            <p:nvPr/>
          </p:nvSpPr>
          <p:spPr>
            <a:xfrm>
              <a:off x="8698488" y="4135955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Finite Volumes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36FFF1-FF1E-B898-C859-A25DDFFC2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98488" y="4397565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1CD196F-CCAE-2D37-FF4D-73F1DF0DB2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319" t="61232" r="26376"/>
          <a:stretch>
            <a:fillRect/>
          </a:stretch>
        </p:blipFill>
        <p:spPr>
          <a:xfrm>
            <a:off x="6353666" y="2966694"/>
            <a:ext cx="3120272" cy="952500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76B8C2F-9F0C-CE77-D8D0-8A49C7ABB78F}"/>
              </a:ext>
            </a:extLst>
          </p:cNvPr>
          <p:cNvGrpSpPr/>
          <p:nvPr/>
        </p:nvGrpSpPr>
        <p:grpSpPr>
          <a:xfrm>
            <a:off x="5047705" y="539359"/>
            <a:ext cx="950514" cy="883294"/>
            <a:chOff x="9845949" y="5571569"/>
            <a:chExt cx="950514" cy="883294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CE4B0A-84F0-0F39-D988-55A682B62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5949" y="5681017"/>
              <a:ext cx="645765" cy="773846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D8BB45-0E13-5097-42E6-18021157EDB6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F898667-60C3-5709-9A78-EC3EF596D130}"/>
              </a:ext>
            </a:extLst>
          </p:cNvPr>
          <p:cNvSpPr/>
          <p:nvPr/>
        </p:nvSpPr>
        <p:spPr>
          <a:xfrm>
            <a:off x="3412502" y="2938413"/>
            <a:ext cx="2816163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416105-32AC-03CD-3B15-8C1CCCBA24FC}"/>
              </a:ext>
            </a:extLst>
          </p:cNvPr>
          <p:cNvSpPr/>
          <p:nvPr/>
        </p:nvSpPr>
        <p:spPr>
          <a:xfrm>
            <a:off x="1799530" y="649386"/>
            <a:ext cx="1283035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CD027C-106B-FFC6-7A94-950AAE00276B}"/>
              </a:ext>
            </a:extLst>
          </p:cNvPr>
          <p:cNvGrpSpPr/>
          <p:nvPr/>
        </p:nvGrpSpPr>
        <p:grpSpPr>
          <a:xfrm>
            <a:off x="4095995" y="3945127"/>
            <a:ext cx="3181497" cy="874287"/>
            <a:chOff x="4095995" y="3454933"/>
            <a:chExt cx="3181497" cy="87428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9E54072-3367-DF3D-0A98-A9C3C4FF7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995" y="3606234"/>
              <a:ext cx="3038475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3239A9D-0ADF-220B-93D2-B20EA6866E6D}"/>
                </a:ext>
              </a:extLst>
            </p:cNvPr>
            <p:cNvSpPr/>
            <p:nvPr/>
          </p:nvSpPr>
          <p:spPr>
            <a:xfrm>
              <a:off x="5895031" y="3454933"/>
              <a:ext cx="1382461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E836440-1885-9916-775F-15351BF768F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6356"/>
          <a:stretch>
            <a:fillRect/>
          </a:stretch>
        </p:blipFill>
        <p:spPr>
          <a:xfrm>
            <a:off x="2111604" y="4965537"/>
            <a:ext cx="5194170" cy="9818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320B2D9-0B18-99EB-4450-0DCD50A6C253}"/>
              </a:ext>
            </a:extLst>
          </p:cNvPr>
          <p:cNvSpPr/>
          <p:nvPr/>
        </p:nvSpPr>
        <p:spPr>
          <a:xfrm>
            <a:off x="1970203" y="4951841"/>
            <a:ext cx="2017336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2F37BB-EBB3-B690-4D63-9EF3801FD4FF}"/>
              </a:ext>
            </a:extLst>
          </p:cNvPr>
          <p:cNvCxnSpPr/>
          <p:nvPr/>
        </p:nvCxnSpPr>
        <p:spPr>
          <a:xfrm>
            <a:off x="4854804" y="3572759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466EE2-0666-50D7-F1D1-0750255D46FB}"/>
              </a:ext>
            </a:extLst>
          </p:cNvPr>
          <p:cNvCxnSpPr/>
          <p:nvPr/>
        </p:nvCxnSpPr>
        <p:spPr>
          <a:xfrm>
            <a:off x="3206685" y="5582239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AFD2EB-4866-46EA-8E2C-6ABE5350C327}"/>
              </a:ext>
            </a:extLst>
          </p:cNvPr>
          <p:cNvSpPr txBox="1"/>
          <p:nvPr/>
        </p:nvSpPr>
        <p:spPr>
          <a:xfrm>
            <a:off x="1804738" y="358307"/>
            <a:ext cx="1771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600" noProof="0" dirty="0"/>
              <a:t>Convection</a:t>
            </a:r>
            <a:endParaRPr lang="en-GB" sz="2400" noProof="0" dirty="0">
              <a:solidFill>
                <a:srgbClr val="FF000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4F52FC-4718-60D6-8C12-56947616F8AE}"/>
              </a:ext>
            </a:extLst>
          </p:cNvPr>
          <p:cNvCxnSpPr/>
          <p:nvPr/>
        </p:nvCxnSpPr>
        <p:spPr>
          <a:xfrm>
            <a:off x="1799530" y="1622982"/>
            <a:ext cx="128016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3BF3BD-D68B-3A37-1440-C08D0488C911}"/>
              </a:ext>
            </a:extLst>
          </p:cNvPr>
          <p:cNvCxnSpPr/>
          <p:nvPr/>
        </p:nvCxnSpPr>
        <p:spPr>
          <a:xfrm>
            <a:off x="924409" y="3862632"/>
            <a:ext cx="53035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132F4AC-BE77-62C7-7847-47A9C296358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4375" y="245581"/>
            <a:ext cx="3481269" cy="206201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595990A-B1BD-92F7-AD8B-EC4FE470A104}"/>
              </a:ext>
            </a:extLst>
          </p:cNvPr>
          <p:cNvGrpSpPr/>
          <p:nvPr/>
        </p:nvGrpSpPr>
        <p:grpSpPr>
          <a:xfrm>
            <a:off x="312889" y="6334780"/>
            <a:ext cx="5907498" cy="375075"/>
            <a:chOff x="6094492" y="391893"/>
            <a:chExt cx="5907498" cy="3750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8A6CE2-49D1-288E-0AB6-BDD1283D4CE1}"/>
                </a:ext>
              </a:extLst>
            </p:cNvPr>
            <p:cNvSpPr txBox="1"/>
            <p:nvPr/>
          </p:nvSpPr>
          <p:spPr>
            <a:xfrm>
              <a:off x="6094492" y="391893"/>
              <a:ext cx="5086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400" dirty="0">
                  <a:hlinkClick r:id="rId12"/>
                </a:rPr>
                <a:t>https://www.youtube.com/watch?v=yN58_cevRxE</a:t>
              </a:r>
              <a:endParaRPr lang="LID4096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D7EB424-2D38-3AF4-BBAD-227E2B40AEA8}"/>
                </a:ext>
              </a:extLst>
            </p:cNvPr>
            <p:cNvSpPr txBox="1"/>
            <p:nvPr/>
          </p:nvSpPr>
          <p:spPr>
            <a:xfrm>
              <a:off x="10230079" y="428414"/>
              <a:ext cx="1771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600" noProof="0" dirty="0"/>
                <a:t>Part II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64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931C3-AC31-1BE2-11C7-79F8735F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2" y="784478"/>
            <a:ext cx="5048250" cy="638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664F5E4-1E7F-D5E7-AB89-8D00400B1EB8}"/>
              </a:ext>
            </a:extLst>
          </p:cNvPr>
          <p:cNvGrpSpPr/>
          <p:nvPr/>
        </p:nvGrpSpPr>
        <p:grpSpPr>
          <a:xfrm>
            <a:off x="5047705" y="539359"/>
            <a:ext cx="950514" cy="883294"/>
            <a:chOff x="9845949" y="5571569"/>
            <a:chExt cx="950514" cy="88329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67D4B1E-0A1B-A511-BB91-166C8CFED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5949" y="5681017"/>
              <a:ext cx="645765" cy="773846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DD2ADE-DFF6-2F45-1C70-EA45354F6391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C84A507-2C5B-BE89-858C-DEBE19E4313C}"/>
              </a:ext>
            </a:extLst>
          </p:cNvPr>
          <p:cNvSpPr/>
          <p:nvPr/>
        </p:nvSpPr>
        <p:spPr>
          <a:xfrm>
            <a:off x="3402088" y="649386"/>
            <a:ext cx="1283035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3444D-50EB-3830-9FAA-70F42E5FA7F6}"/>
              </a:ext>
            </a:extLst>
          </p:cNvPr>
          <p:cNvSpPr txBox="1"/>
          <p:nvPr/>
        </p:nvSpPr>
        <p:spPr>
          <a:xfrm>
            <a:off x="3572761" y="358307"/>
            <a:ext cx="1771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600" noProof="0" dirty="0"/>
              <a:t>Diffusion</a:t>
            </a:r>
            <a:endParaRPr lang="en-GB" sz="2400" noProof="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747FC6-A564-4BC6-3A3E-FBD7EEF114E7}"/>
              </a:ext>
            </a:extLst>
          </p:cNvPr>
          <p:cNvCxnSpPr/>
          <p:nvPr/>
        </p:nvCxnSpPr>
        <p:spPr>
          <a:xfrm>
            <a:off x="3874416" y="1329180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BB7A21F0-FC7E-D2B3-39E2-457899A99B9E}"/>
              </a:ext>
            </a:extLst>
          </p:cNvPr>
          <p:cNvGrpSpPr/>
          <p:nvPr/>
        </p:nvGrpSpPr>
        <p:grpSpPr>
          <a:xfrm>
            <a:off x="2821443" y="2477613"/>
            <a:ext cx="7105650" cy="1176162"/>
            <a:chOff x="3253278" y="2631158"/>
            <a:chExt cx="7105650" cy="1176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60D950D-AE96-AF64-6A09-6F4158FB7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3278" y="2631158"/>
              <a:ext cx="7105650" cy="116205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34623F5-7BD6-0B42-91E1-5DEC35AD8A93}"/>
                </a:ext>
              </a:extLst>
            </p:cNvPr>
            <p:cNvCxnSpPr/>
            <p:nvPr/>
          </p:nvCxnSpPr>
          <p:spPr>
            <a:xfrm>
              <a:off x="4347329" y="3357513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00FE23-0953-99DF-DD2C-9129EE6A5B5E}"/>
                </a:ext>
              </a:extLst>
            </p:cNvPr>
            <p:cNvCxnSpPr/>
            <p:nvPr/>
          </p:nvCxnSpPr>
          <p:spPr>
            <a:xfrm>
              <a:off x="6997832" y="3351228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7BFC32-6F67-1314-824E-5825AC785078}"/>
                </a:ext>
              </a:extLst>
            </p:cNvPr>
            <p:cNvSpPr txBox="1"/>
            <p:nvPr/>
          </p:nvSpPr>
          <p:spPr>
            <a:xfrm>
              <a:off x="4484631" y="3401290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352C05-E550-8F4B-C1B4-C837040A45B0}"/>
                </a:ext>
              </a:extLst>
            </p:cNvPr>
            <p:cNvSpPr txBox="1"/>
            <p:nvPr/>
          </p:nvSpPr>
          <p:spPr>
            <a:xfrm>
              <a:off x="7025786" y="3401290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A4F126-79CC-9470-CEE1-AAC1DFBF342F}"/>
                </a:ext>
              </a:extLst>
            </p:cNvPr>
            <p:cNvSpPr txBox="1"/>
            <p:nvPr/>
          </p:nvSpPr>
          <p:spPr>
            <a:xfrm>
              <a:off x="7281486" y="3553404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9C657C97-6A00-6014-6F32-DCCC2A9226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865" y="4920358"/>
            <a:ext cx="2930034" cy="1585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713ACFA-F30E-E7AD-8B0F-54C4985020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390"/>
          <a:stretch>
            <a:fillRect/>
          </a:stretch>
        </p:blipFill>
        <p:spPr>
          <a:xfrm>
            <a:off x="361006" y="4321771"/>
            <a:ext cx="2174436" cy="1951328"/>
          </a:xfrm>
          <a:prstGeom prst="rect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9BBF5A9-FFF4-B368-32FF-9EE698DCE633}"/>
              </a:ext>
            </a:extLst>
          </p:cNvPr>
          <p:cNvSpPr/>
          <p:nvPr/>
        </p:nvSpPr>
        <p:spPr>
          <a:xfrm>
            <a:off x="1252408" y="5053275"/>
            <a:ext cx="284162" cy="1219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D1E03B5-D275-8D14-4D15-610AEEA15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5032" y="4188807"/>
            <a:ext cx="3810806" cy="6137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69C587C-911A-1A63-96B2-148E71B1734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4284" t="31225"/>
          <a:stretch>
            <a:fillRect/>
          </a:stretch>
        </p:blipFill>
        <p:spPr>
          <a:xfrm>
            <a:off x="902543" y="2150763"/>
            <a:ext cx="1509376" cy="16084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36FF3E7-C7CB-41FC-B157-7E7B92557382}"/>
              </a:ext>
            </a:extLst>
          </p:cNvPr>
          <p:cNvSpPr txBox="1"/>
          <p:nvPr/>
        </p:nvSpPr>
        <p:spPr>
          <a:xfrm>
            <a:off x="1571" y="6556041"/>
            <a:ext cx="10028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400" dirty="0"/>
              <a:t>E:\15_REPOS\a___________________\09_CFD_ON\04_OpenFoam</a:t>
            </a:r>
            <a:r>
              <a:rPr lang="pt-BR" sz="1400" dirty="0"/>
              <a:t>\</a:t>
            </a:r>
            <a:r>
              <a:rPr lang="pt-BR" sz="1400" b="1" dirty="0" err="1">
                <a:solidFill>
                  <a:srgbClr val="FF0000"/>
                </a:solidFill>
              </a:rPr>
              <a:t>UserGuide_Version</a:t>
            </a:r>
            <a:r>
              <a:rPr lang="pt-BR" sz="1400" b="1" dirty="0">
                <a:solidFill>
                  <a:srgbClr val="FF0000"/>
                </a:solidFill>
              </a:rPr>
              <a:t> 2.3.1.pdf</a:t>
            </a:r>
            <a:endParaRPr lang="LID4096" sz="1400" b="1" dirty="0">
              <a:solidFill>
                <a:srgbClr val="FF0000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6B9055-2D10-DD8B-6D09-969CE855DC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7093" y="3275923"/>
            <a:ext cx="1903901" cy="143627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9F3E7CE-CE71-FB2D-C7E0-724B97BE9424}"/>
              </a:ext>
            </a:extLst>
          </p:cNvPr>
          <p:cNvSpPr txBox="1"/>
          <p:nvPr/>
        </p:nvSpPr>
        <p:spPr>
          <a:xfrm>
            <a:off x="2903321" y="3686284"/>
            <a:ext cx="5118048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LID4096" sz="1400" b="1" dirty="0"/>
              <a:t>|| _upwind || _linear || </a:t>
            </a:r>
            <a:r>
              <a:rPr lang="LID4096" sz="1400" b="1" dirty="0">
                <a:solidFill>
                  <a:srgbClr val="0000FF"/>
                </a:solidFill>
              </a:rPr>
              <a:t>_linearUpwind </a:t>
            </a:r>
            <a:r>
              <a:rPr lang="LID4096" sz="1400" b="1" dirty="0"/>
              <a:t>|| _quick || _cubic ||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CDC51E-FF67-C9A3-905E-43766ECD62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r="40724" b="90394"/>
          <a:stretch>
            <a:fillRect/>
          </a:stretch>
        </p:blipFill>
        <p:spPr>
          <a:xfrm>
            <a:off x="277098" y="1530560"/>
            <a:ext cx="2630568" cy="301974"/>
          </a:xfrm>
          <a:prstGeom prst="rect">
            <a:avLst/>
          </a:prstGeom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CAEDF0-5370-8D3F-8D6F-54F04C845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054" t="8946" b="82016"/>
          <a:stretch>
            <a:fillRect/>
          </a:stretch>
        </p:blipFill>
        <p:spPr>
          <a:xfrm>
            <a:off x="488887" y="1873982"/>
            <a:ext cx="1946160" cy="2353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134A66C-5F90-C5CD-678B-70E0FD75961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6245" t="8583"/>
          <a:stretch>
            <a:fillRect/>
          </a:stretch>
        </p:blipFill>
        <p:spPr>
          <a:xfrm>
            <a:off x="3509208" y="4345982"/>
            <a:ext cx="2271996" cy="20974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1E635D1-FA99-7912-AD48-8F929537BD1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1" t="-1" r="59098" b="90781"/>
          <a:stretch>
            <a:fillRect/>
          </a:stretch>
        </p:blipFill>
        <p:spPr>
          <a:xfrm>
            <a:off x="2611098" y="4814642"/>
            <a:ext cx="1901899" cy="276001"/>
          </a:xfrm>
          <a:prstGeom prst="rect">
            <a:avLst/>
          </a:prstGeom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061000-0B9E-8D93-1FB8-29BFEB41643B}"/>
              </a:ext>
            </a:extLst>
          </p:cNvPr>
          <p:cNvSpPr txBox="1"/>
          <p:nvPr/>
        </p:nvSpPr>
        <p:spPr>
          <a:xfrm>
            <a:off x="9041137" y="5053275"/>
            <a:ext cx="1771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100" noProof="0" dirty="0"/>
              <a:t>f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A6D2AC-EC01-9457-4C8A-57964CFB1C0C}"/>
              </a:ext>
            </a:extLst>
          </p:cNvPr>
          <p:cNvGrpSpPr/>
          <p:nvPr/>
        </p:nvGrpSpPr>
        <p:grpSpPr>
          <a:xfrm>
            <a:off x="7078764" y="149936"/>
            <a:ext cx="4585877" cy="2524195"/>
            <a:chOff x="6872809" y="220294"/>
            <a:chExt cx="4585877" cy="252419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BED347C-1B45-47A2-0696-3FF866CA0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9646" t="6839" b="60522"/>
            <a:stretch>
              <a:fillRect/>
            </a:stretch>
          </p:blipFill>
          <p:spPr>
            <a:xfrm>
              <a:off x="7342697" y="220294"/>
              <a:ext cx="3442985" cy="6972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B346058-FEFA-FD1E-4CAE-90EE118F9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189640" y="2154586"/>
              <a:ext cx="3269046" cy="58990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AA9343-2431-9993-2778-435542172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8694" t="37637" r="29787" b="278"/>
            <a:stretch>
              <a:fillRect/>
            </a:stretch>
          </p:blipFill>
          <p:spPr>
            <a:xfrm>
              <a:off x="6872809" y="676039"/>
              <a:ext cx="1730150" cy="14876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513EC99-2C41-5105-4652-B8EBA66B7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71052" b="88722"/>
            <a:stretch>
              <a:fillRect/>
            </a:stretch>
          </p:blipFill>
          <p:spPr>
            <a:xfrm>
              <a:off x="9020332" y="996923"/>
              <a:ext cx="1767543" cy="300596"/>
            </a:xfrm>
            <a:prstGeom prst="rect">
              <a:avLst/>
            </a:prstGeom>
            <a:ln w="28575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16CBB59-8398-90BE-6CAA-66971A63EA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31" t="2354" r="39310" b="87977"/>
          <a:stretch>
            <a:fillRect/>
          </a:stretch>
        </p:blipFill>
        <p:spPr>
          <a:xfrm>
            <a:off x="361006" y="3960480"/>
            <a:ext cx="986290" cy="274953"/>
          </a:xfrm>
          <a:prstGeom prst="rect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6BEC325-443F-2839-3256-2741CD44DB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35681" y="1813458"/>
            <a:ext cx="3038475" cy="4762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765C38-73AC-C003-A60D-CF160154840B}"/>
              </a:ext>
            </a:extLst>
          </p:cNvPr>
          <p:cNvSpPr txBox="1"/>
          <p:nvPr/>
        </p:nvSpPr>
        <p:spPr>
          <a:xfrm>
            <a:off x="6096000" y="4879165"/>
            <a:ext cx="256003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4.4.1 Interpolation schemes</a:t>
            </a:r>
          </a:p>
          <a:p>
            <a:pPr algn="l"/>
            <a:r>
              <a:rPr lang="fr-FR" sz="1400" dirty="0"/>
              <a:t>4.4.2 Surface normal ∆ </a:t>
            </a:r>
            <a:r>
              <a:rPr lang="fr-FR" sz="1400" dirty="0" err="1"/>
              <a:t>schemes</a:t>
            </a:r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4.4.3 Gradient schemes</a:t>
            </a:r>
            <a:endParaRPr lang="en-US" sz="1400" b="0" i="0" u="none" strike="noStrike" baseline="0" dirty="0">
              <a:solidFill>
                <a:srgbClr val="00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4.4.4 Laplacian schemes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FF"/>
                </a:solidFill>
                <a:latin typeface="CMR12"/>
              </a:rPr>
              <a:t>4.4.5 Divergence schemes ____</a:t>
            </a: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4.4.6 Time schemes</a:t>
            </a: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4.4.7 Flux calculation</a:t>
            </a:r>
            <a:endParaRPr lang="LID4096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1FAFDF-D873-ED97-D6C6-42A680BE703F}"/>
              </a:ext>
            </a:extLst>
          </p:cNvPr>
          <p:cNvSpPr txBox="1"/>
          <p:nvPr/>
        </p:nvSpPr>
        <p:spPr>
          <a:xfrm>
            <a:off x="7306021" y="6447531"/>
            <a:ext cx="8103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118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640730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C13B5-A7AC-6066-1359-54FAE3AF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7DA91C-71F1-80A0-212A-B4FA5769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2" y="784478"/>
            <a:ext cx="5048250" cy="638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4C146F6-C5EA-2826-9F0C-428C90183A31}"/>
              </a:ext>
            </a:extLst>
          </p:cNvPr>
          <p:cNvGrpSpPr/>
          <p:nvPr/>
        </p:nvGrpSpPr>
        <p:grpSpPr>
          <a:xfrm>
            <a:off x="5047705" y="539359"/>
            <a:ext cx="950514" cy="883294"/>
            <a:chOff x="9845949" y="5571569"/>
            <a:chExt cx="950514" cy="88329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F67096-BDA3-62D2-4B80-E15B1C007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5949" y="5681017"/>
              <a:ext cx="645765" cy="773846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FFCA04-1B5A-5D48-A809-CBC6353E6ED9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0CCA92D-DB05-0D2C-11B1-F68CEA09573D}"/>
              </a:ext>
            </a:extLst>
          </p:cNvPr>
          <p:cNvSpPr/>
          <p:nvPr/>
        </p:nvSpPr>
        <p:spPr>
          <a:xfrm>
            <a:off x="3402088" y="649386"/>
            <a:ext cx="1283035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70846-E9FB-A0E5-E60B-69C2751C2DCD}"/>
              </a:ext>
            </a:extLst>
          </p:cNvPr>
          <p:cNvSpPr txBox="1"/>
          <p:nvPr/>
        </p:nvSpPr>
        <p:spPr>
          <a:xfrm>
            <a:off x="3572761" y="358307"/>
            <a:ext cx="1771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600" noProof="0" dirty="0"/>
              <a:t>Diffusion</a:t>
            </a:r>
            <a:endParaRPr lang="en-GB" sz="2400" noProof="0" dirty="0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FF661B-C657-C0A7-5680-A553A2E4ADEA}"/>
              </a:ext>
            </a:extLst>
          </p:cNvPr>
          <p:cNvCxnSpPr/>
          <p:nvPr/>
        </p:nvCxnSpPr>
        <p:spPr>
          <a:xfrm>
            <a:off x="3874416" y="1329180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20EF52-7750-8DBE-F0EF-10C7C941607D}"/>
              </a:ext>
            </a:extLst>
          </p:cNvPr>
          <p:cNvGrpSpPr/>
          <p:nvPr/>
        </p:nvGrpSpPr>
        <p:grpSpPr>
          <a:xfrm>
            <a:off x="2821443" y="2477613"/>
            <a:ext cx="7105650" cy="1176162"/>
            <a:chOff x="3253278" y="2631158"/>
            <a:chExt cx="7105650" cy="11761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C6BBF59-292C-F40B-C16E-2F25AD37C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3278" y="2631158"/>
              <a:ext cx="7105650" cy="1162050"/>
            </a:xfrm>
            <a:prstGeom prst="rect">
              <a:avLst/>
            </a:prstGeom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B0AE702-0170-0164-2CE0-3766A578F737}"/>
                </a:ext>
              </a:extLst>
            </p:cNvPr>
            <p:cNvCxnSpPr/>
            <p:nvPr/>
          </p:nvCxnSpPr>
          <p:spPr>
            <a:xfrm>
              <a:off x="4347329" y="3357513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A4B5A8F-B82A-132A-B22B-6C3958470EF4}"/>
                </a:ext>
              </a:extLst>
            </p:cNvPr>
            <p:cNvCxnSpPr/>
            <p:nvPr/>
          </p:nvCxnSpPr>
          <p:spPr>
            <a:xfrm>
              <a:off x="6997832" y="3351228"/>
              <a:ext cx="70701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0EE40B-AA63-9048-6E17-C6F6B6E17449}"/>
                </a:ext>
              </a:extLst>
            </p:cNvPr>
            <p:cNvSpPr txBox="1"/>
            <p:nvPr/>
          </p:nvSpPr>
          <p:spPr>
            <a:xfrm>
              <a:off x="4484631" y="3401290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428DFB-4593-E6B6-D972-D03A354CABDF}"/>
                </a:ext>
              </a:extLst>
            </p:cNvPr>
            <p:cNvSpPr txBox="1"/>
            <p:nvPr/>
          </p:nvSpPr>
          <p:spPr>
            <a:xfrm>
              <a:off x="7025786" y="3401290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2060A0-AFEA-43A3-3CF1-146EF0CC6EB9}"/>
                </a:ext>
              </a:extLst>
            </p:cNvPr>
            <p:cNvSpPr txBox="1"/>
            <p:nvPr/>
          </p:nvSpPr>
          <p:spPr>
            <a:xfrm>
              <a:off x="7281486" y="3553404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5EE9415-72CE-159C-1643-2886814920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865" y="4920358"/>
            <a:ext cx="2930034" cy="1585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572AC6B-B463-5D27-4F7A-584F9D88B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7093" y="3275923"/>
            <a:ext cx="1903901" cy="143627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AF3D598-EF14-548C-9FB4-AA3F3EB197FD}"/>
              </a:ext>
            </a:extLst>
          </p:cNvPr>
          <p:cNvSpPr txBox="1"/>
          <p:nvPr/>
        </p:nvSpPr>
        <p:spPr>
          <a:xfrm>
            <a:off x="2903321" y="3686284"/>
            <a:ext cx="5118048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LID4096" sz="1400" b="1" dirty="0"/>
              <a:t>|| _upwind || _linear || _linearUpwind || _quick || _cubic ||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8523BB-6DC0-86D4-6602-065CB8C90B92}"/>
              </a:ext>
            </a:extLst>
          </p:cNvPr>
          <p:cNvSpPr txBox="1"/>
          <p:nvPr/>
        </p:nvSpPr>
        <p:spPr>
          <a:xfrm>
            <a:off x="9041137" y="5053275"/>
            <a:ext cx="1771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100" noProof="0" dirty="0"/>
              <a:t>f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B5DD4F-8FE5-C04F-5697-0BA006507D12}"/>
              </a:ext>
            </a:extLst>
          </p:cNvPr>
          <p:cNvSpPr txBox="1"/>
          <p:nvPr/>
        </p:nvSpPr>
        <p:spPr>
          <a:xfrm>
            <a:off x="6096000" y="4879165"/>
            <a:ext cx="25600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4.4.1 Interpolation schemes</a:t>
            </a:r>
          </a:p>
          <a:p>
            <a:pPr algn="l"/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fr-FR" sz="1400" dirty="0"/>
              <a:t>4.4.2 Surface normal ∆ </a:t>
            </a:r>
            <a:r>
              <a:rPr lang="fr-FR" sz="1400" dirty="0" err="1"/>
              <a:t>schemes</a:t>
            </a:r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4.4.3 Gradient schemes</a:t>
            </a:r>
            <a:endParaRPr lang="en-US" sz="1400" b="0" i="0" u="none" strike="noStrike" baseline="0" dirty="0">
              <a:solidFill>
                <a:srgbClr val="00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4.4.4 Laplacian schemes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FF"/>
                </a:solidFill>
                <a:latin typeface="CMR12"/>
              </a:rPr>
              <a:t>4.4.5 Divergence schemes ____</a:t>
            </a: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4.4.6 Time schemes</a:t>
            </a: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4.4.7 Flux calculation</a:t>
            </a:r>
            <a:endParaRPr lang="LID4096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1C649-B028-0626-52B7-3BB59C5C0A68}"/>
              </a:ext>
            </a:extLst>
          </p:cNvPr>
          <p:cNvSpPr txBox="1"/>
          <p:nvPr/>
        </p:nvSpPr>
        <p:spPr>
          <a:xfrm>
            <a:off x="2920144" y="5078976"/>
            <a:ext cx="3489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0" i="0" u="none" strike="noStrike" baseline="0" dirty="0">
                <a:latin typeface="CMBX12"/>
              </a:rPr>
              <a:t>4.4.1.1 Schemes for strictly bounded scalar fields</a:t>
            </a:r>
          </a:p>
          <a:p>
            <a:r>
              <a:rPr lang="en-GB" sz="1200" dirty="0"/>
              <a:t>4.4.1.2 Schemes for vector fields</a:t>
            </a:r>
            <a:endParaRPr lang="LID4096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1D1813-63A0-AAEC-9BF5-AB191F2BD7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681" y="1813458"/>
            <a:ext cx="3038475" cy="4762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133100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D8FFD-6D88-3F9C-C281-FD87C8EB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5929DC-EFFF-F19E-AF19-FDE6F42C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08" y="250660"/>
            <a:ext cx="2438791" cy="165438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36E9A9C-0A46-C4F3-11FF-F993EF5EB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1865" y="4920358"/>
            <a:ext cx="2930034" cy="15853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3B5A791-EDCA-8F36-4B1C-DCECAE52F5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390"/>
          <a:stretch>
            <a:fillRect/>
          </a:stretch>
        </p:blipFill>
        <p:spPr>
          <a:xfrm>
            <a:off x="361006" y="4321771"/>
            <a:ext cx="2174436" cy="1951328"/>
          </a:xfrm>
          <a:prstGeom prst="rect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2402BAE-2550-B93C-10BC-1089C304ADD4}"/>
              </a:ext>
            </a:extLst>
          </p:cNvPr>
          <p:cNvSpPr/>
          <p:nvPr/>
        </p:nvSpPr>
        <p:spPr>
          <a:xfrm>
            <a:off x="1252408" y="5053275"/>
            <a:ext cx="284162" cy="1219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8D19417-DD9B-60D5-D9C7-42B08F8C3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032" y="4188807"/>
            <a:ext cx="3810806" cy="61372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4679534-5FFF-7887-B1B4-2AFB1BE69E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4284" t="31225"/>
          <a:stretch>
            <a:fillRect/>
          </a:stretch>
        </p:blipFill>
        <p:spPr>
          <a:xfrm>
            <a:off x="902543" y="2150763"/>
            <a:ext cx="1509376" cy="160841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EE1B85-322C-DD18-D285-8D59BCFABA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r="40724" b="90394"/>
          <a:stretch>
            <a:fillRect/>
          </a:stretch>
        </p:blipFill>
        <p:spPr>
          <a:xfrm>
            <a:off x="277098" y="1530560"/>
            <a:ext cx="2630568" cy="301974"/>
          </a:xfrm>
          <a:prstGeom prst="rect">
            <a:avLst/>
          </a:prstGeom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261A21-B5FD-1708-CF75-3189B319A3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054" t="8946" b="82016"/>
          <a:stretch>
            <a:fillRect/>
          </a:stretch>
        </p:blipFill>
        <p:spPr>
          <a:xfrm>
            <a:off x="488887" y="1873982"/>
            <a:ext cx="1946160" cy="2353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669DB8-1A09-AD45-3C7C-9E34A44C658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6245" t="8583"/>
          <a:stretch>
            <a:fillRect/>
          </a:stretch>
        </p:blipFill>
        <p:spPr>
          <a:xfrm>
            <a:off x="3509208" y="4345982"/>
            <a:ext cx="2271996" cy="20974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453866B-DC9F-1750-74B4-E5B4D8207C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1" t="-1" r="59098" b="90781"/>
          <a:stretch>
            <a:fillRect/>
          </a:stretch>
        </p:blipFill>
        <p:spPr>
          <a:xfrm>
            <a:off x="2611098" y="4814642"/>
            <a:ext cx="1901899" cy="276001"/>
          </a:xfrm>
          <a:prstGeom prst="rect">
            <a:avLst/>
          </a:prstGeom>
          <a:ln w="19050"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9360ECD-1565-5790-EDB1-233742FFA0A1}"/>
              </a:ext>
            </a:extLst>
          </p:cNvPr>
          <p:cNvSpPr txBox="1"/>
          <p:nvPr/>
        </p:nvSpPr>
        <p:spPr>
          <a:xfrm>
            <a:off x="9041137" y="5053275"/>
            <a:ext cx="17719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100" noProof="0" dirty="0"/>
              <a:t>f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B3FF663-82AA-EF74-F7F6-F14B40F45EE8}"/>
              </a:ext>
            </a:extLst>
          </p:cNvPr>
          <p:cNvGrpSpPr/>
          <p:nvPr/>
        </p:nvGrpSpPr>
        <p:grpSpPr>
          <a:xfrm>
            <a:off x="7078764" y="149936"/>
            <a:ext cx="4585877" cy="2524195"/>
            <a:chOff x="6872809" y="220294"/>
            <a:chExt cx="4585877" cy="252419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CDE24CB-076C-FEA9-8644-53839FAFE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9646" t="6839" b="60522"/>
            <a:stretch>
              <a:fillRect/>
            </a:stretch>
          </p:blipFill>
          <p:spPr>
            <a:xfrm>
              <a:off x="7342697" y="220294"/>
              <a:ext cx="3442985" cy="69725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1B12661-F5DF-DE8E-43E4-E9ABD6A0A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89640" y="2154586"/>
              <a:ext cx="3269046" cy="589903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47FED48-39D7-FE9E-28C1-BEF2B40F4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8694" t="37637" r="29787" b="278"/>
            <a:stretch>
              <a:fillRect/>
            </a:stretch>
          </p:blipFill>
          <p:spPr>
            <a:xfrm>
              <a:off x="6872809" y="676039"/>
              <a:ext cx="1730150" cy="148767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65F68FA-E7FE-E758-E612-64EB8F5CF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71052" b="88722"/>
            <a:stretch>
              <a:fillRect/>
            </a:stretch>
          </p:blipFill>
          <p:spPr>
            <a:xfrm>
              <a:off x="9020332" y="996923"/>
              <a:ext cx="1767543" cy="300596"/>
            </a:xfrm>
            <a:prstGeom prst="rect">
              <a:avLst/>
            </a:prstGeom>
            <a:ln w="28575">
              <a:solidFill>
                <a:srgbClr val="FF000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0BB34CD4-3E27-9F96-C174-B59C10F044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331" t="2354" r="39310" b="87977"/>
          <a:stretch>
            <a:fillRect/>
          </a:stretch>
        </p:blipFill>
        <p:spPr>
          <a:xfrm>
            <a:off x="361006" y="3960480"/>
            <a:ext cx="986290" cy="274953"/>
          </a:xfrm>
          <a:prstGeom prst="rect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FB273-4FF4-BB81-E0C0-93C7688BB363}"/>
              </a:ext>
            </a:extLst>
          </p:cNvPr>
          <p:cNvSpPr txBox="1"/>
          <p:nvPr/>
        </p:nvSpPr>
        <p:spPr>
          <a:xfrm>
            <a:off x="6096000" y="4879165"/>
            <a:ext cx="25600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4.4.1 Interpolation schemes</a:t>
            </a:r>
          </a:p>
          <a:p>
            <a:pPr algn="l"/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fr-FR" sz="1400" dirty="0"/>
              <a:t>4.4.2 Surface normal ∆ </a:t>
            </a:r>
            <a:r>
              <a:rPr lang="fr-FR" sz="1400" dirty="0" err="1"/>
              <a:t>schemes</a:t>
            </a:r>
            <a:endParaRPr lang="en-US" sz="1400" b="0" i="0" u="none" strike="noStrike" baseline="0" dirty="0">
              <a:solidFill>
                <a:srgbClr val="FF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4.4.3 Gradient schemes</a:t>
            </a:r>
            <a:endParaRPr lang="en-US" sz="1400" b="0" i="0" u="none" strike="noStrike" baseline="0" dirty="0">
              <a:solidFill>
                <a:srgbClr val="000000"/>
              </a:solidFill>
              <a:latin typeface="CMR12"/>
            </a:endParaRP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4.4.4 Laplacian schemes</a:t>
            </a:r>
          </a:p>
          <a:p>
            <a:pPr algn="l"/>
            <a:r>
              <a:rPr lang="en-US" sz="1400" b="1" i="0" u="none" strike="noStrike" baseline="0" dirty="0">
                <a:solidFill>
                  <a:srgbClr val="0000FF"/>
                </a:solidFill>
                <a:latin typeface="CMR12"/>
              </a:rPr>
              <a:t>4.4.5 Divergence schemes ____</a:t>
            </a:r>
          </a:p>
          <a:p>
            <a:pPr algn="l"/>
            <a:r>
              <a:rPr lang="en-US" sz="1400" b="0" i="0" u="none" strike="noStrike" baseline="0" dirty="0">
                <a:latin typeface="CMR12"/>
              </a:rPr>
              <a:t>4.4.6 Time schemes</a:t>
            </a:r>
          </a:p>
          <a:p>
            <a:pPr algn="l"/>
            <a:r>
              <a:rPr lang="en-US" sz="1400" b="0" i="0" u="none" strike="noStrike" baseline="0" dirty="0">
                <a:solidFill>
                  <a:srgbClr val="FF0000"/>
                </a:solidFill>
                <a:latin typeface="CMR12"/>
              </a:rPr>
              <a:t>4.4.7 Flux calculation</a:t>
            </a:r>
            <a:endParaRPr lang="LID4096" sz="14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214ABD-E9F9-CF28-3540-375DFFA5B423}"/>
              </a:ext>
            </a:extLst>
          </p:cNvPr>
          <p:cNvGrpSpPr/>
          <p:nvPr/>
        </p:nvGrpSpPr>
        <p:grpSpPr>
          <a:xfrm>
            <a:off x="3528702" y="1968866"/>
            <a:ext cx="3318603" cy="1835946"/>
            <a:chOff x="3344533" y="2157178"/>
            <a:chExt cx="3318603" cy="183594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CD0E374-354E-DC1F-16A6-E6DE20D8E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44533" y="2157178"/>
              <a:ext cx="3318603" cy="183594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CDFD5B-06F7-C409-CC37-0DEBAE8F1D83}"/>
                </a:ext>
              </a:extLst>
            </p:cNvPr>
            <p:cNvSpPr txBox="1"/>
            <p:nvPr/>
          </p:nvSpPr>
          <p:spPr>
            <a:xfrm>
              <a:off x="3430829" y="2201175"/>
              <a:ext cx="82766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/>
                <a:t>Tutorial </a:t>
              </a:r>
            </a:p>
            <a:p>
              <a:r>
                <a:rPr lang="en-US" sz="1200" dirty="0"/>
                <a:t>Four</a:t>
              </a:r>
              <a:endParaRPr lang="LID4096" sz="1050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FDE64DF-91DF-C24F-1DF0-3E59137B64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850" y="2890160"/>
            <a:ext cx="3513021" cy="1829303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4239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AE8678-7B4E-9F27-8355-B39CE8F07171}"/>
              </a:ext>
            </a:extLst>
          </p:cNvPr>
          <p:cNvSpPr txBox="1"/>
          <p:nvPr/>
        </p:nvSpPr>
        <p:spPr>
          <a:xfrm>
            <a:off x="106379" y="9329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0000FF"/>
                </a:solidFill>
              </a:rPr>
              <a:t>https://www.youtube.com/watch?v=jfDzFPaPPug           ||06||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5CA5DE-B4A8-ADF1-55BF-D037D79B4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0" y="787542"/>
            <a:ext cx="2146662" cy="19908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CE1B230-B85B-14E4-EEF6-3DAE4CDDBC25}"/>
              </a:ext>
            </a:extLst>
          </p:cNvPr>
          <p:cNvGrpSpPr/>
          <p:nvPr/>
        </p:nvGrpSpPr>
        <p:grpSpPr>
          <a:xfrm>
            <a:off x="2931952" y="995752"/>
            <a:ext cx="3765147" cy="1422358"/>
            <a:chOff x="2931952" y="995752"/>
            <a:chExt cx="3765147" cy="14223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8D3CF3E-5F7F-66BC-B495-6CBC029C1DF1}"/>
                </a:ext>
              </a:extLst>
            </p:cNvPr>
            <p:cNvGrpSpPr/>
            <p:nvPr/>
          </p:nvGrpSpPr>
          <p:grpSpPr>
            <a:xfrm>
              <a:off x="2931952" y="995752"/>
              <a:ext cx="3765147" cy="1295400"/>
              <a:chOff x="8101480" y="5268987"/>
              <a:chExt cx="3765147" cy="12954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B76709A0-31D2-472A-3DF7-931E1A758EF9}"/>
                  </a:ext>
                </a:extLst>
              </p:cNvPr>
              <p:cNvGrpSpPr/>
              <p:nvPr/>
            </p:nvGrpSpPr>
            <p:grpSpPr>
              <a:xfrm>
                <a:off x="8101480" y="5268987"/>
                <a:ext cx="3762375" cy="1295400"/>
                <a:chOff x="7529768" y="4495989"/>
                <a:chExt cx="3762375" cy="1295400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69B769A0-3FA4-5722-6A09-048D55FAE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29768" y="4495989"/>
                  <a:ext cx="3762375" cy="1295400"/>
                </a:xfrm>
                <a:prstGeom prst="rect">
                  <a:avLst/>
                </a:prstGeom>
              </p:spPr>
            </p:pic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6C65D725-6839-4633-A154-C76578C5F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419043" y="4929376"/>
                  <a:ext cx="645765" cy="773846"/>
                </a:xfrm>
                <a:prstGeom prst="straightConnector1">
                  <a:avLst/>
                </a:prstGeom>
                <a:ln>
                  <a:solidFill>
                    <a:srgbClr val="0000FF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FA44A0-EC2E-C825-E5C6-57D8D72E414A}"/>
                  </a:ext>
                </a:extLst>
              </p:cNvPr>
              <p:cNvSpPr txBox="1"/>
              <p:nvPr/>
            </p:nvSpPr>
            <p:spPr>
              <a:xfrm>
                <a:off x="11561878" y="5655077"/>
                <a:ext cx="30474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r>
                  <a:rPr lang="en-GB" sz="1100" noProof="0" dirty="0"/>
                  <a:t>0</a:t>
                </a:r>
                <a:endParaRPr lang="en-GB" sz="14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633CD5F-4C23-9C01-BA92-714C82BE9031}"/>
                </a:ext>
              </a:extLst>
            </p:cNvPr>
            <p:cNvSpPr txBox="1"/>
            <p:nvPr/>
          </p:nvSpPr>
          <p:spPr>
            <a:xfrm>
              <a:off x="5686797" y="2164194"/>
              <a:ext cx="71858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noProof="0" dirty="0"/>
                <a:t>Diffusion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12FA4556-30DB-BCB6-590C-022479A97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450" y="2849994"/>
            <a:ext cx="4826299" cy="181860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2C531B-4958-06A9-5082-8306EB991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590" y="4841062"/>
            <a:ext cx="4904017" cy="17952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49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8161</TotalTime>
  <Words>885</Words>
  <Application>Microsoft Office PowerPoint</Application>
  <PresentationFormat>Widescreen</PresentationFormat>
  <Paragraphs>230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CMBX12</vt:lpstr>
      <vt:lpstr>CMR12</vt:lpstr>
      <vt:lpstr>Consolas</vt:lpstr>
      <vt:lpstr>LMRoman12-Regular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94</cp:revision>
  <dcterms:created xsi:type="dcterms:W3CDTF">2026-05-20T13:22:55Z</dcterms:created>
  <dcterms:modified xsi:type="dcterms:W3CDTF">2026-09-30T13:55:43Z</dcterms:modified>
</cp:coreProperties>
</file>