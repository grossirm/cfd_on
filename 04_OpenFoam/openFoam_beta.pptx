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file:///\\wsl.localhost\Ubuntu\mnt\wslg\distro\usr\lib\openfoam\openfoam2412\applications\solver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hyperlink" Target="https://www.youtube.com/watch?v=yN58_cevRxE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36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 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vertices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(0 0 -0.05)</a:t>
            </a:r>
          </a:p>
          <a:p>
            <a:r>
              <a:rPr lang="en-US" sz="1050" dirty="0"/>
              <a:t>    (0.6 0 -0.05)</a:t>
            </a:r>
          </a:p>
          <a:p>
            <a:r>
              <a:rPr lang="en-US" sz="1050" dirty="0"/>
              <a:t>    (0 0.2 -0.05)</a:t>
            </a:r>
          </a:p>
          <a:p>
            <a:r>
              <a:rPr lang="en-US" sz="1050" dirty="0"/>
              <a:t>    (0.6 0.2 -0.05)</a:t>
            </a:r>
          </a:p>
          <a:p>
            <a:r>
              <a:rPr lang="en-US" sz="1050" dirty="0"/>
              <a:t>    (3 0.2 -0.05)</a:t>
            </a:r>
          </a:p>
          <a:p>
            <a:r>
              <a:rPr lang="en-US" sz="1050" dirty="0"/>
              <a:t>    (0 1 -0.05)</a:t>
            </a:r>
          </a:p>
          <a:p>
            <a:r>
              <a:rPr lang="en-US" sz="1050" dirty="0"/>
              <a:t>    (0.6 1 -0.05)</a:t>
            </a:r>
          </a:p>
          <a:p>
            <a:r>
              <a:rPr lang="en-US" sz="1050" dirty="0"/>
              <a:t>    (3 1 -0.05)</a:t>
            </a:r>
          </a:p>
          <a:p>
            <a:r>
              <a:rPr lang="en-US" sz="1050" dirty="0"/>
              <a:t>    (0 0 0.05)</a:t>
            </a:r>
          </a:p>
          <a:p>
            <a:r>
              <a:rPr lang="en-US" sz="1050" dirty="0"/>
              <a:t>    (0.6 0 0.05)</a:t>
            </a:r>
          </a:p>
          <a:p>
            <a:r>
              <a:rPr lang="en-US" sz="1050" dirty="0"/>
              <a:t>    (0 0.2 0.05)</a:t>
            </a:r>
          </a:p>
          <a:p>
            <a:r>
              <a:rPr lang="en-US" sz="1050" dirty="0"/>
              <a:t>    (0.6 0.2 0.05)</a:t>
            </a:r>
          </a:p>
          <a:p>
            <a:r>
              <a:rPr lang="en-US" sz="1050" dirty="0"/>
              <a:t>    (3 0.2 0.05)</a:t>
            </a:r>
          </a:p>
          <a:p>
            <a:r>
              <a:rPr lang="en-US" sz="1050" dirty="0"/>
              <a:t>    (0 1 0.05)</a:t>
            </a:r>
          </a:p>
          <a:p>
            <a:r>
              <a:rPr lang="en-US" sz="1050" dirty="0"/>
              <a:t>    (0.6 1 0.05)</a:t>
            </a:r>
          </a:p>
          <a:p>
            <a:r>
              <a:rPr lang="en-US" sz="1050" dirty="0"/>
              <a:t>    (3 1 0.05)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F627E-339E-533D-9471-545A08AE73E6}"/>
              </a:ext>
            </a:extLst>
          </p:cNvPr>
          <p:cNvSpPr txBox="1"/>
          <p:nvPr/>
        </p:nvSpPr>
        <p:spPr>
          <a:xfrm>
            <a:off x="1375954" y="0"/>
            <a:ext cx="37185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blocks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hex (0 1 3 2 8 9 11 10) </a:t>
            </a:r>
            <a:r>
              <a:rPr lang="en-US" sz="1050" dirty="0">
                <a:solidFill>
                  <a:srgbClr val="0000FF"/>
                </a:solidFill>
              </a:rPr>
              <a:t>(25 10 1)</a:t>
            </a:r>
            <a:r>
              <a:rPr lang="en-US" sz="1050" dirty="0"/>
              <a:t>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(2 3 6 5 10 11 14 13) (25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(3 4 7 6 11 12 15 14) (100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edges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90098-F73D-3BA8-1B5C-A54E9D6EA111}"/>
              </a:ext>
            </a:extLst>
          </p:cNvPr>
          <p:cNvSpPr txBox="1"/>
          <p:nvPr/>
        </p:nvSpPr>
        <p:spPr>
          <a:xfrm>
            <a:off x="4850674" y="22368"/>
            <a:ext cx="160237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inlet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patch;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(0 8 10 2)</a:t>
            </a:r>
          </a:p>
          <a:p>
            <a:r>
              <a:rPr lang="en-US" sz="1050" dirty="0"/>
              <a:t>            (2 10 13 5)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outlet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{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type patch;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faces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(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    (4 7 15 12)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);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}</a:t>
            </a:r>
          </a:p>
          <a:p>
            <a:r>
              <a:rPr lang="en-US" sz="1050" dirty="0"/>
              <a:t>    bottom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(0 1 9 8)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top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(5 13 14 6)</a:t>
            </a:r>
          </a:p>
          <a:p>
            <a:r>
              <a:rPr lang="en-US" sz="1050" dirty="0"/>
              <a:t>            (6 14 15 7)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  <a:endParaRPr lang="LID4096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A9D77A-19B6-B8B3-F42E-392909C893EF}"/>
              </a:ext>
            </a:extLst>
          </p:cNvPr>
          <p:cNvSpPr txBox="1"/>
          <p:nvPr/>
        </p:nvSpPr>
        <p:spPr>
          <a:xfrm>
            <a:off x="6709954" y="22368"/>
            <a:ext cx="185928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endParaRPr lang="en-US" sz="1050" dirty="0"/>
          </a:p>
          <a:p>
            <a:pPr lvl="1"/>
            <a:r>
              <a:rPr lang="en-US" sz="1050" dirty="0"/>
              <a:t>obstacle</a:t>
            </a:r>
          </a:p>
          <a:p>
            <a:pPr lvl="1"/>
            <a:r>
              <a:rPr lang="en-US" sz="1050" dirty="0"/>
              <a:t>    {</a:t>
            </a:r>
          </a:p>
          <a:p>
            <a:pPr lvl="1"/>
            <a:r>
              <a:rPr lang="en-US" sz="1050" dirty="0"/>
              <a:t>        type </a:t>
            </a:r>
            <a:r>
              <a:rPr lang="en-US" sz="1050" dirty="0">
                <a:solidFill>
                  <a:srgbClr val="0000FF"/>
                </a:solidFill>
              </a:rPr>
              <a:t>wall</a:t>
            </a:r>
            <a:r>
              <a:rPr lang="en-US" sz="1050" dirty="0"/>
              <a:t>;</a:t>
            </a:r>
          </a:p>
          <a:p>
            <a:pPr lvl="1"/>
            <a:r>
              <a:rPr lang="en-US" sz="1050" dirty="0"/>
              <a:t>        faces</a:t>
            </a:r>
          </a:p>
          <a:p>
            <a:pPr lvl="1"/>
            <a:r>
              <a:rPr lang="en-US" sz="1050" dirty="0"/>
              <a:t>        (</a:t>
            </a:r>
          </a:p>
          <a:p>
            <a:pPr lvl="1"/>
            <a:r>
              <a:rPr lang="en-US" sz="1050" dirty="0"/>
              <a:t>            (1 3 11 9)</a:t>
            </a:r>
          </a:p>
          <a:p>
            <a:pPr lvl="1"/>
            <a:r>
              <a:rPr lang="en-US" sz="1050" dirty="0"/>
              <a:t>            (3 4 12 11)</a:t>
            </a:r>
          </a:p>
          <a:p>
            <a:pPr lvl="1"/>
            <a:r>
              <a:rPr lang="en-US" sz="1050" dirty="0"/>
              <a:t>        );</a:t>
            </a:r>
          </a:p>
          <a:p>
            <a:pPr lvl="1"/>
            <a:r>
              <a:rPr lang="en-US" sz="1050" dirty="0"/>
              <a:t>    }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  <a:p>
            <a:pPr lvl="1"/>
            <a:r>
              <a:rPr lang="en-US" sz="1050" dirty="0" err="1"/>
              <a:t>mergePatchPairs</a:t>
            </a:r>
            <a:endParaRPr lang="en-US" sz="1050" dirty="0"/>
          </a:p>
          <a:p>
            <a:pPr lvl="1"/>
            <a:r>
              <a:rPr lang="en-US" sz="1050" dirty="0"/>
              <a:t>(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2BEF24-0035-6C2F-84E6-B0A681C00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78" y="1772979"/>
            <a:ext cx="2742406" cy="13894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C14CCF-4BFF-313D-AD9B-7312714FA942}"/>
              </a:ext>
            </a:extLst>
          </p:cNvPr>
          <p:cNvSpPr txBox="1"/>
          <p:nvPr/>
        </p:nvSpPr>
        <p:spPr>
          <a:xfrm>
            <a:off x="2887521" y="22368"/>
            <a:ext cx="470262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mesh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F999FE-4044-9898-FF95-9FD88133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63" y="3695597"/>
            <a:ext cx="3626032" cy="17570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B76521-C922-6CA1-DA66-70DB9D07B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978" y="4507363"/>
            <a:ext cx="4061791" cy="210611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6D97666-6249-9FEA-B07B-32171F4B9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79" y="244523"/>
            <a:ext cx="2302329" cy="382938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E546A47-D3CE-97B8-C716-942FC2F6C28E}"/>
              </a:ext>
            </a:extLst>
          </p:cNvPr>
          <p:cNvSpPr/>
          <p:nvPr/>
        </p:nvSpPr>
        <p:spPr>
          <a:xfrm>
            <a:off x="9196251" y="1010194"/>
            <a:ext cx="2862943" cy="161979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608320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BDCF9C-C1D7-DBFC-3F6A-5C6B97C1C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8952" y="4906978"/>
            <a:ext cx="1820288" cy="10802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EDFECB-13AA-A014-E4C3-FB50C12FB86E}"/>
              </a:ext>
            </a:extLst>
          </p:cNvPr>
          <p:cNvSpPr txBox="1"/>
          <p:nvPr/>
        </p:nvSpPr>
        <p:spPr>
          <a:xfrm>
            <a:off x="6417884" y="5833179"/>
            <a:ext cx="447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</a:rPr>
              <a:t>(T)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D56200-2A27-3CEB-EF8B-8D037611EDBF}"/>
              </a:ext>
            </a:extLst>
          </p:cNvPr>
          <p:cNvSpPr txBox="1"/>
          <p:nvPr/>
        </p:nvSpPr>
        <p:spPr>
          <a:xfrm>
            <a:off x="4997513" y="3696721"/>
            <a:ext cx="68090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||05a| transport || solver || NEW discretization fvSchemes || blockMesh | setFields | nano foam.foam | paraview foam.foam &amp;</a:t>
            </a:r>
          </a:p>
        </p:txBody>
      </p: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-742523" y="0"/>
            <a:ext cx="8689952" cy="5164358"/>
            <a:chOff x="-563414" y="573115"/>
            <a:chExt cx="8689952" cy="516435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540893" y="65167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761445" y="65167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-563414" y="3920950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4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6E27F-58C4-6091-1511-B83D9CAE4C9A}"/>
              </a:ext>
            </a:extLst>
          </p:cNvPr>
          <p:cNvCxnSpPr/>
          <p:nvPr/>
        </p:nvCxnSpPr>
        <p:spPr>
          <a:xfrm>
            <a:off x="2281471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DE8D1-3239-DB4A-B09E-29C069858595}"/>
              </a:ext>
            </a:extLst>
          </p:cNvPr>
          <p:cNvCxnSpPr/>
          <p:nvPr/>
        </p:nvCxnSpPr>
        <p:spPr>
          <a:xfrm>
            <a:off x="4582336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BD1C8D-951E-C8EA-6716-8A1B749DBEE3}"/>
              </a:ext>
            </a:extLst>
          </p:cNvPr>
          <p:cNvCxnSpPr>
            <a:cxnSpLocks/>
          </p:cNvCxnSpPr>
          <p:nvPr/>
        </p:nvCxnSpPr>
        <p:spPr>
          <a:xfrm flipH="1">
            <a:off x="-1" y="3223369"/>
            <a:ext cx="265176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051CCABA-8607-D586-7106-5DA1296E9831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DAA7A88-D56D-8BE9-EA30-7DE1708ACAB3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C0762AB-F0CF-5155-27AD-BDCFD18E2E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6BA37FF9-ED07-2C8D-2317-E5CFDA4354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9324717-13D5-3900-88AA-96717ABEA68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7225EA-5AF9-B4FE-8C64-30976206687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740558-4FC4-1394-C638-467DC8B82AB7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132F4AC-BE77-62C7-7847-47A9C29635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4375" y="245581"/>
            <a:ext cx="3481269" cy="206201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595990A-B1BD-92F7-AD8B-EC4FE470A104}"/>
              </a:ext>
            </a:extLst>
          </p:cNvPr>
          <p:cNvGrpSpPr/>
          <p:nvPr/>
        </p:nvGrpSpPr>
        <p:grpSpPr>
          <a:xfrm>
            <a:off x="312889" y="6334780"/>
            <a:ext cx="5907498" cy="375075"/>
            <a:chOff x="6094492" y="391893"/>
            <a:chExt cx="5907498" cy="3750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A6CE2-49D1-288E-0AB6-BDD1283D4CE1}"/>
                </a:ext>
              </a:extLst>
            </p:cNvPr>
            <p:cNvSpPr txBox="1"/>
            <p:nvPr/>
          </p:nvSpPr>
          <p:spPr>
            <a:xfrm>
              <a:off x="6094492" y="391893"/>
              <a:ext cx="50865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hlinkClick r:id="rId12"/>
                </a:rPr>
                <a:t>https://www.youtube.com/watch?v=yN58_cevRxE</a:t>
              </a:r>
              <a:endParaRPr lang="LID4096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7EB424-2D38-3AF4-BBAD-227E2B40AEA8}"/>
                </a:ext>
              </a:extLst>
            </p:cNvPr>
            <p:cNvSpPr txBox="1"/>
            <p:nvPr/>
          </p:nvSpPr>
          <p:spPr>
            <a:xfrm>
              <a:off x="10230079" y="42841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Part II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2E92E0-772C-6B76-9AC6-C4B3999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19" y="1731803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B7A21F0-FC7E-D2B3-39E2-457899A99B9E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60D950D-AE96-AF64-6A09-6F4158FB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34623F5-7BD6-0B42-91E1-5DEC35AD8A93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B00FE23-0953-99DF-DD2C-9129EE6A5B5E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17BFC32-6F67-1314-824E-5825AC785078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352C05-E550-8F4B-C1B4-C837040A45B0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A4F126-79CC-9470-CEE1-AAC1DFBF342F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57C97-6A00-6014-6F32-DCCC2A922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0E4E47D-D5B8-C141-16D5-C39B3CB0F06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ED467F5-D444-1A41-D334-718CE46F9493}"/>
              </a:ext>
            </a:extLst>
          </p:cNvPr>
          <p:cNvSpPr txBox="1"/>
          <p:nvPr/>
        </p:nvSpPr>
        <p:spPr>
          <a:xfrm>
            <a:off x="5842186" y="4777263"/>
            <a:ext cx="2646878" cy="66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u="none" strike="noStrike" baseline="0" dirty="0">
                <a:solidFill>
                  <a:srgbClr val="FF0000"/>
                </a:solidFill>
                <a:latin typeface="CMBX12"/>
              </a:rPr>
              <a:t>4.4.1 Interpolation schemes</a:t>
            </a:r>
            <a:endParaRPr lang="LID4096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F1DB-6E83-6370-F797-933367EDED79}"/>
              </a:ext>
            </a:extLst>
          </p:cNvPr>
          <p:cNvSpPr txBox="1"/>
          <p:nvPr/>
        </p:nvSpPr>
        <p:spPr>
          <a:xfrm>
            <a:off x="5927716" y="5410873"/>
            <a:ext cx="61038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rgbClr val="0000FF"/>
                </a:solidFill>
              </a:rPr>
              <a:t>4.4.1.2 Schemes for vector fields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4.4.2 Surface normal gradient </a:t>
            </a:r>
            <a:r>
              <a:rPr lang="LID4096" sz="1200" dirty="0">
                <a:solidFill>
                  <a:srgbClr val="0000FF"/>
                </a:solidFill>
              </a:rPr>
              <a:t>schemes</a:t>
            </a:r>
            <a:endParaRPr lang="LID4096" sz="1400" dirty="0">
              <a:solidFill>
                <a:srgbClr val="0000FF"/>
              </a:solidFill>
            </a:endParaRPr>
          </a:p>
          <a:p>
            <a:r>
              <a:rPr lang="LID4096" sz="1400" dirty="0">
                <a:solidFill>
                  <a:srgbClr val="0000FF"/>
                </a:solidFill>
              </a:rPr>
              <a:t>4.4.3 Gradient schemes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4.4.4 Laplacian schemes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4.4.5 Divergence schemes</a:t>
            </a:r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33CCCBE2-B6DC-C6ED-85FD-D9EB35015757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_linearUpwind || _quick || _cubic ||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CDC51E-FF67-C9A3-905E-43766ECD629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CAEDF0-5370-8D3F-8D6F-54F04C845BF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34A66C-5F90-C5CD-678B-70E0FD75961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C061000-0B9E-8D93-1FB8-29BFEB41643B}"/>
              </a:ext>
            </a:extLst>
          </p:cNvPr>
          <p:cNvSpPr txBox="1"/>
          <p:nvPr/>
        </p:nvSpPr>
        <p:spPr>
          <a:xfrm>
            <a:off x="8979644" y="5042767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A6D2AC-EC01-9457-4C8A-57964CFB1C0C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BED347C-1B45-47A2-0696-3FF866CA0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B346058-FEFA-FD1E-4CAE-90EE118F9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AA9343-2431-9993-2778-435542172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513EC99-2C41-5105-4652-B8EBA66B7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16CBB59-8398-90BE-6CAA-66971A63EA0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AE8678-7B4E-9F27-8355-B39CE8F07171}"/>
              </a:ext>
            </a:extLst>
          </p:cNvPr>
          <p:cNvSpPr txBox="1"/>
          <p:nvPr/>
        </p:nvSpPr>
        <p:spPr>
          <a:xfrm>
            <a:off x="106379" y="9329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https://www.youtube.com/watch?v=jfDzFPaPPug           ||06|| </a:t>
            </a:r>
          </a:p>
        </p:txBody>
      </p:sp>
    </p:spTree>
    <p:extLst>
      <p:ext uri="{BB962C8B-B14F-4D97-AF65-F5344CB8AC3E}">
        <p14:creationId xmlns:p14="http://schemas.microsoft.com/office/powerpoint/2010/main" val="34249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3849</TotalTime>
  <Words>794</Words>
  <Application>Microsoft Office PowerPoint</Application>
  <PresentationFormat>Widescreen</PresentationFormat>
  <Paragraphs>198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CMBX12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77</cp:revision>
  <dcterms:created xsi:type="dcterms:W3CDTF">2026-05-20T13:22:55Z</dcterms:created>
  <dcterms:modified xsi:type="dcterms:W3CDTF">2026-09-14T18:02:07Z</dcterms:modified>
</cp:coreProperties>
</file>