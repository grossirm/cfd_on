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PaDDplpAJJ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hyperlink" Target="file:///\\wsl.localhost\Ubuntu\mnt\wslg\distro\usr\lib\openfoam\openfoam2412\applications\solvers" TargetMode="External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36.png"/><Relationship Id="rId10" Type="http://schemas.openxmlformats.org/officeDocument/2006/relationships/image" Target="../media/image45.png"/><Relationship Id="rId4" Type="http://schemas.openxmlformats.org/officeDocument/2006/relationships/image" Target="../media/image40.png"/><Relationship Id="rId9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408691" y="2373934"/>
            <a:ext cx="5322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F</a:t>
            </a:r>
            <a:r>
              <a:rPr lang="en-GB" sz="2800" b="1" i="0" u="none" strike="noStrike" baseline="0" dirty="0">
                <a:latin typeface="LMRoman12-Regular"/>
              </a:rPr>
              <a:t>ield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</a:t>
            </a:r>
            <a:r>
              <a:rPr lang="en-GB" sz="2800" b="1" i="0" u="none" strike="noStrike" baseline="0" dirty="0">
                <a:latin typeface="LMRoman12-Regular"/>
              </a:rPr>
              <a:t>peration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A</a:t>
            </a:r>
            <a:r>
              <a:rPr lang="en-GB" sz="2800" b="1" i="0" u="none" strike="noStrike" baseline="0" dirty="0">
                <a:latin typeface="LMRoman12-Regular"/>
              </a:rPr>
              <a:t>nd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</a:t>
            </a:r>
            <a:r>
              <a:rPr lang="en-GB" sz="2800" b="1" i="0" u="none" strike="noStrike" baseline="0" dirty="0">
                <a:latin typeface="LMRoman12-Regular"/>
              </a:rPr>
              <a:t>anipulation </a:t>
            </a:r>
            <a:endParaRPr lang="LID4096" sz="2800" b="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E8BF9E-F9BA-B702-A493-5025E9CC8625}"/>
              </a:ext>
            </a:extLst>
          </p:cNvPr>
          <p:cNvGrpSpPr>
            <a:grpSpLocks noChangeAspect="1"/>
          </p:cNvGrpSpPr>
          <p:nvPr/>
        </p:nvGrpSpPr>
        <p:grpSpPr>
          <a:xfrm>
            <a:off x="565019" y="3166449"/>
            <a:ext cx="3478797" cy="2896389"/>
            <a:chOff x="570368" y="3228186"/>
            <a:chExt cx="2453773" cy="2042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A4510B1-08AD-722C-2323-BF07527EC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6539" y="3228186"/>
              <a:ext cx="1747602" cy="204297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38E16340-B04A-BD7E-C439-B2F0D2752FF4}"/>
                </a:ext>
              </a:extLst>
            </p:cNvPr>
            <p:cNvSpPr/>
            <p:nvPr/>
          </p:nvSpPr>
          <p:spPr>
            <a:xfrm>
              <a:off x="570368" y="4721351"/>
              <a:ext cx="491402" cy="461665"/>
            </a:xfrm>
            <a:prstGeom prst="rightArrow">
              <a:avLst/>
            </a:prstGeom>
            <a:solidFill>
              <a:srgbClr val="0000FF"/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152A27A-57FB-DE69-67B1-731C23C8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/>
          <a:stretch>
            <a:fillRect/>
          </a:stretch>
        </p:blipFill>
        <p:spPr>
          <a:xfrm>
            <a:off x="6116811" y="2373934"/>
            <a:ext cx="5510170" cy="3950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7FB053-56FD-2B57-6107-3979686561C6}"/>
              </a:ext>
            </a:extLst>
          </p:cNvPr>
          <p:cNvSpPr txBox="1"/>
          <p:nvPr/>
        </p:nvSpPr>
        <p:spPr>
          <a:xfrm>
            <a:off x="408691" y="1850714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135D20-BB5B-6452-A701-2E4A2634173B}"/>
              </a:ext>
            </a:extLst>
          </p:cNvPr>
          <p:cNvSpPr txBox="1"/>
          <p:nvPr/>
        </p:nvSpPr>
        <p:spPr>
          <a:xfrm>
            <a:off x="408691" y="285954"/>
            <a:ext cx="3325110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\ \              /    </a:t>
            </a:r>
            <a:r>
              <a:rPr lang="en-US" b="1" dirty="0">
                <a:solidFill>
                  <a:schemeClr val="bg1"/>
                </a:solidFill>
              </a:rPr>
              <a:t>F</a:t>
            </a:r>
            <a:r>
              <a:rPr lang="en-US" dirty="0">
                <a:solidFill>
                  <a:schemeClr val="bg1"/>
                </a:solidFill>
              </a:rPr>
              <a:t>    ield             </a:t>
            </a:r>
          </a:p>
          <a:p>
            <a:r>
              <a:rPr lang="en-US" dirty="0">
                <a:solidFill>
                  <a:schemeClr val="bg1"/>
                </a:solidFill>
              </a:rPr>
              <a:t>      \ \          /      </a:t>
            </a:r>
            <a:r>
              <a:rPr lang="en-US" b="1" dirty="0">
                <a:solidFill>
                  <a:schemeClr val="bg1"/>
                </a:solidFill>
              </a:rPr>
              <a:t>O</a:t>
            </a:r>
            <a:r>
              <a:rPr lang="en-US" dirty="0">
                <a:solidFill>
                  <a:schemeClr val="bg1"/>
                </a:solidFill>
              </a:rPr>
              <a:t>   peration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\ \      /        </a:t>
            </a:r>
            <a:r>
              <a:rPr lang="en-US" b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  nd      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  \ \  /          </a:t>
            </a:r>
            <a:r>
              <a:rPr lang="en-US" b="1" dirty="0">
                <a:solidFill>
                  <a:schemeClr val="bg1"/>
                </a:solidFill>
              </a:rPr>
              <a:t>M</a:t>
            </a:r>
            <a:r>
              <a:rPr lang="en-US" dirty="0">
                <a:solidFill>
                  <a:schemeClr val="bg1"/>
                </a:solidFill>
              </a:rPr>
              <a:t>  anipulation  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802686F-573C-322B-B9DD-69BC1B5F0469}"/>
              </a:ext>
            </a:extLst>
          </p:cNvPr>
          <p:cNvGrpSpPr>
            <a:grpSpLocks noChangeAspect="1"/>
          </p:cNvGrpSpPr>
          <p:nvPr/>
        </p:nvGrpSpPr>
        <p:grpSpPr>
          <a:xfrm>
            <a:off x="9076565" y="2811811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A89C75-DA8C-3F5F-A6CE-A84B712EC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D16CCE9-3DD1-9E06-AFE2-FB4DCA464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F0315E-7ABF-83DB-3C2F-F182D1653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026" name="Picture 2" descr="Ícone de Ubuntu simples a marca logo">
            <a:extLst>
              <a:ext uri="{FF2B5EF4-FFF2-40B4-BE49-F238E27FC236}">
                <a16:creationId xmlns:a16="http://schemas.microsoft.com/office/drawing/2014/main" id="{A52461A6-8019-39A8-06C3-26D37783F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0722" y="203191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ux SVG and transparent PNG icons | TechIcons">
            <a:extLst>
              <a:ext uri="{FF2B5EF4-FFF2-40B4-BE49-F238E27FC236}">
                <a16:creationId xmlns:a16="http://schemas.microsoft.com/office/drawing/2014/main" id="{EF388739-051E-7521-CCE5-B5D99084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742" y="203191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4184A7-4084-6542-F0A6-FDDC628F01DF}"/>
              </a:ext>
            </a:extLst>
          </p:cNvPr>
          <p:cNvSpPr txBox="1"/>
          <p:nvPr/>
        </p:nvSpPr>
        <p:spPr>
          <a:xfrm>
            <a:off x="8031465" y="163177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99A8-A3DA-DDB6-30C5-62ECBA5B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BABC49D-0846-6BBC-19D9-FFA53216CBDE}"/>
              </a:ext>
            </a:extLst>
          </p:cNvPr>
          <p:cNvGrpSpPr>
            <a:grpSpLocks noChangeAspect="1"/>
          </p:cNvGrpSpPr>
          <p:nvPr/>
        </p:nvGrpSpPr>
        <p:grpSpPr>
          <a:xfrm>
            <a:off x="9459737" y="2759467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86D22FC-F8F5-EB1B-36D6-5FE1ECCFE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F73980A-3587-01AD-C696-FA4F833B0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EC9010F-2180-515B-61C5-F7D462676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F7A361F-9089-D98A-C37A-05722B93DA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92" y="3091322"/>
            <a:ext cx="2437602" cy="3536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471398-07A8-FD1D-C296-A0D2529491BD}"/>
              </a:ext>
            </a:extLst>
          </p:cNvPr>
          <p:cNvSpPr txBox="1"/>
          <p:nvPr/>
        </p:nvSpPr>
        <p:spPr>
          <a:xfrm>
            <a:off x="423692" y="2460477"/>
            <a:ext cx="2346130" cy="51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sz="105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volScalarField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p;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34288-46DC-41EF-1393-B36D867C70CB}"/>
              </a:ext>
            </a:extLst>
          </p:cNvPr>
          <p:cNvSpPr txBox="1"/>
          <p:nvPr/>
        </p:nvSpPr>
        <p:spPr>
          <a:xfrm>
            <a:off x="3115437" y="2698744"/>
            <a:ext cx="2705942" cy="751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10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polyBoundaryMesh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location    </a:t>
            </a:r>
            <a:r>
              <a:rPr lang="en-GB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"constant/polyMesh"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boundary;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6C745B-D7FA-E8CC-0965-31B8E0B81E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5436" y="3612332"/>
            <a:ext cx="2451915" cy="30146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9C64F6-C7ED-5EF3-88B1-27F4C7F7C4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069" y="1099164"/>
            <a:ext cx="2994881" cy="5536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4DA6038-DDA0-A0DB-05C3-E065C86A4E83}"/>
              </a:ext>
            </a:extLst>
          </p:cNvPr>
          <p:cNvSpPr txBox="1"/>
          <p:nvPr/>
        </p:nvSpPr>
        <p:spPr>
          <a:xfrm>
            <a:off x="5736069" y="827787"/>
            <a:ext cx="2346130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Source code</a:t>
            </a:r>
            <a:endParaRPr lang="en-US" sz="105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3FDB98F-C48A-775F-9F2D-3D3BC8DD6B6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51767"/>
          <a:stretch>
            <a:fillRect/>
          </a:stretch>
        </p:blipFill>
        <p:spPr>
          <a:xfrm>
            <a:off x="8899667" y="300488"/>
            <a:ext cx="2900987" cy="23427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405BBD46-3506-28CF-4029-FEC23A35D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279" y="315182"/>
            <a:ext cx="2924175" cy="790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F5EDB72-2A50-C5A8-6E36-00510CDBC827}"/>
              </a:ext>
            </a:extLst>
          </p:cNvPr>
          <p:cNvSpPr txBox="1"/>
          <p:nvPr/>
        </p:nvSpPr>
        <p:spPr>
          <a:xfrm>
            <a:off x="497941" y="320927"/>
            <a:ext cx="1729211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solve</a:t>
            </a:r>
          </a:p>
          <a:p>
            <a:r>
              <a:rPr lang="en-US" sz="1200" b="1" dirty="0"/>
              <a:t>(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ddt</a:t>
            </a:r>
            <a:r>
              <a:rPr lang="en-US" sz="1200" b="1" dirty="0"/>
              <a:t>(rho, U)</a:t>
            </a:r>
          </a:p>
          <a:p>
            <a:r>
              <a:rPr lang="en-US" sz="1200" b="1" dirty="0"/>
              <a:t>  + </a:t>
            </a:r>
            <a:r>
              <a:rPr lang="en-US" sz="1200" b="1" dirty="0" err="1"/>
              <a:t>fvm</a:t>
            </a:r>
            <a:r>
              <a:rPr lang="en-US" sz="1200" b="1" dirty="0"/>
              <a:t>::div(phi, U)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laplacian</a:t>
            </a:r>
            <a:r>
              <a:rPr lang="en-US" sz="1200" b="1" dirty="0"/>
              <a:t>(nu, U)</a:t>
            </a:r>
          </a:p>
          <a:p>
            <a:r>
              <a:rPr lang="en-US" sz="1200" b="1" dirty="0"/>
              <a:t>    ==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fvc</a:t>
            </a:r>
            <a:r>
              <a:rPr lang="en-US" sz="1200" b="1" dirty="0"/>
              <a:t>::grad(p)</a:t>
            </a:r>
          </a:p>
          <a:p>
            <a:r>
              <a:rPr lang="en-US" sz="1200" b="1" dirty="0"/>
              <a:t>)</a:t>
            </a:r>
            <a:endParaRPr lang="LID4096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0550F9F-390C-0CA4-69F7-6E6A0C13A1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326" y="3984307"/>
            <a:ext cx="2907327" cy="26594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654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CEC6D2-00C6-D441-D1F4-22D0E2106FE8}"/>
              </a:ext>
            </a:extLst>
          </p:cNvPr>
          <p:cNvSpPr txBox="1"/>
          <p:nvPr/>
        </p:nvSpPr>
        <p:spPr>
          <a:xfrm>
            <a:off x="132806" y="0"/>
            <a:ext cx="1243148" cy="31624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vertices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(0 0 -0.05)</a:t>
            </a:r>
          </a:p>
          <a:p>
            <a:r>
              <a:rPr lang="en-US" sz="1050" dirty="0"/>
              <a:t>    (0.6 0 -0.05)</a:t>
            </a:r>
          </a:p>
          <a:p>
            <a:r>
              <a:rPr lang="en-US" sz="1050" dirty="0"/>
              <a:t>    (0 0.2 -0.05)</a:t>
            </a:r>
          </a:p>
          <a:p>
            <a:r>
              <a:rPr lang="en-US" sz="1050" dirty="0"/>
              <a:t>    (0.6 0.2 -0.05)</a:t>
            </a:r>
          </a:p>
          <a:p>
            <a:r>
              <a:rPr lang="en-US" sz="1050" dirty="0"/>
              <a:t>    (3 0.2 -0.05)</a:t>
            </a:r>
          </a:p>
          <a:p>
            <a:r>
              <a:rPr lang="en-US" sz="1050" dirty="0"/>
              <a:t>    (0 1 -0.05)</a:t>
            </a:r>
          </a:p>
          <a:p>
            <a:r>
              <a:rPr lang="en-US" sz="1050" dirty="0"/>
              <a:t>    (0.6 1 -0.05)</a:t>
            </a:r>
          </a:p>
          <a:p>
            <a:r>
              <a:rPr lang="en-US" sz="1050" dirty="0"/>
              <a:t>    (3 1 -0.05)</a:t>
            </a:r>
          </a:p>
          <a:p>
            <a:r>
              <a:rPr lang="en-US" sz="1050" dirty="0"/>
              <a:t>    (0 0 0.05)</a:t>
            </a:r>
          </a:p>
          <a:p>
            <a:r>
              <a:rPr lang="en-US" sz="1050" dirty="0"/>
              <a:t>    (0.6 0 0.05)</a:t>
            </a:r>
          </a:p>
          <a:p>
            <a:r>
              <a:rPr lang="en-US" sz="1050" dirty="0"/>
              <a:t>    (0 0.2 0.05)</a:t>
            </a:r>
          </a:p>
          <a:p>
            <a:r>
              <a:rPr lang="en-US" sz="1050" dirty="0"/>
              <a:t>    (0.6 0.2 0.05)</a:t>
            </a:r>
          </a:p>
          <a:p>
            <a:r>
              <a:rPr lang="en-US" sz="1050" dirty="0"/>
              <a:t>    (3 0.2 0.05)</a:t>
            </a:r>
          </a:p>
          <a:p>
            <a:r>
              <a:rPr lang="en-US" sz="1050" dirty="0"/>
              <a:t>    (0 1 0.05)</a:t>
            </a:r>
          </a:p>
          <a:p>
            <a:r>
              <a:rPr lang="en-US" sz="1050" dirty="0"/>
              <a:t>    (0.6 1 0.05)</a:t>
            </a:r>
          </a:p>
          <a:p>
            <a:r>
              <a:rPr lang="en-US" sz="1050" dirty="0"/>
              <a:t>    (3 1 0.05)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F627E-339E-533D-9471-545A08AE73E6}"/>
              </a:ext>
            </a:extLst>
          </p:cNvPr>
          <p:cNvSpPr txBox="1"/>
          <p:nvPr/>
        </p:nvSpPr>
        <p:spPr>
          <a:xfrm>
            <a:off x="1375954" y="0"/>
            <a:ext cx="371856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blocks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hex (0 1 3 2 8 9 11 10) </a:t>
            </a:r>
            <a:r>
              <a:rPr lang="en-US" sz="1050" dirty="0">
                <a:solidFill>
                  <a:srgbClr val="0000FF"/>
                </a:solidFill>
              </a:rPr>
              <a:t>(25 10 1)</a:t>
            </a:r>
            <a:r>
              <a:rPr lang="en-US" sz="1050" dirty="0"/>
              <a:t>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(2 3 6 5 10 11 14 13) (25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    hex (3 4 7 6 11 12 15 14) (100 40 1) </a:t>
            </a:r>
            <a:r>
              <a:rPr lang="en-US" sz="1050" dirty="0" err="1"/>
              <a:t>simpleGrading</a:t>
            </a:r>
            <a:r>
              <a:rPr lang="en-US" sz="1050" dirty="0"/>
              <a:t> (1 1 1)</a:t>
            </a:r>
          </a:p>
          <a:p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edges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390098-F73D-3BA8-1B5C-A54E9D6EA111}"/>
              </a:ext>
            </a:extLst>
          </p:cNvPr>
          <p:cNvSpPr txBox="1"/>
          <p:nvPr/>
        </p:nvSpPr>
        <p:spPr>
          <a:xfrm>
            <a:off x="4850674" y="22368"/>
            <a:ext cx="1602377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r>
              <a:rPr lang="en-US" sz="1050" dirty="0"/>
              <a:t>    inlet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patch;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(0 8 10 2)</a:t>
            </a:r>
          </a:p>
          <a:p>
            <a:r>
              <a:rPr lang="en-US" sz="1050" dirty="0"/>
              <a:t>            (2 10 13 5)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outlet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{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type patch;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faces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(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    (4 7 15 12)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    );</a:t>
            </a:r>
          </a:p>
          <a:p>
            <a:r>
              <a:rPr lang="en-US" sz="1050" dirty="0">
                <a:solidFill>
                  <a:srgbClr val="0000FF"/>
                </a:solidFill>
              </a:rPr>
              <a:t>    }</a:t>
            </a:r>
          </a:p>
          <a:p>
            <a:r>
              <a:rPr lang="en-US" sz="1050" dirty="0"/>
              <a:t>    bottom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(0 1 9 8)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top</a:t>
            </a:r>
          </a:p>
          <a:p>
            <a:r>
              <a:rPr lang="en-US" sz="1050" dirty="0"/>
              <a:t>    {</a:t>
            </a:r>
          </a:p>
          <a:p>
            <a:r>
              <a:rPr lang="en-US" sz="1050" dirty="0"/>
              <a:t>        type </a:t>
            </a:r>
            <a:r>
              <a:rPr lang="en-US" sz="1050" dirty="0" err="1"/>
              <a:t>symmetryPlane</a:t>
            </a:r>
            <a:r>
              <a:rPr lang="en-US" sz="1050" dirty="0"/>
              <a:t>;</a:t>
            </a:r>
          </a:p>
          <a:p>
            <a:r>
              <a:rPr lang="en-US" sz="1050" dirty="0"/>
              <a:t>        faces</a:t>
            </a:r>
          </a:p>
          <a:p>
            <a:r>
              <a:rPr lang="en-US" sz="1050" dirty="0"/>
              <a:t>        (</a:t>
            </a:r>
          </a:p>
          <a:p>
            <a:r>
              <a:rPr lang="en-US" sz="1050" dirty="0"/>
              <a:t>            (5 13 14 6)</a:t>
            </a:r>
          </a:p>
          <a:p>
            <a:r>
              <a:rPr lang="en-US" sz="1050" dirty="0"/>
              <a:t>            (6 14 15 7)</a:t>
            </a:r>
          </a:p>
          <a:p>
            <a:r>
              <a:rPr lang="en-US" sz="1050" dirty="0"/>
              <a:t>        );</a:t>
            </a:r>
          </a:p>
          <a:p>
            <a:r>
              <a:rPr lang="en-US" sz="1050" dirty="0"/>
              <a:t>    }</a:t>
            </a:r>
            <a:endParaRPr lang="LID4096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A9D77A-19B6-B8B3-F42E-392909C893EF}"/>
              </a:ext>
            </a:extLst>
          </p:cNvPr>
          <p:cNvSpPr txBox="1"/>
          <p:nvPr/>
        </p:nvSpPr>
        <p:spPr>
          <a:xfrm>
            <a:off x="6709954" y="22368"/>
            <a:ext cx="1859280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boundary</a:t>
            </a:r>
          </a:p>
          <a:p>
            <a:r>
              <a:rPr lang="en-US" sz="1050" dirty="0"/>
              <a:t>(</a:t>
            </a:r>
          </a:p>
          <a:p>
            <a:endParaRPr lang="en-US" sz="1050" dirty="0"/>
          </a:p>
          <a:p>
            <a:pPr lvl="1"/>
            <a:r>
              <a:rPr lang="en-US" sz="1050" dirty="0"/>
              <a:t>obstacle</a:t>
            </a:r>
          </a:p>
          <a:p>
            <a:pPr lvl="1"/>
            <a:r>
              <a:rPr lang="en-US" sz="1050" dirty="0"/>
              <a:t>    {</a:t>
            </a:r>
          </a:p>
          <a:p>
            <a:pPr lvl="1"/>
            <a:r>
              <a:rPr lang="en-US" sz="1050" dirty="0"/>
              <a:t>        type </a:t>
            </a:r>
            <a:r>
              <a:rPr lang="en-US" sz="1050" dirty="0">
                <a:solidFill>
                  <a:srgbClr val="0000FF"/>
                </a:solidFill>
              </a:rPr>
              <a:t>wall</a:t>
            </a:r>
            <a:r>
              <a:rPr lang="en-US" sz="1050" dirty="0"/>
              <a:t>;</a:t>
            </a:r>
          </a:p>
          <a:p>
            <a:pPr lvl="1"/>
            <a:r>
              <a:rPr lang="en-US" sz="1050" dirty="0"/>
              <a:t>        faces</a:t>
            </a:r>
          </a:p>
          <a:p>
            <a:pPr lvl="1"/>
            <a:r>
              <a:rPr lang="en-US" sz="1050" dirty="0"/>
              <a:t>        (</a:t>
            </a:r>
          </a:p>
          <a:p>
            <a:pPr lvl="1"/>
            <a:r>
              <a:rPr lang="en-US" sz="1050" dirty="0"/>
              <a:t>            (1 3 11 9)</a:t>
            </a:r>
          </a:p>
          <a:p>
            <a:pPr lvl="1"/>
            <a:r>
              <a:rPr lang="en-US" sz="1050" dirty="0"/>
              <a:t>            (3 4 12 11)</a:t>
            </a:r>
          </a:p>
          <a:p>
            <a:pPr lvl="1"/>
            <a:r>
              <a:rPr lang="en-US" sz="1050" dirty="0"/>
              <a:t>        );</a:t>
            </a:r>
          </a:p>
          <a:p>
            <a:pPr lvl="1"/>
            <a:r>
              <a:rPr lang="en-US" sz="1050" dirty="0"/>
              <a:t>    }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  <a:p>
            <a:pPr lvl="1"/>
            <a:r>
              <a:rPr lang="en-US" sz="1050" dirty="0" err="1"/>
              <a:t>mergePatchPairs</a:t>
            </a:r>
            <a:endParaRPr lang="en-US" sz="1050" dirty="0"/>
          </a:p>
          <a:p>
            <a:pPr lvl="1"/>
            <a:r>
              <a:rPr lang="en-US" sz="1050" dirty="0"/>
              <a:t>(</a:t>
            </a:r>
          </a:p>
          <a:p>
            <a:pPr lvl="1"/>
            <a:r>
              <a:rPr lang="en-US" sz="1050" dirty="0"/>
              <a:t>);</a:t>
            </a:r>
          </a:p>
          <a:p>
            <a:pPr lvl="1"/>
            <a:endParaRPr lang="en-US" sz="10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2BEF24-0035-6C2F-84E6-B0A681C00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678" y="1772979"/>
            <a:ext cx="2742406" cy="13894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C14CCF-4BFF-313D-AD9B-7312714FA942}"/>
              </a:ext>
            </a:extLst>
          </p:cNvPr>
          <p:cNvSpPr txBox="1"/>
          <p:nvPr/>
        </p:nvSpPr>
        <p:spPr>
          <a:xfrm>
            <a:off x="2887521" y="22368"/>
            <a:ext cx="470262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mesh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F999FE-4044-9898-FF95-9FD88133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63" y="3695597"/>
            <a:ext cx="3626032" cy="17570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5B76521-C922-6CA1-DA66-70DB9D07B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978" y="4507363"/>
            <a:ext cx="4061791" cy="210611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6D97666-6249-9FEA-B07B-32171F4B9A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79" y="244523"/>
            <a:ext cx="2302329" cy="382938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E546A47-D3CE-97B8-C716-942FC2F6C28E}"/>
              </a:ext>
            </a:extLst>
          </p:cNvPr>
          <p:cNvSpPr/>
          <p:nvPr/>
        </p:nvSpPr>
        <p:spPr>
          <a:xfrm>
            <a:off x="9196251" y="1010194"/>
            <a:ext cx="2862943" cy="1619795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32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4E5850-3319-7F84-45CA-A4DA3E494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493589"/>
            <a:ext cx="5040963" cy="22970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85472F-B9E9-AEBF-9212-FBA7EEF1960C}"/>
              </a:ext>
            </a:extLst>
          </p:cNvPr>
          <p:cNvSpPr txBox="1"/>
          <p:nvPr/>
        </p:nvSpPr>
        <p:spPr>
          <a:xfrm>
            <a:off x="2764972" y="117565"/>
            <a:ext cx="28433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</a:rPr>
              <a:t>Understanding grid convergence - Part 1 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CB4DA-5746-94BF-3557-EF43219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0" y="493589"/>
            <a:ext cx="5683823" cy="30810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23A55-86C3-42DD-E2FD-1965C0B4BFF4}"/>
              </a:ext>
            </a:extLst>
          </p:cNvPr>
          <p:cNvSpPr txBox="1"/>
          <p:nvPr/>
        </p:nvSpPr>
        <p:spPr>
          <a:xfrm>
            <a:off x="5608320" y="117565"/>
            <a:ext cx="58172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  <a:hlinkClick r:id="rId4"/>
              </a:rPr>
              <a:t>https://www.youtube.com/watch?v=PaDDplpAJJ0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BDCF9C-C1D7-DBFC-3F6A-5C6B97C1C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8952" y="4906978"/>
            <a:ext cx="1820288" cy="10802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EDFECB-13AA-A014-E4C3-FB50C12FB86E}"/>
              </a:ext>
            </a:extLst>
          </p:cNvPr>
          <p:cNvSpPr txBox="1"/>
          <p:nvPr/>
        </p:nvSpPr>
        <p:spPr>
          <a:xfrm>
            <a:off x="6417884" y="5833179"/>
            <a:ext cx="447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00FF"/>
                </a:solidFill>
              </a:rPr>
              <a:t>(T)</a:t>
            </a:r>
            <a:endParaRPr lang="en-US" sz="1050" b="1" dirty="0">
              <a:solidFill>
                <a:srgbClr val="0000FF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63DFC-9A32-D50C-F4BC-557EA9EBBC6A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C3274E-A6B2-64D6-FEF2-A93837096A9D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B0A45C1-FC16-A9FD-A71D-7E31E0D59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EAA29B9-D35A-3491-4D21-F48BC40CC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EF31A2C-0D85-BD22-7746-DCD0D90F6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C021B1C-98B0-2413-D28F-54F306DFD79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2CAE2C-3F78-A2F3-F490-DA9C16E574AF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D56200-2A27-3CEB-EF8B-8D037611EDBF}"/>
              </a:ext>
            </a:extLst>
          </p:cNvPr>
          <p:cNvSpPr txBox="1"/>
          <p:nvPr/>
        </p:nvSpPr>
        <p:spPr>
          <a:xfrm>
            <a:off x="4997513" y="3696721"/>
            <a:ext cx="68090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>
                <a:solidFill>
                  <a:srgbClr val="0000FF"/>
                </a:solidFill>
              </a:rPr>
              <a:t>||05a| transport || solver || NEW discretization fvSchemes || blockMesh | setFields | nano foam.foam | paraview foam.foam &amp;</a:t>
            </a:r>
          </a:p>
        </p:txBody>
      </p:sp>
    </p:spTree>
    <p:extLst>
      <p:ext uri="{BB962C8B-B14F-4D97-AF65-F5344CB8AC3E}">
        <p14:creationId xmlns:p14="http://schemas.microsoft.com/office/powerpoint/2010/main" val="212743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396AA-5669-AE18-94C7-8F91674FE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805" y="2838652"/>
            <a:ext cx="5353050" cy="22479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5A46ED8-CC33-92DA-BB5F-BA0AADDCAD63}"/>
              </a:ext>
            </a:extLst>
          </p:cNvPr>
          <p:cNvGrpSpPr/>
          <p:nvPr/>
        </p:nvGrpSpPr>
        <p:grpSpPr>
          <a:xfrm>
            <a:off x="8101480" y="5268987"/>
            <a:ext cx="3762375" cy="1295400"/>
            <a:chOff x="7529768" y="4495989"/>
            <a:chExt cx="3762375" cy="129540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758A133-EE8F-9362-75B0-C499C60AB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29768" y="4495989"/>
              <a:ext cx="3762375" cy="1295400"/>
            </a:xfrm>
            <a:prstGeom prst="rect">
              <a:avLst/>
            </a:prstGeom>
          </p:spPr>
        </p:pic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178E529-1F46-85DF-FF3F-2704BD0624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74237" y="4908019"/>
              <a:ext cx="645765" cy="773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771427-CE94-EE53-199F-12CC2DDC49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9043" y="4929376"/>
              <a:ext cx="645765" cy="773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070E2-6E9E-803B-4F64-6D755CF6030B}"/>
              </a:ext>
            </a:extLst>
          </p:cNvPr>
          <p:cNvGrpSpPr/>
          <p:nvPr/>
        </p:nvGrpSpPr>
        <p:grpSpPr>
          <a:xfrm>
            <a:off x="-742523" y="0"/>
            <a:ext cx="8689952" cy="5164358"/>
            <a:chOff x="-563414" y="573115"/>
            <a:chExt cx="8689952" cy="516435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C8FF30-8E66-BCA9-E401-E700FCA0EBA2}"/>
                </a:ext>
              </a:extLst>
            </p:cNvPr>
            <p:cNvSpPr txBox="1"/>
            <p:nvPr/>
          </p:nvSpPr>
          <p:spPr>
            <a:xfrm>
              <a:off x="221127" y="5731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volScalarField T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"T"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BEFBD7-903C-101D-5E2B-81BBAA9AA59F}"/>
                </a:ext>
              </a:extLst>
            </p:cNvPr>
            <p:cNvSpPr txBox="1"/>
            <p:nvPr/>
          </p:nvSpPr>
          <p:spPr>
            <a:xfrm>
              <a:off x="2540893" y="65167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volVectorField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U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"U"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1B6FB4-2E45-7835-EEAF-CB7B2A2B7253}"/>
                </a:ext>
              </a:extLst>
            </p:cNvPr>
            <p:cNvSpPr txBox="1"/>
            <p:nvPr/>
          </p:nvSpPr>
          <p:spPr>
            <a:xfrm>
              <a:off x="4761445" y="651675"/>
              <a:ext cx="3365093" cy="2470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IOdictionary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 err="1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constant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::MUST_READ_IF_MODIFIED,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::NO_WRITE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78CB83-EE8B-F339-32C9-9EA631A0DA31}"/>
                </a:ext>
              </a:extLst>
            </p:cNvPr>
            <p:cNvSpPr txBox="1"/>
            <p:nvPr/>
          </p:nvSpPr>
          <p:spPr>
            <a:xfrm>
              <a:off x="-563414" y="3920950"/>
              <a:ext cx="3309488" cy="1816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fvScalarMatrix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TEqn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ddt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+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::div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(phi,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-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laplacian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(DT,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==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fvOptions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B81080-C2A4-5B08-3130-8F203C27E0E5}"/>
              </a:ext>
            </a:extLst>
          </p:cNvPr>
          <p:cNvGrpSpPr/>
          <p:nvPr/>
        </p:nvGrpSpPr>
        <p:grpSpPr>
          <a:xfrm>
            <a:off x="3608590" y="3223369"/>
            <a:ext cx="1796521" cy="3439570"/>
            <a:chOff x="3608590" y="3223369"/>
            <a:chExt cx="1796521" cy="343957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1030C96-F7CB-61B3-73EA-030F82390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08590" y="3510164"/>
              <a:ext cx="1609725" cy="315277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C736726-467D-1444-A798-95B3F9A87A85}"/>
                </a:ext>
              </a:extLst>
            </p:cNvPr>
            <p:cNvSpPr txBox="1"/>
            <p:nvPr/>
          </p:nvSpPr>
          <p:spPr>
            <a:xfrm>
              <a:off x="3764082" y="3223369"/>
              <a:ext cx="88333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Solvers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E1941-22E8-3E8C-4C4F-3212FD8FE45B}"/>
                </a:ext>
              </a:extLst>
            </p:cNvPr>
            <p:cNvSpPr txBox="1"/>
            <p:nvPr/>
          </p:nvSpPr>
          <p:spPr>
            <a:xfrm>
              <a:off x="4903914" y="3429000"/>
              <a:ext cx="501197" cy="316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050" dirty="0">
                  <a:hlinkClick r:id="rId5" action="ppaction://hlinkfile"/>
                </a:rPr>
                <a:t>\\wsl.localhost\Ubuntu\mnt\wslg\distro\usr\lib\openfoam\openfoam2412\applications\solvers</a:t>
              </a:r>
              <a:endParaRPr lang="LID4096" sz="1050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6E27F-58C4-6091-1511-B83D9CAE4C9A}"/>
              </a:ext>
            </a:extLst>
          </p:cNvPr>
          <p:cNvCxnSpPr/>
          <p:nvPr/>
        </p:nvCxnSpPr>
        <p:spPr>
          <a:xfrm>
            <a:off x="2281471" y="0"/>
            <a:ext cx="0" cy="297642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DE8D1-3239-DB4A-B09E-29C069858595}"/>
              </a:ext>
            </a:extLst>
          </p:cNvPr>
          <p:cNvCxnSpPr/>
          <p:nvPr/>
        </p:nvCxnSpPr>
        <p:spPr>
          <a:xfrm>
            <a:off x="4582336" y="0"/>
            <a:ext cx="0" cy="297642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BD1C8D-951E-C8EA-6716-8A1B749DBEE3}"/>
              </a:ext>
            </a:extLst>
          </p:cNvPr>
          <p:cNvCxnSpPr>
            <a:cxnSpLocks/>
          </p:cNvCxnSpPr>
          <p:nvPr/>
        </p:nvCxnSpPr>
        <p:spPr>
          <a:xfrm flipH="1">
            <a:off x="-1" y="3223369"/>
            <a:ext cx="265176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0117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6443082-D3B0-1E4F-9F16-288A4E61A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109" y="2636243"/>
            <a:ext cx="7175141" cy="40001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0F5CDC-D8C9-A45E-C734-E821A819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179" y="869404"/>
            <a:ext cx="8582025" cy="130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9BE0FB-EA74-4E50-DA38-0125403C5F12}"/>
              </a:ext>
            </a:extLst>
          </p:cNvPr>
          <p:cNvSpPr txBox="1"/>
          <p:nvPr/>
        </p:nvSpPr>
        <p:spPr>
          <a:xfrm>
            <a:off x="11032148" y="5059929"/>
            <a:ext cx="355431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84E6D-1468-38DC-7E78-073CA7302840}"/>
              </a:ext>
            </a:extLst>
          </p:cNvPr>
          <p:cNvSpPr txBox="1"/>
          <p:nvPr/>
        </p:nvSpPr>
        <p:spPr>
          <a:xfrm>
            <a:off x="9459443" y="3304533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424D7-D130-2A2D-9B15-860106949817}"/>
              </a:ext>
            </a:extLst>
          </p:cNvPr>
          <p:cNvSpPr txBox="1"/>
          <p:nvPr/>
        </p:nvSpPr>
        <p:spPr>
          <a:xfrm>
            <a:off x="4766173" y="3347835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AA5CD-C886-301F-44B9-0C3D0E65AFAD}"/>
              </a:ext>
            </a:extLst>
          </p:cNvPr>
          <p:cNvSpPr txBox="1"/>
          <p:nvPr/>
        </p:nvSpPr>
        <p:spPr>
          <a:xfrm>
            <a:off x="3409005" y="1684694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2335F-70B3-1966-07DD-0998E721DC82}"/>
              </a:ext>
            </a:extLst>
          </p:cNvPr>
          <p:cNvSpPr txBox="1"/>
          <p:nvPr/>
        </p:nvSpPr>
        <p:spPr>
          <a:xfrm>
            <a:off x="8201319" y="5070488"/>
            <a:ext cx="284374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E4700-3D82-2E2A-9DE6-549BB5F06143}"/>
              </a:ext>
            </a:extLst>
          </p:cNvPr>
          <p:cNvSpPr txBox="1"/>
          <p:nvPr/>
        </p:nvSpPr>
        <p:spPr>
          <a:xfrm>
            <a:off x="4766173" y="4221758"/>
            <a:ext cx="242310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40A6C-D3FB-18C2-4BFE-62C2D1C23660}"/>
              </a:ext>
            </a:extLst>
          </p:cNvPr>
          <p:cNvSpPr txBox="1"/>
          <p:nvPr/>
        </p:nvSpPr>
        <p:spPr>
          <a:xfrm>
            <a:off x="10854432" y="4387390"/>
            <a:ext cx="863086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BC925-F3BD-99A1-FEEB-20183EBFB522}"/>
              </a:ext>
            </a:extLst>
          </p:cNvPr>
          <p:cNvSpPr txBox="1"/>
          <p:nvPr/>
        </p:nvSpPr>
        <p:spPr>
          <a:xfrm>
            <a:off x="4780669" y="4683672"/>
            <a:ext cx="227814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A8869-2423-8A78-C72A-28388487BCF6}"/>
              </a:ext>
            </a:extLst>
          </p:cNvPr>
          <p:cNvSpPr txBox="1"/>
          <p:nvPr/>
        </p:nvSpPr>
        <p:spPr>
          <a:xfrm>
            <a:off x="4766173" y="3809749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87809-4C44-51A1-C90B-385D7C6C4B50}"/>
              </a:ext>
            </a:extLst>
          </p:cNvPr>
          <p:cNvSpPr txBox="1"/>
          <p:nvPr/>
        </p:nvSpPr>
        <p:spPr>
          <a:xfrm>
            <a:off x="9030701" y="6295972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 / 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CBBD3-84C5-FF6B-4885-8E74898EC8CF}"/>
              </a:ext>
            </a:extLst>
          </p:cNvPr>
          <p:cNvSpPr txBox="1"/>
          <p:nvPr/>
        </p:nvSpPr>
        <p:spPr>
          <a:xfrm>
            <a:off x="151064" y="3256950"/>
            <a:ext cx="26139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04_b_shockTube_pitzDaily</a:t>
            </a:r>
          </a:p>
          <a:p>
            <a:r>
              <a:rPr lang="en-GB" dirty="0"/>
              <a:t>           </a:t>
            </a:r>
            <a:r>
              <a:rPr lang="en-GB" noProof="0" dirty="0"/>
              <a:t>Transport Case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9AB0BA-EB4A-DC50-4FC5-39337222092A}"/>
              </a:ext>
            </a:extLst>
          </p:cNvPr>
          <p:cNvGrpSpPr>
            <a:grpSpLocks noChangeAspect="1"/>
          </p:cNvGrpSpPr>
          <p:nvPr/>
        </p:nvGrpSpPr>
        <p:grpSpPr>
          <a:xfrm>
            <a:off x="555480" y="3839950"/>
            <a:ext cx="3743891" cy="2524461"/>
            <a:chOff x="98414" y="3464699"/>
            <a:chExt cx="4637671" cy="31271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D64A66-2894-2D05-9155-B9473B124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858" y="3565962"/>
              <a:ext cx="1993227" cy="3025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402645B-C0BA-9772-632F-162271B05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414" y="3464699"/>
              <a:ext cx="2476394" cy="31271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48BE00F-1C02-9BF9-767A-0C46B0487C56}"/>
              </a:ext>
            </a:extLst>
          </p:cNvPr>
          <p:cNvSpPr txBox="1"/>
          <p:nvPr/>
        </p:nvSpPr>
        <p:spPr>
          <a:xfrm>
            <a:off x="2872084" y="4307500"/>
            <a:ext cx="1771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Numerical </a:t>
            </a:r>
            <a:r>
              <a:rPr lang="en-GB" sz="1400" noProof="0" dirty="0">
                <a:solidFill>
                  <a:srgbClr val="FF0000"/>
                </a:solidFill>
              </a:rPr>
              <a:t>Diffusion</a:t>
            </a:r>
          </a:p>
          <a:p>
            <a:r>
              <a:rPr lang="en-GB" sz="1100" dirty="0"/>
              <a:t>Physical     </a:t>
            </a:r>
            <a:r>
              <a:rPr lang="en-GB" sz="1400" dirty="0">
                <a:solidFill>
                  <a:srgbClr val="FF0000"/>
                </a:solidFill>
              </a:rPr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496B6C-EDE2-BED2-E76E-CAC4B12E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96" y="368183"/>
            <a:ext cx="1909609" cy="2633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1946CD6-16C3-46D4-4122-48ED8291A4A3}"/>
              </a:ext>
            </a:extLst>
          </p:cNvPr>
          <p:cNvSpPr txBox="1"/>
          <p:nvPr/>
        </p:nvSpPr>
        <p:spPr>
          <a:xfrm>
            <a:off x="3043702" y="3670115"/>
            <a:ext cx="14286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7F76B21E-E363-8BCB-E340-004449049A6E}"/>
              </a:ext>
            </a:extLst>
          </p:cNvPr>
          <p:cNvSpPr/>
          <p:nvPr/>
        </p:nvSpPr>
        <p:spPr>
          <a:xfrm>
            <a:off x="470780" y="368183"/>
            <a:ext cx="362139" cy="1460617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9BD9146-2B61-FE7E-B413-E00289C30892}"/>
              </a:ext>
            </a:extLst>
          </p:cNvPr>
          <p:cNvSpPr/>
          <p:nvPr/>
        </p:nvSpPr>
        <p:spPr>
          <a:xfrm>
            <a:off x="469271" y="1887219"/>
            <a:ext cx="362139" cy="1114908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D9C32-9072-10E8-1D27-3C26D52A28B1}"/>
              </a:ext>
            </a:extLst>
          </p:cNvPr>
          <p:cNvSpPr txBox="1"/>
          <p:nvPr/>
        </p:nvSpPr>
        <p:spPr>
          <a:xfrm>
            <a:off x="3023747" y="522088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025FF3-1AF6-FD7F-190F-2251626DB4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059"/>
          <a:stretch>
            <a:fillRect/>
          </a:stretch>
        </p:blipFill>
        <p:spPr>
          <a:xfrm>
            <a:off x="2749823" y="2508036"/>
            <a:ext cx="1540470" cy="13049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F1ECC0E-FF07-4F7C-E791-C5EEB05F5CEE}"/>
              </a:ext>
            </a:extLst>
          </p:cNvPr>
          <p:cNvSpPr/>
          <p:nvPr/>
        </p:nvSpPr>
        <p:spPr>
          <a:xfrm>
            <a:off x="3068179" y="5911913"/>
            <a:ext cx="1141682" cy="25391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D84043-7FAC-A4C3-8A39-59D592E32B57}"/>
              </a:ext>
            </a:extLst>
          </p:cNvPr>
          <p:cNvSpPr txBox="1"/>
          <p:nvPr/>
        </p:nvSpPr>
        <p:spPr>
          <a:xfrm>
            <a:off x="4732967" y="214998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scalarTransportFoam</a:t>
            </a:r>
          </a:p>
        </p:txBody>
      </p:sp>
    </p:spTree>
    <p:extLst>
      <p:ext uri="{BB962C8B-B14F-4D97-AF65-F5344CB8AC3E}">
        <p14:creationId xmlns:p14="http://schemas.microsoft.com/office/powerpoint/2010/main" val="224015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3EC8E5-3E6B-6D65-34D0-781331A9C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C7319B-1B38-8435-F587-FC016BE7B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392" y="1713732"/>
            <a:ext cx="2686050" cy="95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/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blipFill>
                <a:blip r:embed="rId4"/>
                <a:stretch>
                  <a:fillRect l="-8182" r="-8182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/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r>
                      <a:rPr lang="pt-BR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>
                    <a:solidFill>
                      <a:srgbClr val="0000FF"/>
                    </a:solidFill>
                  </a:rPr>
                  <a:t> </a:t>
                </a:r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blipFill>
                <a:blip r:embed="rId5"/>
                <a:stretch>
                  <a:fillRect l="-14141" r="-404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/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el-G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blipFill>
                <a:blip r:embed="rId6"/>
                <a:stretch>
                  <a:fillRect l="-6897" r="-7759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DF84D48B-968C-F7C8-F7CC-9FC4CA8AEB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5975" b="38440"/>
          <a:stretch>
            <a:fillRect/>
          </a:stretch>
        </p:blipFill>
        <p:spPr>
          <a:xfrm>
            <a:off x="830751" y="2821020"/>
            <a:ext cx="5445049" cy="87428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F1F819D-C7A7-6BF9-CC76-B8B70DE964C3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C180BB-6CCB-3188-B7DE-AA65ECF6D112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Finite Volumes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36FFF1-FF1E-B898-C859-A25DDFFC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A1CD196F-CCAE-2D37-FF4D-73F1DF0DB2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319" t="61232" r="26376"/>
          <a:stretch>
            <a:fillRect/>
          </a:stretch>
        </p:blipFill>
        <p:spPr>
          <a:xfrm>
            <a:off x="6353666" y="2966694"/>
            <a:ext cx="3120272" cy="952500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76B8C2F-9F0C-CE77-D8D0-8A49C7ABB78F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CE4B0A-84F0-0F39-D988-55A682B62B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D8BB45-0E13-5097-42E6-18021157EDB6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F898667-60C3-5709-9A78-EC3EF596D130}"/>
              </a:ext>
            </a:extLst>
          </p:cNvPr>
          <p:cNvSpPr/>
          <p:nvPr/>
        </p:nvSpPr>
        <p:spPr>
          <a:xfrm>
            <a:off x="3412502" y="2938413"/>
            <a:ext cx="2816163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416105-32AC-03CD-3B15-8C1CCCBA24FC}"/>
              </a:ext>
            </a:extLst>
          </p:cNvPr>
          <p:cNvSpPr/>
          <p:nvPr/>
        </p:nvSpPr>
        <p:spPr>
          <a:xfrm>
            <a:off x="1799530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CD027C-106B-FFC6-7A94-950AAE00276B}"/>
              </a:ext>
            </a:extLst>
          </p:cNvPr>
          <p:cNvGrpSpPr/>
          <p:nvPr/>
        </p:nvGrpSpPr>
        <p:grpSpPr>
          <a:xfrm>
            <a:off x="4095995" y="3945127"/>
            <a:ext cx="3181497" cy="874287"/>
            <a:chOff x="4095995" y="3454933"/>
            <a:chExt cx="3181497" cy="874287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9E54072-3367-DF3D-0A98-A9C3C4FF7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95995" y="3606234"/>
              <a:ext cx="3038475" cy="47625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3239A9D-0ADF-220B-93D2-B20EA6866E6D}"/>
                </a:ext>
              </a:extLst>
            </p:cNvPr>
            <p:cNvSpPr/>
            <p:nvPr/>
          </p:nvSpPr>
          <p:spPr>
            <a:xfrm>
              <a:off x="5895031" y="3454933"/>
              <a:ext cx="1382461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3E836440-1885-9916-775F-15351BF768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6356"/>
          <a:stretch>
            <a:fillRect/>
          </a:stretch>
        </p:blipFill>
        <p:spPr>
          <a:xfrm>
            <a:off x="2111604" y="4965537"/>
            <a:ext cx="5194170" cy="98186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F320B2D9-0B18-99EB-4450-0DCD50A6C253}"/>
              </a:ext>
            </a:extLst>
          </p:cNvPr>
          <p:cNvSpPr/>
          <p:nvPr/>
        </p:nvSpPr>
        <p:spPr>
          <a:xfrm>
            <a:off x="1970203" y="4951841"/>
            <a:ext cx="2017336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2F37BB-EBB3-B690-4D63-9EF3801FD4FF}"/>
              </a:ext>
            </a:extLst>
          </p:cNvPr>
          <p:cNvCxnSpPr/>
          <p:nvPr/>
        </p:nvCxnSpPr>
        <p:spPr>
          <a:xfrm>
            <a:off x="4854804" y="357275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466EE2-0666-50D7-F1D1-0750255D46FB}"/>
              </a:ext>
            </a:extLst>
          </p:cNvPr>
          <p:cNvCxnSpPr/>
          <p:nvPr/>
        </p:nvCxnSpPr>
        <p:spPr>
          <a:xfrm>
            <a:off x="3206685" y="558223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4AFD2EB-4866-46EA-8E2C-6ABE5350C327}"/>
              </a:ext>
            </a:extLst>
          </p:cNvPr>
          <p:cNvSpPr txBox="1"/>
          <p:nvPr/>
        </p:nvSpPr>
        <p:spPr>
          <a:xfrm>
            <a:off x="1970203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4F52FC-4718-60D6-8C12-56947616F8AE}"/>
              </a:ext>
            </a:extLst>
          </p:cNvPr>
          <p:cNvCxnSpPr/>
          <p:nvPr/>
        </p:nvCxnSpPr>
        <p:spPr>
          <a:xfrm>
            <a:off x="1799530" y="1622982"/>
            <a:ext cx="128016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3BF3BD-D68B-3A37-1440-C08D0488C911}"/>
              </a:ext>
            </a:extLst>
          </p:cNvPr>
          <p:cNvCxnSpPr/>
          <p:nvPr/>
        </p:nvCxnSpPr>
        <p:spPr>
          <a:xfrm>
            <a:off x="924409" y="3862632"/>
            <a:ext cx="530352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4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6931C3-AC31-1BE2-11C7-79F8735F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664F5E4-1E7F-D5E7-AB89-8D00400B1EB8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67D4B1E-0A1B-A511-BB91-166C8CFED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DD2ADE-DFF6-2F45-1C70-EA45354F639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507-2C5B-BE89-858C-DEBE19E4313C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444D-50EB-3830-9FAA-70F42E5FA7F6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72E92E0-772C-6B76-9AC6-C4B3999E1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842" y="1779145"/>
            <a:ext cx="3133725" cy="7048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60D950D-AE96-AF64-6A09-6F4158FB71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3278" y="2631158"/>
            <a:ext cx="7105650" cy="1162050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747FC6-A564-4BC6-3A3E-FBD7EEF114E7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4623F5-7BD6-0B42-91E1-5DEC35AD8A93}"/>
              </a:ext>
            </a:extLst>
          </p:cNvPr>
          <p:cNvCxnSpPr/>
          <p:nvPr/>
        </p:nvCxnSpPr>
        <p:spPr>
          <a:xfrm>
            <a:off x="4347329" y="3357513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B00FE23-0953-99DF-DD2C-9129EE6A5B5E}"/>
              </a:ext>
            </a:extLst>
          </p:cNvPr>
          <p:cNvCxnSpPr/>
          <p:nvPr/>
        </p:nvCxnSpPr>
        <p:spPr>
          <a:xfrm>
            <a:off x="6997832" y="3351228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17BFC32-6F67-1314-824E-5825AC785078}"/>
              </a:ext>
            </a:extLst>
          </p:cNvPr>
          <p:cNvSpPr txBox="1"/>
          <p:nvPr/>
        </p:nvSpPr>
        <p:spPr>
          <a:xfrm>
            <a:off x="4484631" y="3401290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Volume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352C05-E550-8F4B-C1B4-C837040A45B0}"/>
              </a:ext>
            </a:extLst>
          </p:cNvPr>
          <p:cNvSpPr txBox="1"/>
          <p:nvPr/>
        </p:nvSpPr>
        <p:spPr>
          <a:xfrm>
            <a:off x="7025786" y="3401290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Surfaces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A4F126-79CC-9470-CEE1-AAC1DFBF342F}"/>
              </a:ext>
            </a:extLst>
          </p:cNvPr>
          <p:cNvSpPr txBox="1"/>
          <p:nvPr/>
        </p:nvSpPr>
        <p:spPr>
          <a:xfrm>
            <a:off x="7281486" y="3553404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Cell Faces 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AE50773-6072-A483-4C21-EF9803BBBD36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061000-0B9E-8D93-1FB8-29BFEB41643B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/>
                <a:t>f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C657C97-6A00-6014-6F32-DCCC2A922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4713ACFA-F30E-E7AD-8B0F-54C4985020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006" y="3429000"/>
            <a:ext cx="2174436" cy="28440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BBF5A9-FFF4-B368-32FF-9EE698DCE633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1E635D1-FA99-7912-AD48-8F929537BD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3321" y="4220290"/>
            <a:ext cx="3563604" cy="229430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D1E03B5-D275-8D14-4D15-610AEEA150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1124" y="4158136"/>
            <a:ext cx="3308995" cy="53290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BED347C-1B45-47A2-0696-3FF866CA0F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55341" y="129975"/>
            <a:ext cx="4893768" cy="21362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B346058-FEFA-FD1E-4CAE-90EE118F97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1957" y="2339838"/>
            <a:ext cx="2809941" cy="50705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69C587C-911A-1A63-96B2-148E71B173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006" y="1709667"/>
            <a:ext cx="2174436" cy="1540225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0E4E47D-D5B8-C141-16D5-C39B3CB0F06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50848" t="8857" b="79704"/>
          <a:stretch>
            <a:fillRect/>
          </a:stretch>
        </p:blipFill>
        <p:spPr>
          <a:xfrm>
            <a:off x="325343" y="177197"/>
            <a:ext cx="2668857" cy="439962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ED467F5-D444-1A41-D334-718CE46F9493}"/>
              </a:ext>
            </a:extLst>
          </p:cNvPr>
          <p:cNvSpPr txBox="1"/>
          <p:nvPr/>
        </p:nvSpPr>
        <p:spPr>
          <a:xfrm>
            <a:off x="6556542" y="4827260"/>
            <a:ext cx="23468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solidFill>
                  <a:srgbClr val="FF0000"/>
                </a:solidFill>
                <a:latin typeface="CMBX12"/>
              </a:rPr>
              <a:t>4.4.1 Interpolation schemes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6FF3E7-C7CB-41FC-B157-7E7B92557382}"/>
              </a:ext>
            </a:extLst>
          </p:cNvPr>
          <p:cNvSpPr txBox="1"/>
          <p:nvPr/>
        </p:nvSpPr>
        <p:spPr>
          <a:xfrm>
            <a:off x="1571" y="6556041"/>
            <a:ext cx="10028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E:\15_REPOS\a___________________\09_CFD_ON\04_OpenFoam</a:t>
            </a:r>
            <a:r>
              <a:rPr lang="pt-BR" sz="1400" dirty="0"/>
              <a:t>\</a:t>
            </a:r>
            <a:r>
              <a:rPr lang="pt-BR" sz="1400" b="1" dirty="0" err="1">
                <a:solidFill>
                  <a:srgbClr val="FF0000"/>
                </a:solidFill>
              </a:rPr>
              <a:t>UserGuide_Version</a:t>
            </a:r>
            <a:r>
              <a:rPr lang="pt-BR" sz="1400" b="1" dirty="0">
                <a:solidFill>
                  <a:srgbClr val="FF0000"/>
                </a:solidFill>
              </a:rPr>
              <a:t> 2.3.1.pdf</a:t>
            </a:r>
            <a:endParaRPr lang="LID4096" sz="1400" b="1" dirty="0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F1DB-6E83-6370-F797-933367EDED79}"/>
              </a:ext>
            </a:extLst>
          </p:cNvPr>
          <p:cNvSpPr txBox="1"/>
          <p:nvPr/>
        </p:nvSpPr>
        <p:spPr>
          <a:xfrm>
            <a:off x="6550297" y="5437818"/>
            <a:ext cx="6103856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100" dirty="0">
                <a:solidFill>
                  <a:srgbClr val="0000FF"/>
                </a:solidFill>
              </a:rPr>
              <a:t>4.4.1.2 Schemes for vector fields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4.4.2 Surface normal gradient schemes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4.4.3 Gradient schemes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4.4.4 Laplacian schemes</a:t>
            </a:r>
          </a:p>
          <a:p>
            <a:r>
              <a:rPr lang="LID4096" sz="1100" dirty="0">
                <a:solidFill>
                  <a:srgbClr val="0000FF"/>
                </a:solidFill>
              </a:rPr>
              <a:t>4.4.5 Divergence schemes</a:t>
            </a:r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33CCCBE2-B6DC-C6ED-85FD-D9EB35015757}"/>
              </a:ext>
            </a:extLst>
          </p:cNvPr>
          <p:cNvSpPr/>
          <p:nvPr/>
        </p:nvSpPr>
        <p:spPr>
          <a:xfrm rot="7696881">
            <a:off x="2302398" y="415177"/>
            <a:ext cx="175414" cy="203496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B9055-2D10-DD8B-6D09-969CE855DCF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87593" y="330438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9F3E7CE-CE71-FB2D-C7E0-724B97BE9424}"/>
              </a:ext>
            </a:extLst>
          </p:cNvPr>
          <p:cNvSpPr txBox="1"/>
          <p:nvPr/>
        </p:nvSpPr>
        <p:spPr>
          <a:xfrm>
            <a:off x="2670963" y="3813029"/>
            <a:ext cx="4431096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LID4096" sz="1200" dirty="0"/>
              <a:t>|| _upwind || _linear || _linearUpwind || _quick || _cubic ||</a:t>
            </a:r>
          </a:p>
        </p:txBody>
      </p:sp>
    </p:spTree>
    <p:extLst>
      <p:ext uri="{BB962C8B-B14F-4D97-AF65-F5344CB8AC3E}">
        <p14:creationId xmlns:p14="http://schemas.microsoft.com/office/powerpoint/2010/main" val="3640730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AE8678-7B4E-9F27-8355-B39CE8F07171}"/>
              </a:ext>
            </a:extLst>
          </p:cNvPr>
          <p:cNvSpPr txBox="1"/>
          <p:nvPr/>
        </p:nvSpPr>
        <p:spPr>
          <a:xfrm>
            <a:off x="106379" y="9329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https://www.youtube.com/watch?v=jfDzFPaPPug           ||06|| </a:t>
            </a:r>
          </a:p>
        </p:txBody>
      </p:sp>
    </p:spTree>
    <p:extLst>
      <p:ext uri="{BB962C8B-B14F-4D97-AF65-F5344CB8AC3E}">
        <p14:creationId xmlns:p14="http://schemas.microsoft.com/office/powerpoint/2010/main" val="34249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3805</TotalTime>
  <Words>775</Words>
  <Application>Microsoft Office PowerPoint</Application>
  <PresentationFormat>Widescreen</PresentationFormat>
  <Paragraphs>194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CMBX12</vt:lpstr>
      <vt:lpstr>Consolas</vt:lpstr>
      <vt:lpstr>LMRoman12-Regular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72</cp:revision>
  <dcterms:created xsi:type="dcterms:W3CDTF">2026-05-20T13:22:55Z</dcterms:created>
  <dcterms:modified xsi:type="dcterms:W3CDTF">2026-09-14T12:55:38Z</dcterms:modified>
</cp:coreProperties>
</file>