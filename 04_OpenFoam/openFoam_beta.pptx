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6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file:///\\wsl.localhost\Ubuntu\mnt\wslg\distro\usr\lib\openfoam\openfoam2412\applications\solver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hyperlink" Target="https://www.youtube.com/watch?v=yN58_cevRxE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12" Type="http://schemas.openxmlformats.org/officeDocument/2006/relationships/image" Target="../media/image3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36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4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6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51.png"/><Relationship Id="rId5" Type="http://schemas.openxmlformats.org/officeDocument/2006/relationships/image" Target="../media/image42.png"/><Relationship Id="rId10" Type="http://schemas.openxmlformats.org/officeDocument/2006/relationships/image" Target="../media/image50.png"/><Relationship Id="rId4" Type="http://schemas.openxmlformats.org/officeDocument/2006/relationships/image" Target="../media/image41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 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vertices</a:t>
            </a:r>
          </a:p>
          <a:p>
            <a:r>
              <a:rPr lang="en-US" sz="1100" b="1" dirty="0"/>
              <a:t>(</a:t>
            </a:r>
          </a:p>
          <a:p>
            <a:r>
              <a:rPr lang="en-US" sz="1100" b="1" dirty="0"/>
              <a:t>    (0 0 -0.05)</a:t>
            </a:r>
          </a:p>
          <a:p>
            <a:r>
              <a:rPr lang="en-US" sz="1100" b="1" dirty="0"/>
              <a:t>    (0.6 0 -0.05)</a:t>
            </a:r>
          </a:p>
          <a:p>
            <a:r>
              <a:rPr lang="en-US" sz="1100" b="1" dirty="0"/>
              <a:t>    (0 0.2 -0.05)</a:t>
            </a:r>
          </a:p>
          <a:p>
            <a:r>
              <a:rPr lang="en-US" sz="1100" b="1" dirty="0"/>
              <a:t>    (0.6 0.2 -0.05)</a:t>
            </a:r>
          </a:p>
          <a:p>
            <a:r>
              <a:rPr lang="en-US" sz="1100" b="1" dirty="0"/>
              <a:t>    (3 0.2 -0.05)</a:t>
            </a:r>
          </a:p>
          <a:p>
            <a:r>
              <a:rPr lang="en-US" sz="1100" b="1" dirty="0"/>
              <a:t>    (0 1 -0.05)</a:t>
            </a:r>
          </a:p>
          <a:p>
            <a:r>
              <a:rPr lang="en-US" sz="1100" b="1" dirty="0"/>
              <a:t>    (0.6 1 -0.05)</a:t>
            </a:r>
          </a:p>
          <a:p>
            <a:r>
              <a:rPr lang="en-US" sz="1100" b="1" dirty="0"/>
              <a:t>    (3 1 -0.05)</a:t>
            </a:r>
          </a:p>
          <a:p>
            <a:r>
              <a:rPr lang="en-US" sz="1100" b="1" dirty="0"/>
              <a:t>    (0 0 0.05)</a:t>
            </a:r>
          </a:p>
          <a:p>
            <a:r>
              <a:rPr lang="en-US" sz="1100" b="1" dirty="0"/>
              <a:t>    (0.6 0 0.05)</a:t>
            </a:r>
          </a:p>
          <a:p>
            <a:r>
              <a:rPr lang="en-US" sz="1100" b="1" dirty="0"/>
              <a:t>    (0 0.2 0.05)</a:t>
            </a:r>
          </a:p>
          <a:p>
            <a:r>
              <a:rPr lang="en-US" sz="1100" b="1" dirty="0"/>
              <a:t>    (0.6 0.2 0.05)</a:t>
            </a:r>
          </a:p>
          <a:p>
            <a:r>
              <a:rPr lang="en-US" sz="1100" b="1" dirty="0"/>
              <a:t>    (3 0.2 0.05)</a:t>
            </a:r>
          </a:p>
          <a:p>
            <a:r>
              <a:rPr lang="en-US" sz="1100" b="1" dirty="0"/>
              <a:t>    (0 1 0.05)</a:t>
            </a:r>
          </a:p>
          <a:p>
            <a:r>
              <a:rPr lang="en-US" sz="1100" b="1" dirty="0"/>
              <a:t>    (0.6 1 0.05)</a:t>
            </a:r>
          </a:p>
          <a:p>
            <a:r>
              <a:rPr lang="en-US" sz="1100" b="1" dirty="0"/>
              <a:t>    (3 1 0.05)</a:t>
            </a:r>
          </a:p>
          <a:p>
            <a:r>
              <a:rPr lang="en-US" sz="1100" b="1" dirty="0"/>
              <a:t>);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F8E5B8-8EC6-6EFD-A161-1D6C0D85DFF6}"/>
              </a:ext>
            </a:extLst>
          </p:cNvPr>
          <p:cNvGrpSpPr/>
          <p:nvPr/>
        </p:nvGrpSpPr>
        <p:grpSpPr>
          <a:xfrm>
            <a:off x="1423446" y="0"/>
            <a:ext cx="8185253" cy="6762675"/>
            <a:chOff x="471338" y="0"/>
            <a:chExt cx="8185253" cy="67626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F627E-339E-533D-9471-545A08AE73E6}"/>
                </a:ext>
              </a:extLst>
            </p:cNvPr>
            <p:cNvSpPr txBox="1"/>
            <p:nvPr/>
          </p:nvSpPr>
          <p:spPr>
            <a:xfrm>
              <a:off x="471338" y="0"/>
              <a:ext cx="4123553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blocks</a:t>
              </a:r>
            </a:p>
            <a:p>
              <a:r>
                <a:rPr lang="en-US" sz="1200" dirty="0"/>
                <a:t>(</a:t>
              </a:r>
            </a:p>
            <a:p>
              <a:r>
                <a:rPr lang="en-US" sz="1200" dirty="0"/>
                <a:t>    hex (0 1 3 2 8 9 11 10) </a:t>
              </a:r>
              <a:r>
                <a:rPr lang="en-US" sz="1200" dirty="0">
                  <a:solidFill>
                    <a:srgbClr val="0000FF"/>
                  </a:solidFill>
                </a:rPr>
                <a:t>(25 10 1)</a:t>
              </a:r>
              <a:r>
                <a:rPr lang="en-US" sz="1200" dirty="0"/>
                <a:t>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    hex (2 3 6 5 10 11 14 13) (25 40 1)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    hex (3 4 7 6 11 12 15 14) (100 40 1)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);</a:t>
              </a:r>
            </a:p>
            <a:p>
              <a:endParaRPr lang="en-US" sz="1200" dirty="0"/>
            </a:p>
            <a:p>
              <a:r>
                <a:rPr lang="en-US" sz="1200" dirty="0"/>
                <a:t>edges</a:t>
              </a:r>
            </a:p>
            <a:p>
              <a:r>
                <a:rPr lang="en-US" sz="1200" dirty="0"/>
                <a:t>(</a:t>
              </a:r>
            </a:p>
            <a:p>
              <a:r>
                <a:rPr lang="en-US" sz="1200" dirty="0"/>
                <a:t>);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90098-F73D-3BA8-1B5C-A54E9D6EA111}"/>
                </a:ext>
              </a:extLst>
            </p:cNvPr>
            <p:cNvSpPr txBox="1"/>
            <p:nvPr/>
          </p:nvSpPr>
          <p:spPr>
            <a:xfrm>
              <a:off x="4615000" y="22368"/>
              <a:ext cx="1981940" cy="6740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boundary</a:t>
              </a:r>
            </a:p>
            <a:p>
              <a:r>
                <a:rPr lang="en-US" sz="1200" b="1" dirty="0"/>
                <a:t>(</a:t>
              </a:r>
            </a:p>
            <a:p>
              <a:r>
                <a:rPr lang="en-US" sz="1200" b="1" dirty="0"/>
                <a:t>    inlet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patch;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(0 8 10 2)</a:t>
              </a:r>
            </a:p>
            <a:p>
              <a:r>
                <a:rPr lang="en-US" sz="1200" b="1" dirty="0"/>
                <a:t>            (2 10 13 5)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outlet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{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type patch;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faces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(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    (4 7 15 12)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);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}</a:t>
              </a:r>
            </a:p>
            <a:p>
              <a:r>
                <a:rPr lang="en-US" sz="1200" b="1" dirty="0"/>
                <a:t>    bottom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</a:t>
              </a:r>
              <a:r>
                <a:rPr lang="en-US" sz="1200" b="1" dirty="0" err="1"/>
                <a:t>symmetryPlane</a:t>
              </a:r>
              <a:r>
                <a:rPr lang="en-US" sz="1200" b="1" dirty="0"/>
                <a:t>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(0 1 9 8)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</a:p>
            <a:p>
              <a:r>
                <a:rPr lang="en-US" sz="1200" b="1" dirty="0"/>
                <a:t>    top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</a:t>
              </a:r>
              <a:r>
                <a:rPr lang="en-US" sz="1200" b="1" dirty="0" err="1"/>
                <a:t>symmetryPlane</a:t>
              </a:r>
              <a:r>
                <a:rPr lang="en-US" sz="1200" b="1" dirty="0"/>
                <a:t>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(5 13 14 6)</a:t>
              </a:r>
            </a:p>
            <a:p>
              <a:r>
                <a:rPr lang="en-US" sz="1200" b="1" dirty="0"/>
                <a:t>            (6 14 15 7)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  <a:endParaRPr lang="LID4096" sz="1200" b="1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A9D77A-19B6-B8B3-F42E-392909C893EF}"/>
                </a:ext>
              </a:extLst>
            </p:cNvPr>
            <p:cNvSpPr txBox="1"/>
            <p:nvPr/>
          </p:nvSpPr>
          <p:spPr>
            <a:xfrm>
              <a:off x="6587407" y="22368"/>
              <a:ext cx="2069184" cy="3970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boundary</a:t>
              </a:r>
            </a:p>
            <a:p>
              <a:r>
                <a:rPr lang="en-US" sz="1400" b="1" dirty="0"/>
                <a:t>(</a:t>
              </a:r>
            </a:p>
            <a:p>
              <a:endParaRPr lang="en-US" sz="1400" b="1" dirty="0"/>
            </a:p>
            <a:p>
              <a:pPr lvl="1"/>
              <a:r>
                <a:rPr lang="en-US" sz="1400" b="1" dirty="0"/>
                <a:t>obstacle</a:t>
              </a:r>
            </a:p>
            <a:p>
              <a:pPr lvl="1"/>
              <a:r>
                <a:rPr lang="en-US" sz="1400" b="1" dirty="0"/>
                <a:t>    {</a:t>
              </a:r>
            </a:p>
            <a:p>
              <a:pPr lvl="1"/>
              <a:r>
                <a:rPr lang="en-US" sz="1400" b="1" dirty="0"/>
                <a:t>        type </a:t>
              </a:r>
              <a:r>
                <a:rPr lang="en-US" sz="1400" b="1" dirty="0">
                  <a:solidFill>
                    <a:srgbClr val="0000FF"/>
                  </a:solidFill>
                </a:rPr>
                <a:t>wall</a:t>
              </a:r>
              <a:r>
                <a:rPr lang="en-US" sz="1400" b="1" dirty="0"/>
                <a:t>;</a:t>
              </a:r>
            </a:p>
            <a:p>
              <a:pPr lvl="1"/>
              <a:r>
                <a:rPr lang="en-US" sz="1400" b="1" dirty="0"/>
                <a:t>        faces</a:t>
              </a:r>
            </a:p>
            <a:p>
              <a:pPr lvl="1"/>
              <a:r>
                <a:rPr lang="en-US" sz="1400" b="1" dirty="0"/>
                <a:t>        (</a:t>
              </a:r>
            </a:p>
            <a:p>
              <a:pPr lvl="1"/>
              <a:r>
                <a:rPr lang="en-US" sz="1400" b="1" dirty="0"/>
                <a:t>            (1 3 11 9)</a:t>
              </a:r>
            </a:p>
            <a:p>
              <a:pPr lvl="1"/>
              <a:r>
                <a:rPr lang="en-US" sz="1400" b="1" dirty="0"/>
                <a:t>            (3 4 12 11)</a:t>
              </a:r>
            </a:p>
            <a:p>
              <a:pPr lvl="1"/>
              <a:r>
                <a:rPr lang="en-US" sz="1400" b="1" dirty="0"/>
                <a:t>        );</a:t>
              </a:r>
            </a:p>
            <a:p>
              <a:pPr lvl="1"/>
              <a:r>
                <a:rPr lang="en-US" sz="1400" b="1" dirty="0"/>
                <a:t>    }</a:t>
              </a:r>
            </a:p>
            <a:p>
              <a:pPr lvl="1"/>
              <a:r>
                <a:rPr lang="en-US" sz="1400" b="1" dirty="0"/>
                <a:t>);</a:t>
              </a:r>
            </a:p>
            <a:p>
              <a:pPr lvl="1"/>
              <a:endParaRPr lang="en-US" sz="1400" b="1" dirty="0"/>
            </a:p>
            <a:p>
              <a:pPr lvl="1"/>
              <a:r>
                <a:rPr lang="en-US" sz="1400" b="1" dirty="0" err="1"/>
                <a:t>mergePatchPairs</a:t>
              </a:r>
              <a:endParaRPr lang="en-US" sz="1400" b="1" dirty="0"/>
            </a:p>
            <a:p>
              <a:pPr lvl="1"/>
              <a:r>
                <a:rPr lang="en-US" sz="1400" b="1" dirty="0"/>
                <a:t>(</a:t>
              </a:r>
            </a:p>
            <a:p>
              <a:pPr lvl="1"/>
              <a:r>
                <a:rPr lang="en-US" sz="1400" b="1" dirty="0"/>
                <a:t>);</a:t>
              </a:r>
            </a:p>
            <a:p>
              <a:pPr lvl="1"/>
              <a:endParaRPr lang="en-US" sz="1400" b="1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DC14CCF-4BFF-313D-AD9B-7312714FA942}"/>
                </a:ext>
              </a:extLst>
            </p:cNvPr>
            <p:cNvSpPr txBox="1"/>
            <p:nvPr/>
          </p:nvSpPr>
          <p:spPr>
            <a:xfrm>
              <a:off x="2086380" y="55251"/>
              <a:ext cx="47026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mesh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154686C-FBE7-33DB-52E8-E1D79A1A8674}"/>
              </a:ext>
            </a:extLst>
          </p:cNvPr>
          <p:cNvGrpSpPr/>
          <p:nvPr/>
        </p:nvGrpSpPr>
        <p:grpSpPr>
          <a:xfrm>
            <a:off x="1545725" y="3127122"/>
            <a:ext cx="3626032" cy="3551160"/>
            <a:chOff x="1545725" y="3127122"/>
            <a:chExt cx="3626032" cy="355116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C2BEF24-0035-6C2F-84E6-B0A681C00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5691" y="3127122"/>
              <a:ext cx="3371516" cy="170816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FF999FE-4044-9898-FF95-9FD88133F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45725" y="4921223"/>
              <a:ext cx="3626032" cy="1757059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45CFA0-DEB1-078E-5C32-5847C7D5799B}"/>
              </a:ext>
            </a:extLst>
          </p:cNvPr>
          <p:cNvGrpSpPr>
            <a:grpSpLocks noChangeAspect="1"/>
          </p:cNvGrpSpPr>
          <p:nvPr/>
        </p:nvGrpSpPr>
        <p:grpSpPr>
          <a:xfrm>
            <a:off x="8380429" y="1928050"/>
            <a:ext cx="3688833" cy="4834626"/>
            <a:chOff x="8569234" y="2184300"/>
            <a:chExt cx="3434041" cy="4500693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5B76521-C922-6CA1-DA66-70DB9D07B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9234" y="4993308"/>
              <a:ext cx="3262535" cy="169168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5A53BBB-6EA4-8F23-0D3F-20DE275D7F9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021335" y="2184300"/>
              <a:ext cx="1981940" cy="2650982"/>
              <a:chOff x="9318806" y="214181"/>
              <a:chExt cx="2862943" cy="3829384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A6D97666-6249-9FEA-B07B-32171F4B9A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31679" y="214181"/>
                <a:ext cx="2302329" cy="382938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546A47-D3CE-97B8-C716-942FC2F6C28E}"/>
                  </a:ext>
                </a:extLst>
              </p:cNvPr>
              <p:cNvSpPr/>
              <p:nvPr/>
            </p:nvSpPr>
            <p:spPr>
              <a:xfrm>
                <a:off x="9318806" y="979852"/>
                <a:ext cx="2862943" cy="161979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F51B08-827C-1905-ED98-F9443DB432F1}"/>
              </a:ext>
            </a:extLst>
          </p:cNvPr>
          <p:cNvCxnSpPr/>
          <p:nvPr/>
        </p:nvCxnSpPr>
        <p:spPr>
          <a:xfrm>
            <a:off x="1375954" y="160257"/>
            <a:ext cx="0" cy="32004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F758BF-E651-A694-5D5B-047882BBAC8A}"/>
              </a:ext>
            </a:extLst>
          </p:cNvPr>
          <p:cNvCxnSpPr/>
          <p:nvPr/>
        </p:nvCxnSpPr>
        <p:spPr>
          <a:xfrm>
            <a:off x="5553600" y="160257"/>
            <a:ext cx="0" cy="658368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D1F3925-F10E-11D4-A111-509A5B3C15B2}"/>
              </a:ext>
            </a:extLst>
          </p:cNvPr>
          <p:cNvCxnSpPr/>
          <p:nvPr/>
        </p:nvCxnSpPr>
        <p:spPr>
          <a:xfrm>
            <a:off x="7464095" y="160257"/>
            <a:ext cx="0" cy="658368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A2604F5-7A9C-338E-32FF-3CAD53D6F68D}"/>
              </a:ext>
            </a:extLst>
          </p:cNvPr>
          <p:cNvCxnSpPr/>
          <p:nvPr/>
        </p:nvCxnSpPr>
        <p:spPr>
          <a:xfrm>
            <a:off x="9591056" y="160257"/>
            <a:ext cx="0" cy="374904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551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900551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8FD971A-DF1B-514C-CAED-2593CB20A855}"/>
              </a:ext>
            </a:extLst>
          </p:cNvPr>
          <p:cNvGrpSpPr/>
          <p:nvPr/>
        </p:nvGrpSpPr>
        <p:grpSpPr>
          <a:xfrm>
            <a:off x="4568991" y="4906977"/>
            <a:ext cx="2344022" cy="1390127"/>
            <a:chOff x="4568991" y="4906977"/>
            <a:chExt cx="2344022" cy="13901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EBDCF9C-C1D7-DBFC-3F6A-5C6B97C1C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68991" y="4906977"/>
              <a:ext cx="2342480" cy="139012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0EDFECB-13AA-A014-E4C3-FB50C12FB86E}"/>
                </a:ext>
              </a:extLst>
            </p:cNvPr>
            <p:cNvSpPr txBox="1"/>
            <p:nvPr/>
          </p:nvSpPr>
          <p:spPr>
            <a:xfrm>
              <a:off x="6465017" y="5776618"/>
              <a:ext cx="4479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rgbClr val="0000FF"/>
                  </a:solidFill>
                </a:rPr>
                <a:t>(T)</a:t>
              </a:r>
              <a:endParaRPr lang="en-US" sz="1050" b="1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D56200-2A27-3CEB-EF8B-8D037611EDBF}"/>
              </a:ext>
            </a:extLst>
          </p:cNvPr>
          <p:cNvSpPr txBox="1"/>
          <p:nvPr/>
        </p:nvSpPr>
        <p:spPr>
          <a:xfrm>
            <a:off x="5289745" y="3696721"/>
            <a:ext cx="62946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||05a| transport || solver || NEW discretization fvSchemes || blockMesh | setFields | nano foam.foam | paraview foam.foam &amp;</a:t>
            </a:r>
          </a:p>
        </p:txBody>
      </p: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42018" y="0"/>
            <a:ext cx="7905411" cy="5157379"/>
            <a:chOff x="221127" y="573115"/>
            <a:chExt cx="7905411" cy="515737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540893" y="65167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761445" y="65167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349961" y="3913971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4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6E27F-58C4-6091-1511-B83D9CAE4C9A}"/>
              </a:ext>
            </a:extLst>
          </p:cNvPr>
          <p:cNvCxnSpPr/>
          <p:nvPr/>
        </p:nvCxnSpPr>
        <p:spPr>
          <a:xfrm>
            <a:off x="2281471" y="141404"/>
            <a:ext cx="0" cy="27432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DE8D1-3239-DB4A-B09E-29C069858595}"/>
              </a:ext>
            </a:extLst>
          </p:cNvPr>
          <p:cNvCxnSpPr/>
          <p:nvPr/>
        </p:nvCxnSpPr>
        <p:spPr>
          <a:xfrm>
            <a:off x="4582336" y="141404"/>
            <a:ext cx="0" cy="27432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BD1C8D-951E-C8EA-6716-8A1B749DBEE3}"/>
              </a:ext>
            </a:extLst>
          </p:cNvPr>
          <p:cNvCxnSpPr>
            <a:cxnSpLocks/>
          </p:cNvCxnSpPr>
          <p:nvPr/>
        </p:nvCxnSpPr>
        <p:spPr>
          <a:xfrm flipH="1">
            <a:off x="122549" y="3223369"/>
            <a:ext cx="265176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4049F80-5F93-F46D-787A-BF64E63FB5E7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A1B90B2-823E-BEB6-61B6-E4520D3C97CE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5A4E9A50-CCF6-614B-3A17-F203672C79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521D7FD-4A84-752D-020F-2500AD5EC5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3BA00BC8-B9A3-5E63-23A7-DF1D03909B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2183B8A-537F-EA14-CB15-8528BA28FAE3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1180E8A-6463-33FD-2F98-89EB5EA57607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132F4AC-BE77-62C7-7847-47A9C29635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4375" y="245581"/>
            <a:ext cx="3481269" cy="206201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595990A-B1BD-92F7-AD8B-EC4FE470A104}"/>
              </a:ext>
            </a:extLst>
          </p:cNvPr>
          <p:cNvGrpSpPr/>
          <p:nvPr/>
        </p:nvGrpSpPr>
        <p:grpSpPr>
          <a:xfrm>
            <a:off x="312889" y="6334780"/>
            <a:ext cx="5907498" cy="375075"/>
            <a:chOff x="6094492" y="391893"/>
            <a:chExt cx="5907498" cy="3750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A6CE2-49D1-288E-0AB6-BDD1283D4CE1}"/>
                </a:ext>
              </a:extLst>
            </p:cNvPr>
            <p:cNvSpPr txBox="1"/>
            <p:nvPr/>
          </p:nvSpPr>
          <p:spPr>
            <a:xfrm>
              <a:off x="6094492" y="391893"/>
              <a:ext cx="50865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hlinkClick r:id="rId12"/>
                </a:rPr>
                <a:t>https://www.youtube.com/watch?v=yN58_cevRxE</a:t>
              </a:r>
              <a:endParaRPr lang="LID4096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7EB424-2D38-3AF4-BBAD-227E2B40AEA8}"/>
                </a:ext>
              </a:extLst>
            </p:cNvPr>
            <p:cNvSpPr txBox="1"/>
            <p:nvPr/>
          </p:nvSpPr>
          <p:spPr>
            <a:xfrm>
              <a:off x="10230079" y="42841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Part II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B7A21F0-FC7E-D2B3-39E2-457899A99B9E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60D950D-AE96-AF64-6A09-6F4158FB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34623F5-7BD6-0B42-91E1-5DEC35AD8A93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B00FE23-0953-99DF-DD2C-9129EE6A5B5E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17BFC32-6F67-1314-824E-5825AC785078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352C05-E550-8F4B-C1B4-C837040A45B0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A4F126-79CC-9470-CEE1-AAC1DFBF342F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57C97-6A00-6014-6F32-DCCC2A922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</a:t>
            </a:r>
            <a:r>
              <a:rPr lang="LID4096" sz="1400" b="1" dirty="0">
                <a:solidFill>
                  <a:srgbClr val="0000FF"/>
                </a:solidFill>
              </a:rPr>
              <a:t>_linearUpwind </a:t>
            </a:r>
            <a:r>
              <a:rPr lang="LID4096" sz="1400" b="1" dirty="0"/>
              <a:t>|| _quick || _cubic ||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CDC51E-FF67-C9A3-905E-43766ECD629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CAEDF0-5370-8D3F-8D6F-54F04C845B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34A66C-5F90-C5CD-678B-70E0FD75961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C061000-0B9E-8D93-1FB8-29BFEB41643B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A6D2AC-EC01-9457-4C8A-57964CFB1C0C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BED347C-1B45-47A2-0696-3FF866CA0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B346058-FEFA-FD1E-4CAE-90EE118F9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AA9343-2431-9993-2778-435542172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513EC99-2C41-5105-4652-B8EBA66B7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16CBB59-8398-90BE-6CAA-66971A63EA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6BEC325-443F-2839-3256-2741CD44DB4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5681" y="1813458"/>
            <a:ext cx="3038475" cy="47625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8765C38-73AC-C003-A60D-CF160154840B}"/>
              </a:ext>
            </a:extLst>
          </p:cNvPr>
          <p:cNvSpPr txBox="1"/>
          <p:nvPr/>
        </p:nvSpPr>
        <p:spPr>
          <a:xfrm>
            <a:off x="6096000" y="4879165"/>
            <a:ext cx="256003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1FAFDF-D873-ED97-D6C6-42A680BE703F}"/>
              </a:ext>
            </a:extLst>
          </p:cNvPr>
          <p:cNvSpPr txBox="1"/>
          <p:nvPr/>
        </p:nvSpPr>
        <p:spPr>
          <a:xfrm>
            <a:off x="7306021" y="6447531"/>
            <a:ext cx="81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118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C13B5-A7AC-6066-1359-54FAE3AF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7DA91C-71F1-80A0-212A-B4FA5769E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4C146F6-C5EA-2826-9F0C-428C90183A31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DF67096-BDA3-62D2-4B80-E15B1C0070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FFCA04-1B5A-5D48-A809-CBC6353E6ED9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70CCA92D-DB05-0D2C-11B1-F68CEA09573D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970846-E9FB-A0E5-E60B-69C2751C2DCD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95E33F-CB3C-0F32-BA6E-F4FBAE58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19" y="1731803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FF661B-C657-C0A7-5680-A553A2E4ADEA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3320EF52-7750-8DBE-F0EF-10C7C941607D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C6BBF59-292C-F40B-C16E-2F25AD37C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B0AE702-0170-0164-2CE0-3766A578F737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4B5A8F-B82A-132A-B22B-6C3958470EF4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D0EE40B-AA63-9048-6E17-C6F6B6E17449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428DFB-4593-E6B6-D972-D03A354CABDF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2060A0-AFEA-43A3-3CF1-146EF0CC6EB9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5EE9415-72CE-159C-1643-28868149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556199B-CA6B-CA2D-E75F-4FBBDE0DCC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4" name="Arrow: Down 43">
            <a:extLst>
              <a:ext uri="{FF2B5EF4-FFF2-40B4-BE49-F238E27FC236}">
                <a16:creationId xmlns:a16="http://schemas.microsoft.com/office/drawing/2014/main" id="{96249C6B-28A3-3414-CD5A-EB25BEC13452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572AC6B-B463-5D27-4F7A-584F9D88B8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0AF3D598-EF14-548C-9FB4-AA3F3EB197FD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_linearUpwind || _quick || _cubic ||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8523BB-6DC0-86D4-6602-065CB8C90B92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B5DD4F-8FE5-C04F-5697-0BA006507D12}"/>
              </a:ext>
            </a:extLst>
          </p:cNvPr>
          <p:cNvSpPr txBox="1"/>
          <p:nvPr/>
        </p:nvSpPr>
        <p:spPr>
          <a:xfrm>
            <a:off x="6096000" y="4879165"/>
            <a:ext cx="256003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C1C649-B028-0626-52B7-3BB59C5C0A68}"/>
              </a:ext>
            </a:extLst>
          </p:cNvPr>
          <p:cNvSpPr txBox="1"/>
          <p:nvPr/>
        </p:nvSpPr>
        <p:spPr>
          <a:xfrm>
            <a:off x="2920144" y="5078976"/>
            <a:ext cx="34893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u="none" strike="noStrike" baseline="0" dirty="0">
                <a:latin typeface="CMBX12"/>
              </a:rPr>
              <a:t>4.4.1.1 Schemes for strictly bounded scalar fields</a:t>
            </a:r>
          </a:p>
          <a:p>
            <a:r>
              <a:rPr lang="en-GB" sz="1200" dirty="0"/>
              <a:t>4.4.1.2 Schemes for vector fields</a:t>
            </a:r>
            <a:endParaRPr lang="LID4096" sz="1200" dirty="0"/>
          </a:p>
        </p:txBody>
      </p:sp>
    </p:spTree>
    <p:extLst>
      <p:ext uri="{BB962C8B-B14F-4D97-AF65-F5344CB8AC3E}">
        <p14:creationId xmlns:p14="http://schemas.microsoft.com/office/powerpoint/2010/main" val="2133100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D8FFD-6D88-3F9C-C281-FD87C8EB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55929DC-EFFF-F19E-AF19-FDE6F42CE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641" y="149936"/>
            <a:ext cx="2438791" cy="165438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36E9A9C-0A46-C4F3-11FF-F993EF5EB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3B5A791-EDCA-8F36-4B1C-DCECAE52F5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2402BAE-2550-B93C-10BC-1089C304ADD4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8D19417-DD9B-60D5-D9C7-42B08F8C3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4679534-5FFF-7887-B1B4-2AFB1BE69E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5EE1B85-322C-DD18-D285-8D59BCFABA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261A21-B5FD-1708-CF75-3189B319A3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669DB8-1A09-AD45-3C7C-9E34A44C658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53866B-DC9F-1750-74B4-E5B4D8207CB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9360ECD-1565-5790-EDB1-233742FFA0A1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B3FF663-82AA-EF74-F7F6-F14B40F45EE8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CDE24CB-076C-FEA9-8644-53839FAFE9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1B12661-F5DF-DE8E-43E4-E9ABD6A0A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47FED48-39D7-FE9E-28C1-BEF2B40F4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65F68FA-E7FE-E758-E612-64EB8F5C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0BB34CD4-3E27-9F96-C174-B59C10F04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0FB273-4FF4-BB81-E0C0-93C7688BB363}"/>
              </a:ext>
            </a:extLst>
          </p:cNvPr>
          <p:cNvSpPr txBox="1"/>
          <p:nvPr/>
        </p:nvSpPr>
        <p:spPr>
          <a:xfrm>
            <a:off x="6096000" y="4879165"/>
            <a:ext cx="256003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214ABD-E9F9-CF28-3540-375DFFA5B423}"/>
              </a:ext>
            </a:extLst>
          </p:cNvPr>
          <p:cNvGrpSpPr/>
          <p:nvPr/>
        </p:nvGrpSpPr>
        <p:grpSpPr>
          <a:xfrm>
            <a:off x="3344533" y="2157178"/>
            <a:ext cx="3318603" cy="1835946"/>
            <a:chOff x="3344533" y="2157178"/>
            <a:chExt cx="3318603" cy="183594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CD0E374-354E-DC1F-16A6-E6DE20D8E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344533" y="2157178"/>
              <a:ext cx="3318603" cy="183594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1CDFD5B-06F7-C409-CC37-0DEBAE8F1D83}"/>
                </a:ext>
              </a:extLst>
            </p:cNvPr>
            <p:cNvSpPr txBox="1"/>
            <p:nvPr/>
          </p:nvSpPr>
          <p:spPr>
            <a:xfrm>
              <a:off x="3430829" y="2201175"/>
              <a:ext cx="82766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Tutorial </a:t>
              </a:r>
            </a:p>
            <a:p>
              <a:r>
                <a:rPr lang="en-US" sz="1200" dirty="0"/>
                <a:t>Four</a:t>
              </a:r>
              <a:endParaRPr lang="LID4096" sz="1050" dirty="0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FDE64DF-91DF-C24F-1DF0-3E59137B64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327" y="2882593"/>
            <a:ext cx="3513021" cy="1829303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239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AE8678-7B4E-9F27-8355-B39CE8F07171}"/>
              </a:ext>
            </a:extLst>
          </p:cNvPr>
          <p:cNvSpPr txBox="1"/>
          <p:nvPr/>
        </p:nvSpPr>
        <p:spPr>
          <a:xfrm>
            <a:off x="106379" y="9329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https://www.youtube.com/watch?v=jfDzFPaPPug           ||06||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5CA5DE-B4A8-ADF1-55BF-D037D79B4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60" y="787542"/>
            <a:ext cx="2146662" cy="19908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E1B230-B85B-14E4-EEF6-3DAE4CDDBC25}"/>
              </a:ext>
            </a:extLst>
          </p:cNvPr>
          <p:cNvGrpSpPr/>
          <p:nvPr/>
        </p:nvGrpSpPr>
        <p:grpSpPr>
          <a:xfrm>
            <a:off x="2931952" y="995752"/>
            <a:ext cx="3765147" cy="1422358"/>
            <a:chOff x="2931952" y="995752"/>
            <a:chExt cx="3765147" cy="1422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8D3CF3E-5F7F-66BC-B495-6CBC029C1DF1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76709A0-31D2-472A-3DF7-931E1A758EF9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69B769A0-3FA4-5722-6A09-048D55FAE8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</p:spPr>
            </p:pic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C65D725-6839-4633-A154-C76578C5FA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FA44A0-EC2E-C825-E5C6-57D8D72E414A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33CD5F-4C23-9C01-BA92-714C82BE9031}"/>
                </a:ext>
              </a:extLst>
            </p:cNvPr>
            <p:cNvSpPr txBox="1"/>
            <p:nvPr/>
          </p:nvSpPr>
          <p:spPr>
            <a:xfrm>
              <a:off x="5686797" y="2164194"/>
              <a:ext cx="7185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noProof="0" dirty="0"/>
                <a:t>Diffusion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12FA4556-30DB-BCB6-590C-022479A97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450" y="2849994"/>
            <a:ext cx="4826299" cy="18186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2C531B-4958-06A9-5082-8306EB991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590" y="4841062"/>
            <a:ext cx="4904017" cy="1795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49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5164</TotalTime>
  <Words>885</Words>
  <Application>Microsoft Office PowerPoint</Application>
  <PresentationFormat>Widescreen</PresentationFormat>
  <Paragraphs>230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CMBX12</vt:lpstr>
      <vt:lpstr>CMR12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92</cp:revision>
  <dcterms:created xsi:type="dcterms:W3CDTF">2026-05-20T13:22:55Z</dcterms:created>
  <dcterms:modified xsi:type="dcterms:W3CDTF">2026-09-16T14:22:40Z</dcterms:modified>
</cp:coreProperties>
</file>