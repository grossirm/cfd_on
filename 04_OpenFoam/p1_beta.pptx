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0" r:id="rId3"/>
    <p:sldId id="271" r:id="rId4"/>
    <p:sldId id="272" r:id="rId5"/>
    <p:sldId id="273" r:id="rId6"/>
    <p:sldId id="274" r:id="rId7"/>
    <p:sldId id="275" r:id="rId8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C46A"/>
    <a:srgbClr val="0000FF"/>
    <a:srgbClr val="E7E7FF"/>
    <a:srgbClr val="C5C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87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33D61-E0E5-6C72-C54F-7628B0F00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62186D-C881-9373-1998-342384F10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01D0A-EF62-285D-9183-65966AA4D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95C0A-264B-01D6-C9EE-B5CF74257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8D4BD-37AF-ECAC-43E7-EBA62764A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43524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44E9C-37E5-C451-30FE-57F941EC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78DD0-929E-5524-E292-0D67AF6FE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6DC0C-3DEC-D6A0-C747-5D264982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B1A0B-F63C-87F2-1818-20FC3B87D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C0E64-C8F3-E549-A522-AB53B8D8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04455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8F187-C830-6EC9-2F9C-57EE7EF88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2355B-5837-559F-0C62-BE8137F84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85A62-9FD1-43AF-5BB6-DD4EEE21F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9CC27-CB3D-C5E0-B2E7-54885B352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1110E-B2BB-5AF3-1E85-194A80B88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9381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2DA8-6400-5744-5B0E-F16C12F86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E0E0E-E08A-BB9F-67F0-9DC9B677D3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D095A8-9B5D-6503-FBBB-5AA1E45B3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7A78AA-D7C3-06C3-1312-6E4AE3FD8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09/17/2026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A2628-24CB-5C9A-373C-086B5291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DA631-EAEB-2498-6B81-8A16F716C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2702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550CB-0CCD-0344-DA7D-906CE2674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A643C-66E8-8188-1C7A-D30D4EC67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75E80-CD44-F8AE-4D08-B065D0216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68B0C4-D33D-82E4-379C-AA5510AF35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0AC3E1-2ABB-7DA9-308D-46B6D1A835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670E15-CC1F-4523-43BA-5EB26CFE6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09/17/2026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15CA21-DB4C-1D0F-9C98-7B19CC5CE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69FEFD-5C23-06F3-8415-9CA79630A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76950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53254-56B4-E122-B071-9AAAA6C00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4792F3-89DE-DCC4-8940-C1BC35DBF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09/17/2026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672E0B-1915-463E-8D77-582F8490A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C7BB10-7AA7-F13F-ECC4-1C3955CFC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48217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AE4944-B874-CB00-7F5B-D9366F1D3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09/17/2026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26A870-DF66-8291-6BE4-8B326AE80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A30FE-B4DF-2BCD-0659-F362BD28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36498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72871-9BF2-8AC9-C213-7B3FBD79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8457D-B644-ADF2-1719-2F6DE1187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A7A3F-C2B5-AB32-3955-D57273D8A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E3201-1425-77FC-2190-154B84E0E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09/17/2026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92529-4051-6BE1-1A8B-5C5FAB01E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9CB76-2937-C5EE-1D1F-9A7DC4E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6320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CA7D7-4133-7659-80BA-7809F2C38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A0E90-DD7E-EC6A-4635-8E2C7A4886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4488B-41A4-D683-4735-EE7231C87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EA442-CA3D-DA99-ED43-510E7EE10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09/17/2026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CDBE1-E250-F438-FC01-C7EFB503C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B16D9-C319-E976-E573-77200E6E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4242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2A14D-1925-799F-3060-4D025AFA6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800ED-E441-7A1A-A3C8-7F594EB0B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9FB6C-19C3-686A-B427-D0FA27EB7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CC511-C983-37CE-12A7-5E757C04D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A466F-0AE7-4B18-582D-155846CE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52824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EC23B1-CC57-4AA7-1404-8F12F79222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575EED-0C59-B74D-3B0D-D8443287C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28E20-2C3C-5DFD-0DF6-2107B8672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09/17/2026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7F950-1EC5-B858-83E8-ECAA42DD8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D305C-B816-E5B9-7931-FC4DCBF1C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78347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2E029C-018F-A872-5F6F-36A65D811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E4F39-8059-F351-237E-C5D4AB0BC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57534-6C95-8156-4758-F655ACB0B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686FF-3DC0-4D03-9102-64E826D8EE6E}" type="datetimeFigureOut">
              <a:rPr lang="LID4096" smtClean="0"/>
              <a:t>09/17/2026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35FFD-A04D-B66E-4D58-AED7887AF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79332-3623-35DD-6626-8EF3F0200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977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6.png"/><Relationship Id="rId17" Type="http://schemas.openxmlformats.org/officeDocument/2006/relationships/image" Target="../media/image22.png"/><Relationship Id="rId2" Type="http://schemas.openxmlformats.org/officeDocument/2006/relationships/image" Target="../media/image8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0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13" Type="http://schemas.openxmlformats.org/officeDocument/2006/relationships/image" Target="../media/image51.png"/><Relationship Id="rId3" Type="http://schemas.openxmlformats.org/officeDocument/2006/relationships/image" Target="../media/image42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image" Target="../media/image23.png"/><Relationship Id="rId16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5" Type="http://schemas.openxmlformats.org/officeDocument/2006/relationships/image" Target="../media/image53.png"/><Relationship Id="rId10" Type="http://schemas.openxmlformats.org/officeDocument/2006/relationships/image" Target="../media/image48.png"/><Relationship Id="rId4" Type="http://schemas.openxmlformats.org/officeDocument/2006/relationships/image" Target="../media/image14.png"/><Relationship Id="rId9" Type="http://schemas.openxmlformats.org/officeDocument/2006/relationships/image" Target="../media/image47.png"/><Relationship Id="rId14" Type="http://schemas.openxmlformats.org/officeDocument/2006/relationships/image" Target="../media/image5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8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BFAAB37-1D7F-73EB-E92D-AB6513FCD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25" y="1475780"/>
            <a:ext cx="2809875" cy="8763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F15CDA9-0F54-3488-3FBB-CC7738CAAB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725" y="3918615"/>
            <a:ext cx="2962275" cy="9429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50A005E-2866-6328-552C-0291B1E94A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039" y="2547015"/>
            <a:ext cx="2954777" cy="23145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A0CBDAB-83AC-8610-55EE-2A371D96B5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075" y="761891"/>
            <a:ext cx="1304925" cy="4381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547D79C-6002-D6F2-05FE-0173FD5BFF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335538"/>
            <a:ext cx="5257800" cy="35242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06FC8A7-96E0-1B4C-5678-CCDD1373B2F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3046" t="-12545" b="-1"/>
          <a:stretch>
            <a:fillRect/>
          </a:stretch>
        </p:blipFill>
        <p:spPr>
          <a:xfrm>
            <a:off x="2727279" y="2517551"/>
            <a:ext cx="3368721" cy="365754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C68C6906-CF15-941F-3915-BA1BA0E38E57}"/>
              </a:ext>
            </a:extLst>
          </p:cNvPr>
          <p:cNvGrpSpPr/>
          <p:nvPr/>
        </p:nvGrpSpPr>
        <p:grpSpPr>
          <a:xfrm>
            <a:off x="151039" y="766708"/>
            <a:ext cx="2930034" cy="1585372"/>
            <a:chOff x="151039" y="766708"/>
            <a:chExt cx="2930034" cy="158537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E1EC75C-8402-47E1-A2D1-B5B7973D2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51039" y="766708"/>
              <a:ext cx="2930034" cy="158537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8122025-25DF-2E1F-A7E4-75818D194E4B}"/>
                </a:ext>
              </a:extLst>
            </p:cNvPr>
            <p:cNvSpPr txBox="1"/>
            <p:nvPr/>
          </p:nvSpPr>
          <p:spPr>
            <a:xfrm>
              <a:off x="211999" y="2077236"/>
              <a:ext cx="177191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sz="1100" noProof="0"/>
                <a:t>Finite Volume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8E1FD685-76AB-3B7E-D552-26AFB50A4459}"/>
              </a:ext>
            </a:extLst>
          </p:cNvPr>
          <p:cNvSpPr txBox="1"/>
          <p:nvPr/>
        </p:nvSpPr>
        <p:spPr>
          <a:xfrm>
            <a:off x="10447699" y="6620832"/>
            <a:ext cx="17677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pPr algn="r"/>
            <a:r>
              <a:rPr lang="LID4096" sz="1000" dirty="0">
                <a:solidFill>
                  <a:srgbClr val="FF0000"/>
                </a:solidFill>
              </a:rPr>
              <a:t>Henrik</a:t>
            </a:r>
            <a:r>
              <a:rPr lang="pt-BR" sz="1000" dirty="0">
                <a:solidFill>
                  <a:srgbClr val="FF0000"/>
                </a:solidFill>
              </a:rPr>
              <a:t> </a:t>
            </a:r>
            <a:r>
              <a:rPr lang="LID4096" sz="1000" dirty="0">
                <a:solidFill>
                  <a:srgbClr val="FF0000"/>
                </a:solidFill>
              </a:rPr>
              <a:t>Rusche</a:t>
            </a:r>
            <a:r>
              <a:rPr lang="pt-BR" sz="1000" dirty="0">
                <a:solidFill>
                  <a:srgbClr val="FF0000"/>
                </a:solidFill>
              </a:rPr>
              <a:t> 73-74</a:t>
            </a:r>
            <a:endParaRPr lang="LID4096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627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7132155-2F91-E519-0239-5AE20681D681}"/>
              </a:ext>
            </a:extLst>
          </p:cNvPr>
          <p:cNvGrpSpPr/>
          <p:nvPr/>
        </p:nvGrpSpPr>
        <p:grpSpPr>
          <a:xfrm>
            <a:off x="287322" y="4734202"/>
            <a:ext cx="10719809" cy="809299"/>
            <a:chOff x="287322" y="4864829"/>
            <a:chExt cx="10719809" cy="809299"/>
          </a:xfrm>
        </p:grpSpPr>
        <p:pic>
          <p:nvPicPr>
            <p:cNvPr id="86" name="Picture 85">
              <a:extLst>
                <a:ext uri="{FF2B5EF4-FFF2-40B4-BE49-F238E27FC236}">
                  <a16:creationId xmlns:a16="http://schemas.microsoft.com/office/drawing/2014/main" id="{8C98F7D3-B2B1-458B-795A-2A800B6D655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7322" y="4864829"/>
              <a:ext cx="4481342" cy="809299"/>
            </a:xfrm>
            <a:prstGeom prst="rect">
              <a:avLst/>
            </a:prstGeom>
          </p:spPr>
        </p:pic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B310240C-3952-3C2E-B532-5009D1426F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40779" y="4928438"/>
              <a:ext cx="3758045" cy="666750"/>
            </a:xfrm>
            <a:prstGeom prst="rect">
              <a:avLst/>
            </a:prstGeom>
          </p:spPr>
        </p:pic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9775D6A8-DE90-4155-3A60-0D2607E0EE8A}"/>
                </a:ext>
              </a:extLst>
            </p:cNvPr>
            <p:cNvSpPr txBox="1"/>
            <p:nvPr/>
          </p:nvSpPr>
          <p:spPr>
            <a:xfrm>
              <a:off x="9370603" y="5007897"/>
              <a:ext cx="1636528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US" sz="1300" dirty="0">
                  <a:solidFill>
                    <a:srgbClr val="FF0000"/>
                  </a:solidFill>
                </a:rPr>
                <a:t>Tutorial Four p. 45</a:t>
              </a:r>
              <a:endParaRPr lang="LID4096" sz="13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0307B6A-AEB0-E00F-A835-EAC653D23E51}"/>
              </a:ext>
            </a:extLst>
          </p:cNvPr>
          <p:cNvGrpSpPr/>
          <p:nvPr/>
        </p:nvGrpSpPr>
        <p:grpSpPr>
          <a:xfrm>
            <a:off x="248516" y="3624236"/>
            <a:ext cx="4675859" cy="1005763"/>
            <a:chOff x="508633" y="3499957"/>
            <a:chExt cx="4675859" cy="100576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9AD3A5AE-7214-A8F0-EF2F-FAA849B87E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29721"/>
            <a:stretch>
              <a:fillRect/>
            </a:stretch>
          </p:blipFill>
          <p:spPr>
            <a:xfrm>
              <a:off x="609600" y="3513653"/>
              <a:ext cx="4574892" cy="906211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3B8FC23A-3296-6DDC-FD36-820AF71BBC42}"/>
                </a:ext>
              </a:extLst>
            </p:cNvPr>
            <p:cNvSpPr/>
            <p:nvPr/>
          </p:nvSpPr>
          <p:spPr>
            <a:xfrm>
              <a:off x="508633" y="3499957"/>
              <a:ext cx="1823233" cy="1005763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FEC8758-54C4-4F62-EBE5-767EF1982B3D}"/>
              </a:ext>
            </a:extLst>
          </p:cNvPr>
          <p:cNvGrpSpPr/>
          <p:nvPr/>
        </p:nvGrpSpPr>
        <p:grpSpPr>
          <a:xfrm>
            <a:off x="5531353" y="3569026"/>
            <a:ext cx="3839250" cy="1060974"/>
            <a:chOff x="5504924" y="2631158"/>
            <a:chExt cx="3839250" cy="1060974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BCDD00C9-ECE7-4ED6-A30E-E8DBB6D7CB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6967"/>
            <a:stretch>
              <a:fillRect/>
            </a:stretch>
          </p:blipFill>
          <p:spPr>
            <a:xfrm>
              <a:off x="5504924" y="2631158"/>
              <a:ext cx="3839250" cy="996098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C6E0D9EF-6F2B-5C68-063D-49BE3E05944F}"/>
                </a:ext>
              </a:extLst>
            </p:cNvPr>
            <p:cNvSpPr txBox="1"/>
            <p:nvPr/>
          </p:nvSpPr>
          <p:spPr>
            <a:xfrm>
              <a:off x="6256542" y="3295168"/>
              <a:ext cx="177191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noProof="0" dirty="0"/>
                <a:t>Surfaces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515A08A2-44D2-2E73-8374-285C8F0C5BAF}"/>
                </a:ext>
              </a:extLst>
            </p:cNvPr>
            <p:cNvSpPr txBox="1"/>
            <p:nvPr/>
          </p:nvSpPr>
          <p:spPr>
            <a:xfrm>
              <a:off x="6512242" y="3438216"/>
              <a:ext cx="177191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noProof="0" dirty="0"/>
                <a:t>Cell Faces 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BAE7112-BBA7-FA52-BA59-8BBD426FEFE8}"/>
                  </a:ext>
                </a:extLst>
              </p:cNvPr>
              <p:cNvSpPr txBox="1"/>
              <p:nvPr/>
            </p:nvSpPr>
            <p:spPr>
              <a:xfrm>
                <a:off x="4940228" y="3784746"/>
                <a:ext cx="5188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noProof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b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0BAE7112-BBA7-FA52-BA59-8BBD426FE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28" y="3784746"/>
                <a:ext cx="518880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96F7D440-9B11-A3A4-35BA-40FAE21516DE}"/>
              </a:ext>
            </a:extLst>
          </p:cNvPr>
          <p:cNvGrpSpPr/>
          <p:nvPr/>
        </p:nvGrpSpPr>
        <p:grpSpPr>
          <a:xfrm>
            <a:off x="1132005" y="4214063"/>
            <a:ext cx="2027611" cy="406030"/>
            <a:chOff x="1379095" y="4061515"/>
            <a:chExt cx="2027611" cy="406030"/>
          </a:xfrm>
        </p:grpSpPr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EB242161-60D1-7962-8AAC-A331409DC3E2}"/>
                </a:ext>
              </a:extLst>
            </p:cNvPr>
            <p:cNvSpPr txBox="1"/>
            <p:nvPr/>
          </p:nvSpPr>
          <p:spPr>
            <a:xfrm>
              <a:off x="1379095" y="4061515"/>
              <a:ext cx="177191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noProof="0" dirty="0"/>
                <a:t>Surfaces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0AA16CA-C4F1-CCFE-BB6B-59EF59F297B6}"/>
                </a:ext>
              </a:extLst>
            </p:cNvPr>
            <p:cNvSpPr txBox="1"/>
            <p:nvPr/>
          </p:nvSpPr>
          <p:spPr>
            <a:xfrm>
              <a:off x="1634795" y="4213629"/>
              <a:ext cx="177191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noProof="0" dirty="0"/>
                <a:t>Cell Faces 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EF56DDC-9C31-45AC-D7FA-A17A8127615C}"/>
              </a:ext>
            </a:extLst>
          </p:cNvPr>
          <p:cNvGrpSpPr/>
          <p:nvPr/>
        </p:nvGrpSpPr>
        <p:grpSpPr>
          <a:xfrm>
            <a:off x="5598692" y="2885734"/>
            <a:ext cx="2790457" cy="762942"/>
            <a:chOff x="5481171" y="2685020"/>
            <a:chExt cx="2790457" cy="762942"/>
          </a:xfrm>
        </p:grpSpPr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001504D9-71FC-0C21-3DF2-6C5F3D2AE97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277" r="66555" b="23374"/>
            <a:stretch>
              <a:fillRect/>
            </a:stretch>
          </p:blipFill>
          <p:spPr>
            <a:xfrm>
              <a:off x="5481171" y="2685020"/>
              <a:ext cx="2037092" cy="680820"/>
            </a:xfrm>
            <a:prstGeom prst="rect">
              <a:avLst/>
            </a:prstGeom>
          </p:spPr>
        </p:pic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04D00A65-B956-4D40-79D9-E75850C1BF91}"/>
                </a:ext>
              </a:extLst>
            </p:cNvPr>
            <p:cNvSpPr txBox="1"/>
            <p:nvPr/>
          </p:nvSpPr>
          <p:spPr>
            <a:xfrm>
              <a:off x="6499717" y="3194046"/>
              <a:ext cx="177191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noProof="0" dirty="0"/>
                <a:t>Volume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E18FC71-6437-21B3-26D8-3196491EDBE9}"/>
              </a:ext>
            </a:extLst>
          </p:cNvPr>
          <p:cNvGrpSpPr/>
          <p:nvPr/>
        </p:nvGrpSpPr>
        <p:grpSpPr>
          <a:xfrm>
            <a:off x="174169" y="2031080"/>
            <a:ext cx="5625737" cy="805705"/>
            <a:chOff x="470263" y="1258066"/>
            <a:chExt cx="5625737" cy="805705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4DDBC08-AB3E-320F-1B05-A7D4641DF93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2052" b="48031"/>
            <a:stretch>
              <a:fillRect/>
            </a:stretch>
          </p:blipFill>
          <p:spPr>
            <a:xfrm>
              <a:off x="470263" y="1258066"/>
              <a:ext cx="5625737" cy="772206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9DF293F-4E3A-75DA-78C0-759BF3648BCF}"/>
                </a:ext>
              </a:extLst>
            </p:cNvPr>
            <p:cNvCxnSpPr>
              <a:cxnSpLocks/>
            </p:cNvCxnSpPr>
            <p:nvPr/>
          </p:nvCxnSpPr>
          <p:spPr>
            <a:xfrm>
              <a:off x="2999288" y="2063771"/>
              <a:ext cx="1688645" cy="0"/>
            </a:xfrm>
            <a:prstGeom prst="line">
              <a:avLst/>
            </a:prstGeom>
            <a:ln>
              <a:solidFill>
                <a:srgbClr val="0000FF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8FBEC9D1-044A-2724-06EF-333CB2299B64}"/>
              </a:ext>
            </a:extLst>
          </p:cNvPr>
          <p:cNvSpPr txBox="1"/>
          <p:nvPr/>
        </p:nvSpPr>
        <p:spPr>
          <a:xfrm>
            <a:off x="3490174" y="2606793"/>
            <a:ext cx="99942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en-GB" noProof="0" dirty="0"/>
              <a:t>Convection</a:t>
            </a:r>
            <a:endParaRPr lang="en-GB" sz="1400" noProof="0" dirty="0">
              <a:solidFill>
                <a:srgbClr val="FF0000"/>
              </a:solidFill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6AE4483-795B-A27D-99FD-FA8DE25F2C82}"/>
              </a:ext>
            </a:extLst>
          </p:cNvPr>
          <p:cNvGrpSpPr/>
          <p:nvPr/>
        </p:nvGrpSpPr>
        <p:grpSpPr>
          <a:xfrm>
            <a:off x="8350944" y="105148"/>
            <a:ext cx="3565688" cy="476250"/>
            <a:chOff x="6579218" y="1414866"/>
            <a:chExt cx="3565688" cy="476250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650F9A7-0D71-FD02-B370-87205EE152DC}"/>
                </a:ext>
              </a:extLst>
            </p:cNvPr>
            <p:cNvSpPr txBox="1"/>
            <p:nvPr/>
          </p:nvSpPr>
          <p:spPr>
            <a:xfrm>
              <a:off x="9711724" y="1499103"/>
              <a:ext cx="4331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pPr algn="ctr"/>
              <a:r>
                <a:rPr lang="en-GB" sz="1400" noProof="0" dirty="0"/>
                <a:t>2.5</a:t>
              </a:r>
              <a:endParaRPr lang="en-GB" sz="2000" noProof="0" dirty="0">
                <a:solidFill>
                  <a:srgbClr val="FF0000"/>
                </a:solidFill>
              </a:endParaRPr>
            </a:p>
          </p:txBody>
        </p:sp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64073551-39D1-104C-8A26-BFF43DB5FD9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79218" y="1414866"/>
              <a:ext cx="3038475" cy="476250"/>
            </a:xfrm>
            <a:prstGeom prst="rect">
              <a:avLst/>
            </a:prstGeom>
            <a:ln w="38100">
              <a:solidFill>
                <a:srgbClr val="FFC000"/>
              </a:solidFill>
            </a:ln>
          </p:spPr>
        </p:pic>
      </p:grpSp>
      <p:pic>
        <p:nvPicPr>
          <p:cNvPr id="42" name="Picture 41">
            <a:extLst>
              <a:ext uri="{FF2B5EF4-FFF2-40B4-BE49-F238E27FC236}">
                <a16:creationId xmlns:a16="http://schemas.microsoft.com/office/drawing/2014/main" id="{AE98A3FF-E4A6-C563-882A-A4DDB81E3FB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77854" y="5685261"/>
            <a:ext cx="2838450" cy="666750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25981FC-7B44-9A59-A15D-6720C352D32C}"/>
                  </a:ext>
                </a:extLst>
              </p:cNvPr>
              <p:cNvSpPr txBox="1"/>
              <p:nvPr/>
            </p:nvSpPr>
            <p:spPr>
              <a:xfrm>
                <a:off x="4921900" y="3047671"/>
                <a:ext cx="5188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noProof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b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25981FC-7B44-9A59-A15D-6720C352D3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1900" y="3047671"/>
                <a:ext cx="518880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A865CEF-858F-9A61-E806-694015A1CA98}"/>
                  </a:ext>
                </a:extLst>
              </p:cNvPr>
              <p:cNvSpPr txBox="1"/>
              <p:nvPr/>
            </p:nvSpPr>
            <p:spPr>
              <a:xfrm>
                <a:off x="4921900" y="2260986"/>
                <a:ext cx="5188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noProof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b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CA865CEF-858F-9A61-E806-694015A1C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21900" y="2260986"/>
                <a:ext cx="518880" cy="46166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" name="Picture 70">
            <a:extLst>
              <a:ext uri="{FF2B5EF4-FFF2-40B4-BE49-F238E27FC236}">
                <a16:creationId xmlns:a16="http://schemas.microsoft.com/office/drawing/2014/main" id="{AA739BAB-3B02-B01F-68A5-F9F5AA2A444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0296" t="52147" r="1"/>
          <a:stretch>
            <a:fillRect/>
          </a:stretch>
        </p:blipFill>
        <p:spPr>
          <a:xfrm>
            <a:off x="5566444" y="2092245"/>
            <a:ext cx="4577823" cy="711042"/>
          </a:xfrm>
          <a:prstGeom prst="rect">
            <a:avLst/>
          </a:prstGeom>
        </p:spPr>
      </p:pic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D16E6629-A27E-39F6-7834-DCFFF79A0762}"/>
              </a:ext>
            </a:extLst>
          </p:cNvPr>
          <p:cNvCxnSpPr>
            <a:cxnSpLocks/>
          </p:cNvCxnSpPr>
          <p:nvPr/>
        </p:nvCxnSpPr>
        <p:spPr>
          <a:xfrm>
            <a:off x="6846442" y="2803286"/>
            <a:ext cx="1313501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0E3EA4D5-DE4E-DF1E-78F7-74B6FEAC142A}"/>
              </a:ext>
            </a:extLst>
          </p:cNvPr>
          <p:cNvSpPr txBox="1"/>
          <p:nvPr/>
        </p:nvSpPr>
        <p:spPr>
          <a:xfrm>
            <a:off x="10265603" y="2256129"/>
            <a:ext cx="4331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pPr algn="ctr"/>
            <a:r>
              <a:rPr lang="en-GB" sz="1400" noProof="0" dirty="0"/>
              <a:t>2.4</a:t>
            </a:r>
            <a:endParaRPr lang="en-GB" sz="2000" noProof="0" dirty="0">
              <a:solidFill>
                <a:srgbClr val="FF0000"/>
              </a:solidFill>
            </a:endParaRP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2FAA748-BD70-2F74-A911-144C33646381}"/>
              </a:ext>
            </a:extLst>
          </p:cNvPr>
          <p:cNvCxnSpPr/>
          <p:nvPr/>
        </p:nvCxnSpPr>
        <p:spPr>
          <a:xfrm>
            <a:off x="6553154" y="3412396"/>
            <a:ext cx="707010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D2AA57D-48C5-B51C-D73D-0DDC1D18BD34}"/>
              </a:ext>
            </a:extLst>
          </p:cNvPr>
          <p:cNvCxnSpPr/>
          <p:nvPr/>
        </p:nvCxnSpPr>
        <p:spPr>
          <a:xfrm>
            <a:off x="6425887" y="4223970"/>
            <a:ext cx="707010" cy="0"/>
          </a:xfrm>
          <a:prstGeom prst="line">
            <a:avLst/>
          </a:prstGeom>
          <a:ln>
            <a:solidFill>
              <a:srgbClr val="FF000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0964F103-39A0-1730-297F-F6DB9824D3BE}"/>
              </a:ext>
            </a:extLst>
          </p:cNvPr>
          <p:cNvCxnSpPr/>
          <p:nvPr/>
        </p:nvCxnSpPr>
        <p:spPr>
          <a:xfrm>
            <a:off x="1326906" y="4182299"/>
            <a:ext cx="365760" cy="0"/>
          </a:xfrm>
          <a:prstGeom prst="line">
            <a:avLst/>
          </a:prstGeom>
          <a:ln>
            <a:solidFill>
              <a:srgbClr val="0000FF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EB2A8037-737E-186D-C1C2-3513891FB690}"/>
              </a:ext>
            </a:extLst>
          </p:cNvPr>
          <p:cNvSpPr txBox="1"/>
          <p:nvPr/>
        </p:nvSpPr>
        <p:spPr>
          <a:xfrm>
            <a:off x="7348670" y="2565550"/>
            <a:ext cx="70621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en-GB" noProof="0" dirty="0">
                <a:solidFill>
                  <a:srgbClr val="FF0000"/>
                </a:solidFill>
              </a:rPr>
              <a:t>Diffusion</a:t>
            </a:r>
            <a:endParaRPr lang="en-GB" sz="1400" noProof="0" dirty="0">
              <a:solidFill>
                <a:srgbClr val="FF0000"/>
              </a:solidFill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76F5FD8-FBFC-2DF3-8B56-AF71BF540FEC}"/>
              </a:ext>
            </a:extLst>
          </p:cNvPr>
          <p:cNvGrpSpPr/>
          <p:nvPr/>
        </p:nvGrpSpPr>
        <p:grpSpPr>
          <a:xfrm>
            <a:off x="2751291" y="2942437"/>
            <a:ext cx="1615883" cy="834059"/>
            <a:chOff x="2751291" y="2099753"/>
            <a:chExt cx="1615883" cy="834059"/>
          </a:xfrm>
        </p:grpSpPr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4ADDB1AE-D479-D686-2B42-3E348E4D8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492" t="7962" r="73685"/>
            <a:stretch>
              <a:fillRect/>
            </a:stretch>
          </p:blipFill>
          <p:spPr>
            <a:xfrm>
              <a:off x="2751291" y="2099753"/>
              <a:ext cx="1615883" cy="834059"/>
            </a:xfrm>
            <a:prstGeom prst="rect">
              <a:avLst/>
            </a:prstGeom>
          </p:spPr>
        </p:pic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A4469AAD-0B84-CB59-394F-38F3416B2982}"/>
                </a:ext>
              </a:extLst>
            </p:cNvPr>
            <p:cNvSpPr txBox="1"/>
            <p:nvPr/>
          </p:nvSpPr>
          <p:spPr>
            <a:xfrm>
              <a:off x="3427169" y="2552076"/>
              <a:ext cx="82899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GB" noProof="0" dirty="0"/>
                <a:t>Volume</a:t>
              </a:r>
              <a:endParaRPr lang="en-GB" sz="1400" noProof="0" dirty="0">
                <a:solidFill>
                  <a:srgbClr val="FF0000"/>
                </a:solidFill>
              </a:endParaRPr>
            </a:p>
          </p:txBody>
        </p: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7DD0E836-C22B-9C04-CEE4-E67DEA10A88B}"/>
                </a:ext>
              </a:extLst>
            </p:cNvPr>
            <p:cNvCxnSpPr/>
            <p:nvPr/>
          </p:nvCxnSpPr>
          <p:spPr>
            <a:xfrm>
              <a:off x="3282876" y="2560417"/>
              <a:ext cx="707010" cy="0"/>
            </a:xfrm>
            <a:prstGeom prst="line">
              <a:avLst/>
            </a:prstGeom>
            <a:ln>
              <a:solidFill>
                <a:srgbClr val="0000FF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E33EDD9C-EA66-6BBC-F468-37428C6F7AAC}"/>
              </a:ext>
            </a:extLst>
          </p:cNvPr>
          <p:cNvSpPr txBox="1"/>
          <p:nvPr/>
        </p:nvSpPr>
        <p:spPr>
          <a:xfrm>
            <a:off x="10613652" y="640358"/>
            <a:ext cx="974784" cy="262517"/>
          </a:xfrm>
          <a:prstGeom prst="rect">
            <a:avLst/>
          </a:prstGeom>
          <a:solidFill>
            <a:srgbClr val="00B0F0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0" rtlCol="0" anchor="ctr" anchorCtr="0">
            <a:no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pPr algn="ctr"/>
            <a:r>
              <a:rPr lang="en-GB" sz="1800" noProof="0" dirty="0">
                <a:solidFill>
                  <a:schemeClr val="bg1"/>
                </a:solidFill>
              </a:rPr>
              <a:t>Schemes!</a:t>
            </a:r>
            <a:endParaRPr lang="en-GB" sz="2800" noProof="0" dirty="0">
              <a:solidFill>
                <a:schemeClr val="bg1"/>
              </a:solidFill>
            </a:endParaRP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160D33EC-30C3-65F8-41F4-E4788EEA085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0611" y="142472"/>
            <a:ext cx="2962275" cy="447675"/>
          </a:xfrm>
          <a:prstGeom prst="rect">
            <a:avLst/>
          </a:prstGeom>
          <a:ln w="38100">
            <a:solidFill>
              <a:srgbClr val="FFC000"/>
            </a:solidFill>
          </a:ln>
        </p:spPr>
      </p:pic>
      <p:grpSp>
        <p:nvGrpSpPr>
          <p:cNvPr id="104" name="Group 103">
            <a:extLst>
              <a:ext uri="{FF2B5EF4-FFF2-40B4-BE49-F238E27FC236}">
                <a16:creationId xmlns:a16="http://schemas.microsoft.com/office/drawing/2014/main" id="{8A32D044-DBC5-0668-0D97-B65E2952CACF}"/>
              </a:ext>
            </a:extLst>
          </p:cNvPr>
          <p:cNvGrpSpPr/>
          <p:nvPr/>
        </p:nvGrpSpPr>
        <p:grpSpPr>
          <a:xfrm>
            <a:off x="140892" y="5607532"/>
            <a:ext cx="3625338" cy="1107996"/>
            <a:chOff x="-213656" y="5559119"/>
            <a:chExt cx="3625338" cy="1107996"/>
          </a:xfrm>
        </p:grpSpPr>
        <p:pic>
          <p:nvPicPr>
            <p:cNvPr id="102" name="Picture 1">
              <a:extLst>
                <a:ext uri="{FF2B5EF4-FFF2-40B4-BE49-F238E27FC236}">
                  <a16:creationId xmlns:a16="http://schemas.microsoft.com/office/drawing/2014/main" id="{9FFDCD54-B920-60A0-EF20-FF38AD257DC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553" t="7716" r="4082" b="24547"/>
            <a:stretch>
              <a:fillRect/>
            </a:stretch>
          </p:blipFill>
          <p:spPr bwMode="auto">
            <a:xfrm>
              <a:off x="1750235" y="5571248"/>
              <a:ext cx="1661447" cy="33855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30CFC7EB-52DE-65B0-6D3F-919641005405}"/>
                </a:ext>
              </a:extLst>
            </p:cNvPr>
            <p:cNvSpPr txBox="1"/>
            <p:nvPr/>
          </p:nvSpPr>
          <p:spPr>
            <a:xfrm>
              <a:off x="-213656" y="5559119"/>
              <a:ext cx="1932186" cy="11079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rgbClr val="24292E"/>
                  </a:solidFill>
                  <a:latin typeface="Consolas" panose="020B0609020204030204" pitchFamily="49" charset="0"/>
                </a:rPr>
                <a:t>Solve (</a:t>
              </a:r>
            </a:p>
            <a:p>
              <a:r>
                <a:rPr lang="en-US" sz="1200" b="1" dirty="0"/>
                <a:t>    </a:t>
              </a:r>
              <a:r>
                <a:rPr lang="en-US" sz="1000" dirty="0" err="1">
                  <a:solidFill>
                    <a:srgbClr val="6F42C1"/>
                  </a:solidFill>
                  <a:latin typeface="Consolas" panose="020B0609020204030204" pitchFamily="49" charset="0"/>
                </a:rPr>
                <a:t>fvm</a:t>
              </a:r>
              <a:r>
                <a:rPr lang="en-US" sz="1000" dirty="0">
                  <a:solidFill>
                    <a:srgbClr val="6F42C1"/>
                  </a:solidFill>
                  <a:latin typeface="Consolas" panose="020B0609020204030204" pitchFamily="49" charset="0"/>
                </a:rPr>
                <a:t>::</a:t>
              </a:r>
              <a:r>
                <a:rPr lang="en-US" sz="1000" dirty="0" err="1">
                  <a:solidFill>
                    <a:srgbClr val="6F42C1"/>
                  </a:solidFill>
                  <a:latin typeface="Consolas" panose="020B0609020204030204" pitchFamily="49" charset="0"/>
                </a:rPr>
                <a:t>ddt</a:t>
              </a:r>
              <a:r>
                <a:rPr lang="en-US" sz="1000" dirty="0">
                  <a:solidFill>
                    <a:srgbClr val="24292E"/>
                  </a:solidFill>
                  <a:latin typeface="Consolas" panose="020B0609020204030204" pitchFamily="49" charset="0"/>
                </a:rPr>
                <a:t>(rho, U)</a:t>
              </a:r>
            </a:p>
            <a:p>
              <a:r>
                <a:rPr lang="en-US" sz="1200" b="1" dirty="0"/>
                <a:t> </a:t>
              </a:r>
              <a:r>
                <a:rPr lang="en-US" sz="1000" dirty="0">
                  <a:solidFill>
                    <a:srgbClr val="D73A49"/>
                  </a:solidFill>
                  <a:latin typeface="Consolas" panose="020B0609020204030204" pitchFamily="49" charset="0"/>
                </a:rPr>
                <a:t> + </a:t>
              </a:r>
              <a:r>
                <a:rPr lang="en-US" sz="1000" dirty="0" err="1">
                  <a:solidFill>
                    <a:srgbClr val="6F42C1"/>
                  </a:solidFill>
                  <a:latin typeface="Consolas" panose="020B0609020204030204" pitchFamily="49" charset="0"/>
                </a:rPr>
                <a:t>fvm</a:t>
              </a:r>
              <a:r>
                <a:rPr lang="en-US" sz="1000" dirty="0">
                  <a:solidFill>
                    <a:srgbClr val="6F42C1"/>
                  </a:solidFill>
                  <a:latin typeface="Consolas" panose="020B0609020204030204" pitchFamily="49" charset="0"/>
                </a:rPr>
                <a:t>::div</a:t>
              </a:r>
              <a:r>
                <a:rPr lang="en-US" sz="1000" dirty="0">
                  <a:solidFill>
                    <a:srgbClr val="24292E"/>
                  </a:solidFill>
                  <a:latin typeface="Consolas" panose="020B0609020204030204" pitchFamily="49" charset="0"/>
                </a:rPr>
                <a:t>(phi, U)</a:t>
              </a:r>
            </a:p>
            <a:p>
              <a:r>
                <a:rPr lang="en-US" sz="1200" b="1" dirty="0"/>
                <a:t> </a:t>
              </a:r>
              <a:r>
                <a:rPr lang="en-US" sz="1000" dirty="0">
                  <a:solidFill>
                    <a:srgbClr val="D73A49"/>
                  </a:solidFill>
                  <a:latin typeface="Consolas" panose="020B0609020204030204" pitchFamily="49" charset="0"/>
                </a:rPr>
                <a:t> - </a:t>
              </a:r>
              <a:r>
                <a:rPr lang="en-US" sz="1000" dirty="0" err="1">
                  <a:solidFill>
                    <a:srgbClr val="6F42C1"/>
                  </a:solidFill>
                  <a:latin typeface="Consolas" panose="020B0609020204030204" pitchFamily="49" charset="0"/>
                </a:rPr>
                <a:t>fvm</a:t>
              </a:r>
              <a:r>
                <a:rPr lang="en-US" sz="1000" dirty="0">
                  <a:solidFill>
                    <a:srgbClr val="6F42C1"/>
                  </a:solidFill>
                  <a:latin typeface="Consolas" panose="020B0609020204030204" pitchFamily="49" charset="0"/>
                </a:rPr>
                <a:t>::</a:t>
              </a:r>
              <a:r>
                <a:rPr lang="en-US" sz="1000" dirty="0" err="1">
                  <a:solidFill>
                    <a:srgbClr val="6F42C1"/>
                  </a:solidFill>
                  <a:latin typeface="Consolas" panose="020B0609020204030204" pitchFamily="49" charset="0"/>
                </a:rPr>
                <a:t>laplacian</a:t>
              </a:r>
              <a:r>
                <a:rPr lang="en-US" sz="1000" dirty="0">
                  <a:solidFill>
                    <a:srgbClr val="24292E"/>
                  </a:solidFill>
                  <a:latin typeface="Consolas" panose="020B0609020204030204" pitchFamily="49" charset="0"/>
                </a:rPr>
                <a:t>(nu, U)</a:t>
              </a:r>
            </a:p>
            <a:p>
              <a:r>
                <a:rPr lang="en-US" sz="1000" dirty="0">
                  <a:solidFill>
                    <a:srgbClr val="D73A49"/>
                  </a:solidFill>
                  <a:latin typeface="Consolas" panose="020B0609020204030204" pitchFamily="49" charset="0"/>
                </a:rPr>
                <a:t>    ==</a:t>
              </a:r>
            </a:p>
            <a:p>
              <a:r>
                <a:rPr lang="en-US" sz="1000" dirty="0">
                  <a:solidFill>
                    <a:srgbClr val="D73A49"/>
                  </a:solidFill>
                  <a:latin typeface="Consolas" panose="020B0609020204030204" pitchFamily="49" charset="0"/>
                </a:rPr>
                <a:t>  - </a:t>
              </a:r>
              <a:r>
                <a:rPr lang="en-US" sz="1000" dirty="0" err="1">
                  <a:solidFill>
                    <a:srgbClr val="6F42C1"/>
                  </a:solidFill>
                  <a:latin typeface="Consolas" panose="020B0609020204030204" pitchFamily="49" charset="0"/>
                </a:rPr>
                <a:t>fvc</a:t>
              </a:r>
              <a:r>
                <a:rPr lang="en-US" sz="1000" dirty="0">
                  <a:solidFill>
                    <a:srgbClr val="6F42C1"/>
                  </a:solidFill>
                  <a:latin typeface="Consolas" panose="020B0609020204030204" pitchFamily="49" charset="0"/>
                </a:rPr>
                <a:t>::</a:t>
              </a:r>
              <a:r>
                <a:rPr lang="en-US" sz="1000" dirty="0">
                  <a:solidFill>
                    <a:srgbClr val="24292E"/>
                  </a:solidFill>
                  <a:latin typeface="Consolas" panose="020B0609020204030204" pitchFamily="49" charset="0"/>
                </a:rPr>
                <a:t>grad(p))</a:t>
              </a:r>
              <a:endParaRPr lang="LID4096" sz="1000" dirty="0">
                <a:solidFill>
                  <a:srgbClr val="24292E"/>
                </a:solidFill>
                <a:latin typeface="Consolas" panose="020B0609020204030204" pitchFamily="49" charset="0"/>
              </a:endParaRPr>
            </a:p>
          </p:txBody>
        </p: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B7D0B72D-BA6F-E0BF-2572-D425A25B5712}"/>
              </a:ext>
            </a:extLst>
          </p:cNvPr>
          <p:cNvSpPr txBox="1"/>
          <p:nvPr/>
        </p:nvSpPr>
        <p:spPr>
          <a:xfrm>
            <a:off x="3841667" y="5607950"/>
            <a:ext cx="2037092" cy="10156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0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fvScalarMatrix</a:t>
            </a: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TEqn</a:t>
            </a: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   (</a:t>
            </a:r>
          </a:p>
          <a:p>
            <a:pPr>
              <a:buNone/>
            </a:pP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fvm</a:t>
            </a:r>
            <a:r>
              <a:rPr lang="en-US" sz="1000" b="0" dirty="0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ddt</a:t>
            </a: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(T)</a:t>
            </a:r>
          </a:p>
          <a:p>
            <a:pPr>
              <a:buNone/>
            </a:pP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fvm</a:t>
            </a:r>
            <a:r>
              <a:rPr lang="en-US" sz="1000" b="0" dirty="0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::div</a:t>
            </a: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(phi, T)</a:t>
            </a:r>
          </a:p>
          <a:p>
            <a:pPr>
              <a:buNone/>
            </a:pP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0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00" b="0" dirty="0" err="1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fvm</a:t>
            </a:r>
            <a:r>
              <a:rPr lang="en-US" sz="1000" b="0" dirty="0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::</a:t>
            </a:r>
            <a:r>
              <a:rPr lang="en-US" sz="1000" b="0" dirty="0" err="1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laplacian</a:t>
            </a: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(DT, T)</a:t>
            </a:r>
          </a:p>
          <a:p>
            <a:pPr>
              <a:buNone/>
            </a:pP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000" b="0" dirty="0">
                <a:solidFill>
                  <a:srgbClr val="D73A49"/>
                </a:solidFill>
                <a:effectLst/>
                <a:latin typeface="Consolas" panose="020B0609020204030204" pitchFamily="49" charset="0"/>
              </a:rPr>
              <a:t>==</a:t>
            </a:r>
            <a:endParaRPr lang="en-US" sz="1000" b="0" dirty="0">
              <a:solidFill>
                <a:srgbClr val="24292E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00" b="0" dirty="0" err="1">
                <a:solidFill>
                  <a:srgbClr val="6F42C1"/>
                </a:solidFill>
                <a:effectLst/>
                <a:latin typeface="Consolas" panose="020B0609020204030204" pitchFamily="49" charset="0"/>
              </a:rPr>
              <a:t>fvOptions</a:t>
            </a:r>
            <a:r>
              <a:rPr lang="en-US" sz="1000" b="0" dirty="0">
                <a:solidFill>
                  <a:srgbClr val="24292E"/>
                </a:solidFill>
                <a:effectLst/>
                <a:latin typeface="Consolas" panose="020B0609020204030204" pitchFamily="49" charset="0"/>
              </a:rPr>
              <a:t>(T)        );</a:t>
            </a: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4102456-FC59-8121-900C-863BD88E1FAD}"/>
              </a:ext>
            </a:extLst>
          </p:cNvPr>
          <p:cNvGrpSpPr/>
          <p:nvPr/>
        </p:nvGrpSpPr>
        <p:grpSpPr>
          <a:xfrm>
            <a:off x="6034912" y="5424117"/>
            <a:ext cx="2918333" cy="1308050"/>
            <a:chOff x="6034912" y="5424117"/>
            <a:chExt cx="2918333" cy="1308050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C3C20295-5EB8-5E84-5760-CB8FB967BBA5}"/>
                </a:ext>
              </a:extLst>
            </p:cNvPr>
            <p:cNvGrpSpPr/>
            <p:nvPr/>
          </p:nvGrpSpPr>
          <p:grpSpPr>
            <a:xfrm>
              <a:off x="6087742" y="5670338"/>
              <a:ext cx="2865503" cy="1061829"/>
              <a:chOff x="9177854" y="3009624"/>
              <a:chExt cx="2865503" cy="1061829"/>
            </a:xfrm>
          </p:grpSpPr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A11EE9B3-8954-6F59-9CFF-DF383F45DE17}"/>
                  </a:ext>
                </a:extLst>
              </p:cNvPr>
              <p:cNvSpPr txBox="1"/>
              <p:nvPr/>
            </p:nvSpPr>
            <p:spPr>
              <a:xfrm>
                <a:off x="9177854" y="3009624"/>
                <a:ext cx="2865503" cy="106182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900" b="0" dirty="0" err="1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divSchemes</a:t>
                </a:r>
                <a:r>
                  <a:rPr lang="en-US" sz="900" b="0" dirty="0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     {</a:t>
                </a:r>
              </a:p>
              <a:p>
                <a:pPr>
                  <a:buNone/>
                </a:pPr>
                <a:r>
                  <a:rPr lang="en-US" sz="900" b="0" dirty="0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    </a:t>
                </a:r>
                <a:r>
                  <a:rPr lang="en-US" sz="900" b="0" dirty="0">
                    <a:solidFill>
                      <a:srgbClr val="D73A49"/>
                    </a:solidFill>
                    <a:effectLst/>
                    <a:latin typeface="Consolas" panose="020B0609020204030204" pitchFamily="49" charset="0"/>
                  </a:rPr>
                  <a:t>default</a:t>
                </a:r>
                <a:r>
                  <a:rPr lang="en-US" sz="900" b="0" dirty="0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         none;</a:t>
                </a:r>
              </a:p>
              <a:p>
                <a:pPr>
                  <a:buNone/>
                </a:pPr>
                <a:r>
                  <a:rPr lang="en-US" sz="900" b="0" dirty="0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// div(</a:t>
                </a:r>
                <a:r>
                  <a:rPr lang="en-US" sz="900" b="0" dirty="0" err="1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phi,T</a:t>
                </a:r>
                <a:r>
                  <a:rPr lang="en-US" sz="900" b="0" dirty="0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)  Gauss upwind;</a:t>
                </a:r>
                <a:endParaRPr lang="en-US" sz="90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buNone/>
                </a:pPr>
                <a:r>
                  <a:rPr lang="en-US" sz="900" b="0" dirty="0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// div(</a:t>
                </a:r>
                <a:r>
                  <a:rPr lang="en-US" sz="900" b="0" dirty="0" err="1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phi,T</a:t>
                </a:r>
                <a:r>
                  <a:rPr lang="en-US" sz="900" b="0" dirty="0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)  Gauss linear;</a:t>
                </a:r>
                <a:endParaRPr lang="en-US" sz="90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buNone/>
                </a:pPr>
                <a:r>
                  <a:rPr lang="en-US" sz="900" b="0" dirty="0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// div(</a:t>
                </a:r>
                <a:r>
                  <a:rPr lang="en-US" sz="900" b="0" dirty="0" err="1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phi,T</a:t>
                </a:r>
                <a:r>
                  <a:rPr lang="en-US" sz="900" b="0" dirty="0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)  Gauss </a:t>
                </a:r>
                <a:r>
                  <a:rPr lang="en-US" sz="900" b="0" dirty="0" err="1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linearUpwind</a:t>
                </a:r>
                <a:r>
                  <a:rPr lang="en-US" sz="900" b="0" dirty="0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 grad(T);</a:t>
                </a:r>
                <a:endParaRPr lang="en-US" sz="90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buNone/>
                </a:pPr>
                <a:r>
                  <a:rPr lang="en-US" sz="900" b="0" dirty="0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// div(</a:t>
                </a:r>
                <a:r>
                  <a:rPr lang="en-US" sz="900" b="0" dirty="0" err="1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phi,T</a:t>
                </a:r>
                <a:r>
                  <a:rPr lang="en-US" sz="900" b="0" dirty="0">
                    <a:solidFill>
                      <a:srgbClr val="6A737D"/>
                    </a:solidFill>
                    <a:effectLst/>
                    <a:latin typeface="Consolas" panose="020B0609020204030204" pitchFamily="49" charset="0"/>
                  </a:rPr>
                  <a:t>)  Gauss QUICK;</a:t>
                </a:r>
                <a:endParaRPr lang="en-US" sz="900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endParaRPr>
              </a:p>
              <a:p>
                <a:pPr>
                  <a:buNone/>
                </a:pPr>
                <a:r>
                  <a:rPr lang="en-US" sz="900" b="0" dirty="0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   </a:t>
                </a:r>
                <a:r>
                  <a:rPr lang="en-US" sz="900" b="0" dirty="0">
                    <a:solidFill>
                      <a:srgbClr val="6F42C1"/>
                    </a:solidFill>
                    <a:effectLst/>
                    <a:latin typeface="Consolas" panose="020B0609020204030204" pitchFamily="49" charset="0"/>
                  </a:rPr>
                  <a:t>div</a:t>
                </a:r>
                <a:r>
                  <a:rPr lang="en-US" sz="900" b="0" dirty="0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(</a:t>
                </a:r>
                <a:r>
                  <a:rPr lang="en-US" sz="900" b="0" dirty="0" err="1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phi,T</a:t>
                </a:r>
                <a:r>
                  <a:rPr lang="en-US" sz="900" b="0" dirty="0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)  Gauss cubic;  }</a:t>
                </a: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77F91039-004C-3234-E495-F9836A640454}"/>
                  </a:ext>
                </a:extLst>
              </p:cNvPr>
              <p:cNvSpPr txBox="1"/>
              <p:nvPr/>
            </p:nvSpPr>
            <p:spPr>
              <a:xfrm>
                <a:off x="10803261" y="3009624"/>
                <a:ext cx="122547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LID4096"/>
                </a:defPPr>
                <a:lvl1pPr>
                  <a:defRPr sz="1000">
                    <a:solidFill>
                      <a:srgbClr val="24292E"/>
                    </a:solidFill>
                    <a:latin typeface="Consolas" panose="020B0609020204030204" pitchFamily="49" charset="0"/>
                  </a:defRPr>
                </a:lvl1pPr>
              </a:lstStyle>
              <a:p>
                <a:pPr algn="r"/>
                <a:r>
                  <a:rPr lang="LID4096" sz="1400" dirty="0">
                    <a:solidFill>
                      <a:srgbClr val="0000FF"/>
                    </a:solidFill>
                  </a:rPr>
                  <a:t>fvSchemes</a:t>
                </a:r>
              </a:p>
            </p:txBody>
          </p:sp>
        </p:grp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C4DA7E74-CA11-C340-2487-28946251AE3E}"/>
                </a:ext>
              </a:extLst>
            </p:cNvPr>
            <p:cNvSpPr txBox="1"/>
            <p:nvPr/>
          </p:nvSpPr>
          <p:spPr>
            <a:xfrm>
              <a:off x="6034912" y="5424117"/>
              <a:ext cx="186318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LID4096" sz="1000" dirty="0">
                  <a:solidFill>
                    <a:srgbClr val="0000FF"/>
                  </a:solidFill>
                  <a:latin typeface="Consolas" panose="020B0609020204030204" pitchFamily="49" charset="0"/>
                </a:rPr>
                <a:t>scalarTransportFoam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BFEF5512-CBF5-2F0D-5211-764B6A6975A0}"/>
                  </a:ext>
                </a:extLst>
              </p:cNvPr>
              <p:cNvSpPr txBox="1"/>
              <p:nvPr/>
            </p:nvSpPr>
            <p:spPr>
              <a:xfrm>
                <a:off x="4940228" y="4869515"/>
                <a:ext cx="5188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noProof="0" smtClean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2000" b="0" noProof="0" dirty="0"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mc:Choice>
        <mc:Fallback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BFEF5512-CBF5-2F0D-5211-764B6A697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28" y="4869515"/>
                <a:ext cx="518880" cy="46166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2" name="Picture 111">
            <a:extLst>
              <a:ext uri="{FF2B5EF4-FFF2-40B4-BE49-F238E27FC236}">
                <a16:creationId xmlns:a16="http://schemas.microsoft.com/office/drawing/2014/main" id="{4B5C8BD1-4F2B-6D6C-96B0-68717505FF4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841057" y="131784"/>
            <a:ext cx="2598519" cy="469177"/>
          </a:xfrm>
          <a:prstGeom prst="rect">
            <a:avLst/>
          </a:prstGeom>
          <a:ln w="38100">
            <a:solidFill>
              <a:srgbClr val="00B0F0"/>
            </a:solidFill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A6030B6-276D-B67A-0774-BDA773B432F1}"/>
              </a:ext>
            </a:extLst>
          </p:cNvPr>
          <p:cNvGrpSpPr/>
          <p:nvPr/>
        </p:nvGrpSpPr>
        <p:grpSpPr>
          <a:xfrm>
            <a:off x="7119206" y="1011584"/>
            <a:ext cx="4895850" cy="919974"/>
            <a:chOff x="7119206" y="911997"/>
            <a:chExt cx="4895850" cy="919974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B6DC7CB-1BF2-C776-D862-21819E0A9AC4}"/>
                </a:ext>
              </a:extLst>
            </p:cNvPr>
            <p:cNvGrpSpPr/>
            <p:nvPr/>
          </p:nvGrpSpPr>
          <p:grpSpPr>
            <a:xfrm>
              <a:off x="7119206" y="911997"/>
              <a:ext cx="4895850" cy="919974"/>
              <a:chOff x="7119206" y="939158"/>
              <a:chExt cx="4895850" cy="919974"/>
            </a:xfrm>
          </p:grpSpPr>
          <p:pic>
            <p:nvPicPr>
              <p:cNvPr id="94" name="Picture 93">
                <a:extLst>
                  <a:ext uri="{FF2B5EF4-FFF2-40B4-BE49-F238E27FC236}">
                    <a16:creationId xmlns:a16="http://schemas.microsoft.com/office/drawing/2014/main" id="{1F353D17-9949-A4D6-0AA5-183BBFC99A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119206" y="939158"/>
                <a:ext cx="4895850" cy="714375"/>
              </a:xfrm>
              <a:prstGeom prst="rect">
                <a:avLst/>
              </a:prstGeom>
            </p:spPr>
          </p:pic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3B2F3EA-46CB-29FE-D83B-3AC547450482}"/>
                  </a:ext>
                </a:extLst>
              </p:cNvPr>
              <p:cNvSpPr txBox="1"/>
              <p:nvPr/>
            </p:nvSpPr>
            <p:spPr>
              <a:xfrm>
                <a:off x="10555472" y="1566744"/>
                <a:ext cx="1459584" cy="2923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pPr algn="ctr"/>
                <a:r>
                  <a:rPr lang="en-US" sz="1300" dirty="0">
                    <a:solidFill>
                      <a:srgbClr val="FF0000"/>
                    </a:solidFill>
                  </a:rPr>
                  <a:t>Notes on CFD</a:t>
                </a:r>
                <a:endParaRPr lang="LID4096" sz="130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6B6DED5-BB1E-5989-32EC-E4DE19B5B81D}"/>
                </a:ext>
              </a:extLst>
            </p:cNvPr>
            <p:cNvSpPr/>
            <p:nvPr/>
          </p:nvSpPr>
          <p:spPr>
            <a:xfrm>
              <a:off x="9198824" y="922851"/>
              <a:ext cx="2127061" cy="674478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F61166E-D299-0371-3372-0AB2FBBA2A1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26405" y="2929631"/>
            <a:ext cx="2729410" cy="114615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2D3ABCAC-AD99-7810-C3FE-2548B4BDEFF0}"/>
              </a:ext>
            </a:extLst>
          </p:cNvPr>
          <p:cNvGrpSpPr/>
          <p:nvPr/>
        </p:nvGrpSpPr>
        <p:grpSpPr>
          <a:xfrm>
            <a:off x="774910" y="877728"/>
            <a:ext cx="5842328" cy="981075"/>
            <a:chOff x="774910" y="964818"/>
            <a:chExt cx="5842328" cy="981075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E4847EF-FDC2-5878-FF02-0799C72BD516}"/>
                </a:ext>
              </a:extLst>
            </p:cNvPr>
            <p:cNvGrpSpPr/>
            <p:nvPr/>
          </p:nvGrpSpPr>
          <p:grpSpPr>
            <a:xfrm>
              <a:off x="774910" y="964818"/>
              <a:ext cx="5842328" cy="981075"/>
              <a:chOff x="470263" y="210586"/>
              <a:chExt cx="5842328" cy="981075"/>
            </a:xfrm>
          </p:grpSpPr>
          <p:pic>
            <p:nvPicPr>
              <p:cNvPr id="21" name="Picture 20">
                <a:extLst>
                  <a:ext uri="{FF2B5EF4-FFF2-40B4-BE49-F238E27FC236}">
                    <a16:creationId xmlns:a16="http://schemas.microsoft.com/office/drawing/2014/main" id="{DF84D371-DC81-BFCB-879C-180768C8A3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rcRect l="2193"/>
              <a:stretch>
                <a:fillRect/>
              </a:stretch>
            </p:blipFill>
            <p:spPr>
              <a:xfrm>
                <a:off x="470263" y="210586"/>
                <a:ext cx="5254261" cy="981075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E881AF7-CE9D-A4C9-6F44-1A6E6394FB9C}"/>
                  </a:ext>
                </a:extLst>
              </p:cNvPr>
              <p:cNvSpPr txBox="1"/>
              <p:nvPr/>
            </p:nvSpPr>
            <p:spPr>
              <a:xfrm>
                <a:off x="5862538" y="478371"/>
                <a:ext cx="45005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pPr algn="ctr"/>
                <a:r>
                  <a:rPr lang="en-GB" sz="1400" noProof="0" dirty="0"/>
                  <a:t>2.3</a:t>
                </a:r>
                <a:endParaRPr lang="en-GB" sz="2000" noProof="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D29C4E34-D752-C98F-0296-F8021A155D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7085" y="1019532"/>
                <a:ext cx="1255638" cy="0"/>
              </a:xfrm>
              <a:prstGeom prst="line">
                <a:avLst/>
              </a:prstGeom>
              <a:ln>
                <a:solidFill>
                  <a:srgbClr val="0000FF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2DA42186-D9A5-C16B-8947-126F322FFD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59925" y="1018884"/>
                <a:ext cx="1185440" cy="64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08C35F0-D6EB-3C3C-5318-91742A0388DB}"/>
                </a:ext>
              </a:extLst>
            </p:cNvPr>
            <p:cNvSpPr/>
            <p:nvPr/>
          </p:nvSpPr>
          <p:spPr>
            <a:xfrm>
              <a:off x="3408374" y="1157807"/>
              <a:ext cx="283357" cy="240638"/>
            </a:xfrm>
            <a:prstGeom prst="rect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CB42071-E844-CD74-6543-2F9744491929}"/>
              </a:ext>
            </a:extLst>
          </p:cNvPr>
          <p:cNvSpPr txBox="1"/>
          <p:nvPr/>
        </p:nvSpPr>
        <p:spPr>
          <a:xfrm>
            <a:off x="10447699" y="6620832"/>
            <a:ext cx="17677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pPr algn="r"/>
            <a:r>
              <a:rPr lang="LID4096" sz="1000" dirty="0">
                <a:solidFill>
                  <a:srgbClr val="FF0000"/>
                </a:solidFill>
              </a:rPr>
              <a:t>Henrik</a:t>
            </a:r>
            <a:r>
              <a:rPr lang="pt-BR" sz="1000" dirty="0">
                <a:solidFill>
                  <a:srgbClr val="FF0000"/>
                </a:solidFill>
              </a:rPr>
              <a:t> </a:t>
            </a:r>
            <a:r>
              <a:rPr lang="LID4096" sz="1000" dirty="0">
                <a:solidFill>
                  <a:srgbClr val="FF0000"/>
                </a:solidFill>
              </a:rPr>
              <a:t>Rusche</a:t>
            </a:r>
            <a:r>
              <a:rPr lang="pt-BR" sz="1000" dirty="0">
                <a:solidFill>
                  <a:srgbClr val="FF0000"/>
                </a:solidFill>
              </a:rPr>
              <a:t> 73-74</a:t>
            </a:r>
            <a:endParaRPr lang="LID4096" sz="1000" dirty="0">
              <a:solidFill>
                <a:srgbClr val="FF0000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DF8483-06AB-FA01-FB81-BA4EF6B64271}"/>
              </a:ext>
            </a:extLst>
          </p:cNvPr>
          <p:cNvSpPr/>
          <p:nvPr/>
        </p:nvSpPr>
        <p:spPr>
          <a:xfrm>
            <a:off x="248516" y="4754267"/>
            <a:ext cx="11077369" cy="745690"/>
          </a:xfrm>
          <a:prstGeom prst="rect">
            <a:avLst/>
          </a:prstGeom>
          <a:solidFill>
            <a:srgbClr val="8CC46A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5ECA59B-99C5-7C8B-3741-275F2954ED29}"/>
              </a:ext>
            </a:extLst>
          </p:cNvPr>
          <p:cNvSpPr/>
          <p:nvPr/>
        </p:nvSpPr>
        <p:spPr>
          <a:xfrm>
            <a:off x="624146" y="797092"/>
            <a:ext cx="6064037" cy="1155815"/>
          </a:xfrm>
          <a:prstGeom prst="rect">
            <a:avLst/>
          </a:prstGeom>
          <a:solidFill>
            <a:schemeClr val="accent2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42830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A03B52-36C3-6294-1EA1-E88EFB532B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07" y="277420"/>
            <a:ext cx="1609725" cy="571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5108FD-AC69-AA6B-94C1-72A26F437A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730" y="303547"/>
            <a:ext cx="3886200" cy="5905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4F583D6-29E8-5E2E-9787-4902615A3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6896" y="822930"/>
            <a:ext cx="6610350" cy="5810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8A23C5-253B-A03D-7625-DAF5129FF1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986" y="770676"/>
            <a:ext cx="1628775" cy="571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48A5B7B-4305-2128-3698-4F313A335E71}"/>
              </a:ext>
            </a:extLst>
          </p:cNvPr>
          <p:cNvSpPr txBox="1"/>
          <p:nvPr/>
        </p:nvSpPr>
        <p:spPr>
          <a:xfrm>
            <a:off x="145024" y="79361"/>
            <a:ext cx="166360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pt-BR" noProof="0"/>
              <a:t>Conservação de massa</a:t>
            </a:r>
            <a:endParaRPr lang="pt-BR" sz="1400" noProof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252426A-0F11-287F-2B95-241E66692D7E}"/>
              </a:ext>
            </a:extLst>
          </p:cNvPr>
          <p:cNvSpPr txBox="1"/>
          <p:nvPr/>
        </p:nvSpPr>
        <p:spPr>
          <a:xfrm>
            <a:off x="2086896" y="105488"/>
            <a:ext cx="166360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pt-BR" noProof="0" dirty="0"/>
              <a:t>Qde de movimento</a:t>
            </a:r>
            <a:endParaRPr lang="pt-BR" sz="1400" noProof="0" dirty="0">
              <a:solidFill>
                <a:srgbClr val="FF0000"/>
              </a:solidFill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109D697-AC37-CC03-5E86-8F0067276C8E}"/>
              </a:ext>
            </a:extLst>
          </p:cNvPr>
          <p:cNvGrpSpPr/>
          <p:nvPr/>
        </p:nvGrpSpPr>
        <p:grpSpPr>
          <a:xfrm>
            <a:off x="4293087" y="2000185"/>
            <a:ext cx="1758387" cy="2014773"/>
            <a:chOff x="4226379" y="1695229"/>
            <a:chExt cx="1758387" cy="2014773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DAB203C-27C9-68EE-61B8-9276D56958E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73153" y="2031674"/>
              <a:ext cx="1449823" cy="1678328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44EDD40-910C-D228-892E-B2EA3C0F4ABA}"/>
                </a:ext>
              </a:extLst>
            </p:cNvPr>
            <p:cNvSpPr txBox="1"/>
            <p:nvPr/>
          </p:nvSpPr>
          <p:spPr>
            <a:xfrm>
              <a:off x="4226379" y="1695229"/>
              <a:ext cx="1758387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400" b="1" i="0" u="none" strike="noStrike" baseline="0" dirty="0">
                  <a:latin typeface="CMBX12"/>
                </a:rPr>
                <a:t>4.4.</a:t>
              </a:r>
              <a:r>
                <a:rPr lang="en-GB" sz="1400" b="1" dirty="0">
                  <a:latin typeface="CMBX12"/>
                </a:rPr>
                <a:t>2 </a:t>
              </a:r>
              <a:r>
                <a:rPr lang="en-GB" sz="1200" b="1" dirty="0" err="1">
                  <a:latin typeface="CMBX12"/>
                </a:rPr>
                <a:t>snGradSchemes</a:t>
              </a:r>
              <a:r>
                <a:rPr lang="en-GB" sz="1200" b="1" dirty="0">
                  <a:latin typeface="CMBX12"/>
                </a:rPr>
                <a:t> *</a:t>
              </a:r>
              <a:endParaRPr lang="LID4096" sz="1200" b="1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A36007C1-78E3-5540-1FFF-8D3921959607}"/>
              </a:ext>
            </a:extLst>
          </p:cNvPr>
          <p:cNvGrpSpPr/>
          <p:nvPr/>
        </p:nvGrpSpPr>
        <p:grpSpPr>
          <a:xfrm>
            <a:off x="5971815" y="2004103"/>
            <a:ext cx="2635859" cy="1737719"/>
            <a:chOff x="5928270" y="1691281"/>
            <a:chExt cx="2635859" cy="1737719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271C90A0-427A-74D7-AEC0-B1472F63B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940043" y="2031674"/>
              <a:ext cx="2624086" cy="1397326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909CE3E-D7A2-6CCC-7889-76A21BE2693F}"/>
                </a:ext>
              </a:extLst>
            </p:cNvPr>
            <p:cNvSpPr txBox="1"/>
            <p:nvPr/>
          </p:nvSpPr>
          <p:spPr>
            <a:xfrm>
              <a:off x="5928270" y="1691281"/>
              <a:ext cx="259678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b="1" dirty="0">
                  <a:solidFill>
                    <a:srgbClr val="FF0000"/>
                  </a:solidFill>
                </a:rPr>
                <a:t>4.4.3 </a:t>
              </a:r>
              <a:r>
                <a:rPr lang="LID4096" sz="1200" b="1" dirty="0">
                  <a:solidFill>
                    <a:srgbClr val="FF0000"/>
                  </a:solidFill>
                </a:rPr>
                <a:t>gradSchemes sub-dictionary</a:t>
              </a:r>
              <a:r>
                <a:rPr lang="pt-BR" sz="1200" b="1" dirty="0">
                  <a:solidFill>
                    <a:srgbClr val="FF0000"/>
                  </a:solidFill>
                </a:rPr>
                <a:t> *</a:t>
              </a:r>
              <a:endParaRPr lang="LID4096" sz="12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7AE4D524-4EE6-A447-67CD-31EE0C05A02F}"/>
              </a:ext>
            </a:extLst>
          </p:cNvPr>
          <p:cNvSpPr txBox="1"/>
          <p:nvPr/>
        </p:nvSpPr>
        <p:spPr>
          <a:xfrm>
            <a:off x="88983" y="4617383"/>
            <a:ext cx="280640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solidFill>
                  <a:srgbClr val="FF0000"/>
                </a:solidFill>
                <a:latin typeface="CMTT12"/>
              </a:rPr>
              <a:t>interpolationSchemes</a:t>
            </a:r>
            <a:r>
              <a:rPr lang="en-US" sz="1400" b="1" dirty="0">
                <a:solidFill>
                  <a:srgbClr val="FF0000"/>
                </a:solidFill>
                <a:latin typeface="CMTT12"/>
              </a:rPr>
              <a:t>  DICT*</a:t>
            </a:r>
          </a:p>
          <a:p>
            <a:r>
              <a:rPr lang="en-US" sz="1400" b="0" i="0" u="none" strike="noStrike" baseline="0" dirty="0">
                <a:latin typeface="CMTT12"/>
              </a:rPr>
              <a:t>default linear;</a:t>
            </a:r>
          </a:p>
          <a:p>
            <a:r>
              <a:rPr lang="en-US" sz="1400" dirty="0"/>
              <a:t>default upwind phi;</a:t>
            </a:r>
          </a:p>
          <a:p>
            <a:r>
              <a:rPr lang="en-US" sz="1400" dirty="0"/>
              <a:t>default limitedLinear 1.0 phi;</a:t>
            </a:r>
          </a:p>
          <a:p>
            <a:endParaRPr lang="en-US" sz="1400" dirty="0"/>
          </a:p>
          <a:p>
            <a:r>
              <a:rPr lang="en-US" sz="1400" b="1" dirty="0"/>
              <a:t>4.4.1.1 - scalar</a:t>
            </a:r>
          </a:p>
          <a:p>
            <a:r>
              <a:rPr lang="en-US" sz="1400" dirty="0"/>
              <a:t>default limitedVanLeer -2.0 3.0;</a:t>
            </a:r>
          </a:p>
          <a:p>
            <a:r>
              <a:rPr lang="en-US" sz="1400" dirty="0"/>
              <a:t>default vanLeer01;</a:t>
            </a:r>
            <a:endParaRPr lang="LID4096" sz="14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AF89438-7DC6-23C0-0439-A4FB26C682AC}"/>
              </a:ext>
            </a:extLst>
          </p:cNvPr>
          <p:cNvGrpSpPr/>
          <p:nvPr/>
        </p:nvGrpSpPr>
        <p:grpSpPr>
          <a:xfrm>
            <a:off x="4357982" y="4239409"/>
            <a:ext cx="3008012" cy="1904939"/>
            <a:chOff x="4261922" y="3896279"/>
            <a:chExt cx="3008012" cy="1904939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11399B1-55EF-0EE6-FD9A-7A4689B9478F}"/>
                </a:ext>
              </a:extLst>
            </p:cNvPr>
            <p:cNvSpPr txBox="1"/>
            <p:nvPr/>
          </p:nvSpPr>
          <p:spPr>
            <a:xfrm>
              <a:off x="4261922" y="3896279"/>
              <a:ext cx="300801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b="1" dirty="0"/>
                <a:t>4.4.4 </a:t>
              </a:r>
              <a:r>
                <a:rPr lang="LID4096" sz="1400" b="1" dirty="0"/>
                <a:t>laplacianSchemes</a:t>
              </a:r>
              <a:r>
                <a:rPr lang="pt-BR" sz="1400" b="1" dirty="0"/>
                <a:t> *</a:t>
              </a:r>
              <a:endParaRPr lang="LID4096" sz="1400" b="1" dirty="0"/>
            </a:p>
          </p:txBody>
        </p:sp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91AFD736-B014-2D54-E5D1-1858FCC76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273153" y="4258374"/>
              <a:ext cx="1328560" cy="1542844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12F9B00-1EC4-E41B-57F2-B4E43403CB9A}"/>
              </a:ext>
            </a:extLst>
          </p:cNvPr>
          <p:cNvGrpSpPr/>
          <p:nvPr/>
        </p:nvGrpSpPr>
        <p:grpSpPr>
          <a:xfrm>
            <a:off x="5946323" y="3900848"/>
            <a:ext cx="2776361" cy="2686905"/>
            <a:chOff x="5920885" y="3642345"/>
            <a:chExt cx="2776361" cy="2686905"/>
          </a:xfrm>
        </p:grpSpPr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67B70693-8CF8-48CD-D780-5A770A008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391665" y="4004188"/>
              <a:ext cx="1449823" cy="2325062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327D651-5238-1646-2C96-5BA69626E248}"/>
                </a:ext>
              </a:extLst>
            </p:cNvPr>
            <p:cNvSpPr txBox="1"/>
            <p:nvPr/>
          </p:nvSpPr>
          <p:spPr>
            <a:xfrm>
              <a:off x="5920885" y="3642345"/>
              <a:ext cx="27763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b="1" dirty="0">
                  <a:solidFill>
                    <a:srgbClr val="0000FF"/>
                  </a:solidFill>
                </a:rPr>
                <a:t>4.4.5 </a:t>
              </a:r>
              <a:r>
                <a:rPr lang="LID4096" sz="1400" b="1" dirty="0">
                  <a:solidFill>
                    <a:srgbClr val="0000FF"/>
                  </a:solidFill>
                </a:rPr>
                <a:t>divSchemes sub-dictionary</a:t>
              </a:r>
              <a:r>
                <a:rPr lang="pt-BR" sz="1400" b="1" dirty="0">
                  <a:solidFill>
                    <a:srgbClr val="0000FF"/>
                  </a:solidFill>
                </a:rPr>
                <a:t> *</a:t>
              </a:r>
              <a:endParaRPr lang="LID4096" sz="1400" b="1" dirty="0">
                <a:solidFill>
                  <a:srgbClr val="0000FF"/>
                </a:solidFill>
              </a:endParaRPr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62331D81-E684-4808-67E2-A4FBAEBA3088}"/>
              </a:ext>
            </a:extLst>
          </p:cNvPr>
          <p:cNvGrpSpPr/>
          <p:nvPr/>
        </p:nvGrpSpPr>
        <p:grpSpPr>
          <a:xfrm>
            <a:off x="188569" y="2032105"/>
            <a:ext cx="2224634" cy="2272254"/>
            <a:chOff x="145024" y="1701177"/>
            <a:chExt cx="2224634" cy="2272254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FE1EB93-B908-933D-8294-9022A1826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05986" y="2031674"/>
              <a:ext cx="2163672" cy="194175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5E6531F-6F79-29B1-68C8-FF21CAEB1AFB}"/>
                </a:ext>
              </a:extLst>
            </p:cNvPr>
            <p:cNvSpPr txBox="1"/>
            <p:nvPr/>
          </p:nvSpPr>
          <p:spPr>
            <a:xfrm>
              <a:off x="145024" y="1701177"/>
              <a:ext cx="216367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LID4096" sz="1400" b="1" dirty="0"/>
                <a:t>4.4</a:t>
              </a:r>
              <a:r>
                <a:rPr lang="pt-BR" sz="1400" b="1" dirty="0"/>
                <a:t> </a:t>
              </a:r>
              <a:r>
                <a:rPr lang="LID4096" sz="1400" b="1" dirty="0"/>
                <a:t>Numerical schemes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D997687-91FA-1E0D-6496-D857A8C04017}"/>
                </a:ext>
              </a:extLst>
            </p:cNvPr>
            <p:cNvSpPr txBox="1"/>
            <p:nvPr/>
          </p:nvSpPr>
          <p:spPr>
            <a:xfrm>
              <a:off x="1636718" y="2488153"/>
              <a:ext cx="4940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i="0" u="none" strike="noStrike" baseline="0" dirty="0">
                  <a:latin typeface="CMBX12"/>
                </a:rPr>
                <a:t>4.4.</a:t>
              </a:r>
              <a:r>
                <a:rPr lang="en-GB" sz="1200" dirty="0">
                  <a:latin typeface="CMBX12"/>
                </a:rPr>
                <a:t>2</a:t>
              </a:r>
              <a:endParaRPr lang="LID4096" sz="1200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7ECC4F5-F78D-C806-D076-2F7E50D1EB33}"/>
                </a:ext>
              </a:extLst>
            </p:cNvPr>
            <p:cNvSpPr txBox="1"/>
            <p:nvPr/>
          </p:nvSpPr>
          <p:spPr>
            <a:xfrm>
              <a:off x="1635212" y="2740139"/>
              <a:ext cx="4940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i="0" u="none" strike="noStrike" baseline="0" dirty="0">
                  <a:latin typeface="CMBX12"/>
                </a:rPr>
                <a:t>4.4.3</a:t>
              </a:r>
              <a:endParaRPr lang="LID4096" sz="1200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2517A4C-E8BE-5966-C6FF-92F8C6F19E3C}"/>
                </a:ext>
              </a:extLst>
            </p:cNvPr>
            <p:cNvSpPr txBox="1"/>
            <p:nvPr/>
          </p:nvSpPr>
          <p:spPr>
            <a:xfrm>
              <a:off x="1633703" y="2974018"/>
              <a:ext cx="4940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i="0" u="none" strike="noStrike" baseline="0" dirty="0">
                  <a:latin typeface="CMBX12"/>
                </a:rPr>
                <a:t>4.4.5</a:t>
              </a:r>
              <a:endParaRPr lang="LID4096" sz="12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3BAD393-90FD-03F4-6899-306ED3030798}"/>
                </a:ext>
              </a:extLst>
            </p:cNvPr>
            <p:cNvSpPr txBox="1"/>
            <p:nvPr/>
          </p:nvSpPr>
          <p:spPr>
            <a:xfrm>
              <a:off x="1850770" y="3201100"/>
              <a:ext cx="4940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i="0" u="none" strike="noStrike" baseline="0" dirty="0">
                  <a:latin typeface="CMBX12"/>
                </a:rPr>
                <a:t>4.4.4</a:t>
              </a:r>
              <a:endParaRPr lang="LID4096" sz="12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6D80BA5-1688-A202-3D6E-35A744D69B17}"/>
                </a:ext>
              </a:extLst>
            </p:cNvPr>
            <p:cNvSpPr txBox="1"/>
            <p:nvPr/>
          </p:nvSpPr>
          <p:spPr>
            <a:xfrm>
              <a:off x="1635212" y="3419145"/>
              <a:ext cx="4940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i="0" u="none" strike="noStrike" baseline="0" dirty="0">
                  <a:latin typeface="CMBX12"/>
                </a:rPr>
                <a:t>4.4.6</a:t>
              </a:r>
              <a:endParaRPr lang="LID4096" sz="1200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22CF889-6BE8-4320-0689-6FDE3A3A1391}"/>
                </a:ext>
              </a:extLst>
            </p:cNvPr>
            <p:cNvSpPr txBox="1"/>
            <p:nvPr/>
          </p:nvSpPr>
          <p:spPr>
            <a:xfrm>
              <a:off x="1635212" y="3645488"/>
              <a:ext cx="494066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i="0" u="none" strike="noStrike" baseline="0" dirty="0">
                  <a:latin typeface="CMBX12"/>
                </a:rPr>
                <a:t>4.4.7</a:t>
              </a:r>
              <a:endParaRPr lang="LID4096" sz="1200" dirty="0"/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6E147DE-80FF-D74B-DA28-F6B89FDFA918}"/>
              </a:ext>
            </a:extLst>
          </p:cNvPr>
          <p:cNvGrpSpPr/>
          <p:nvPr/>
        </p:nvGrpSpPr>
        <p:grpSpPr>
          <a:xfrm>
            <a:off x="8676572" y="76830"/>
            <a:ext cx="3437053" cy="2253344"/>
            <a:chOff x="8617763" y="2263"/>
            <a:chExt cx="3437053" cy="2253344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5CEE8A85-FC08-73A7-8C7A-98ABAD1F53B7}"/>
                </a:ext>
              </a:extLst>
            </p:cNvPr>
            <p:cNvGrpSpPr/>
            <p:nvPr/>
          </p:nvGrpSpPr>
          <p:grpSpPr>
            <a:xfrm>
              <a:off x="8617763" y="2263"/>
              <a:ext cx="3437053" cy="2253344"/>
              <a:chOff x="466985" y="1861431"/>
              <a:chExt cx="3437053" cy="2253344"/>
            </a:xfrm>
          </p:grpSpPr>
          <p:grpSp>
            <p:nvGrpSpPr>
              <p:cNvPr id="2" name="Group 1">
                <a:extLst>
                  <a:ext uri="{FF2B5EF4-FFF2-40B4-BE49-F238E27FC236}">
                    <a16:creationId xmlns:a16="http://schemas.microsoft.com/office/drawing/2014/main" id="{12A9BEB2-AE31-15C1-075E-9480577E3952}"/>
                  </a:ext>
                </a:extLst>
              </p:cNvPr>
              <p:cNvGrpSpPr/>
              <p:nvPr/>
            </p:nvGrpSpPr>
            <p:grpSpPr>
              <a:xfrm>
                <a:off x="466985" y="2083450"/>
                <a:ext cx="3437053" cy="2031325"/>
                <a:chOff x="5582193" y="4219253"/>
                <a:chExt cx="3437053" cy="2031325"/>
              </a:xfrm>
            </p:grpSpPr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B1D6B448-9326-6A9C-5E46-321CD199A864}"/>
                    </a:ext>
                  </a:extLst>
                </p:cNvPr>
                <p:cNvSpPr txBox="1"/>
                <p:nvPr/>
              </p:nvSpPr>
              <p:spPr>
                <a:xfrm>
                  <a:off x="5582193" y="4219253"/>
                  <a:ext cx="2560030" cy="203132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lang="en-US" sz="1400" b="0" i="0" u="none" strike="noStrike" baseline="0" dirty="0">
                      <a:solidFill>
                        <a:srgbClr val="FF0000"/>
                      </a:solidFill>
                      <a:latin typeface="CMR12"/>
                    </a:rPr>
                    <a:t>4.4.1 Interpolation schemes</a:t>
                  </a:r>
                </a:p>
                <a:p>
                  <a:pPr algn="l"/>
                  <a:endParaRPr lang="en-US" sz="1400" b="0" i="0" u="none" strike="noStrike" baseline="0" dirty="0">
                    <a:solidFill>
                      <a:srgbClr val="FF0000"/>
                    </a:solidFill>
                    <a:latin typeface="CMR12"/>
                  </a:endParaRPr>
                </a:p>
                <a:p>
                  <a:pPr algn="l"/>
                  <a:endParaRPr lang="en-US" sz="1400" b="0" i="0" u="none" strike="noStrike" baseline="0" dirty="0">
                    <a:solidFill>
                      <a:srgbClr val="FF0000"/>
                    </a:solidFill>
                    <a:latin typeface="CMR12"/>
                  </a:endParaRPr>
                </a:p>
                <a:p>
                  <a:pPr algn="l"/>
                  <a:r>
                    <a:rPr lang="fr-FR" sz="1400" dirty="0"/>
                    <a:t>4.4.2 Surface normal ∆ </a:t>
                  </a:r>
                  <a:r>
                    <a:rPr lang="fr-FR" sz="1400" dirty="0" err="1"/>
                    <a:t>schemes</a:t>
                  </a:r>
                  <a:endParaRPr lang="en-US" sz="1400" b="0" i="0" u="none" strike="noStrike" baseline="0" dirty="0">
                    <a:solidFill>
                      <a:srgbClr val="FF0000"/>
                    </a:solidFill>
                    <a:latin typeface="CMR12"/>
                  </a:endParaRPr>
                </a:p>
                <a:p>
                  <a:pPr algn="l"/>
                  <a:r>
                    <a:rPr lang="en-US" sz="1400" b="0" i="0" u="none" strike="noStrike" baseline="0" dirty="0">
                      <a:solidFill>
                        <a:srgbClr val="FF0000"/>
                      </a:solidFill>
                      <a:latin typeface="CMR12"/>
                    </a:rPr>
                    <a:t>4.4.3 Gradient schemes</a:t>
                  </a:r>
                  <a:endParaRPr lang="en-US" sz="1400" b="0" i="0" u="none" strike="noStrike" baseline="0" dirty="0">
                    <a:solidFill>
                      <a:srgbClr val="000000"/>
                    </a:solidFill>
                    <a:latin typeface="CMR12"/>
                  </a:endParaRPr>
                </a:p>
                <a:p>
                  <a:pPr algn="l"/>
                  <a:r>
                    <a:rPr lang="en-US" sz="1400" b="0" i="0" u="none" strike="noStrike" baseline="0" dirty="0">
                      <a:latin typeface="CMR12"/>
                    </a:rPr>
                    <a:t>4.4.4 Laplacian schemes</a:t>
                  </a:r>
                </a:p>
                <a:p>
                  <a:pPr algn="l"/>
                  <a:r>
                    <a:rPr lang="en-US" sz="1400" b="1" i="0" u="none" strike="noStrike" baseline="0" dirty="0">
                      <a:solidFill>
                        <a:srgbClr val="0000FF"/>
                      </a:solidFill>
                      <a:latin typeface="CMR12"/>
                    </a:rPr>
                    <a:t>4.4.5 Divergence schemes ____</a:t>
                  </a:r>
                </a:p>
                <a:p>
                  <a:pPr algn="l"/>
                  <a:r>
                    <a:rPr lang="en-US" sz="1400" b="0" i="0" u="none" strike="noStrike" baseline="0" dirty="0">
                      <a:latin typeface="CMR12"/>
                    </a:rPr>
                    <a:t>4.4.6 Time schemes</a:t>
                  </a:r>
                </a:p>
                <a:p>
                  <a:pPr algn="l"/>
                  <a:r>
                    <a:rPr lang="en-US" sz="1400" b="0" i="0" u="none" strike="noStrike" baseline="0" dirty="0">
                      <a:solidFill>
                        <a:srgbClr val="FF0000"/>
                      </a:solidFill>
                      <a:latin typeface="CMR12"/>
                    </a:rPr>
                    <a:t>4.4.7 Flux calculation</a:t>
                  </a:r>
                  <a:endParaRPr lang="LID4096" sz="1400" dirty="0"/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05804ECA-2ED9-6984-099E-2BC11BBAFBFA}"/>
                    </a:ext>
                  </a:extLst>
                </p:cNvPr>
                <p:cNvSpPr txBox="1"/>
                <p:nvPr/>
              </p:nvSpPr>
              <p:spPr>
                <a:xfrm>
                  <a:off x="5582193" y="4436180"/>
                  <a:ext cx="3437053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sz="1400" i="0" u="none" strike="noStrike" baseline="0" dirty="0">
                      <a:latin typeface="CMBX12"/>
                    </a:rPr>
                    <a:t>4.4.1.1 Schemes </a:t>
                  </a:r>
                  <a:r>
                    <a:rPr lang="en-GB" sz="1100" i="0" u="none" strike="noStrike" baseline="0" dirty="0">
                      <a:latin typeface="CMBX12"/>
                    </a:rPr>
                    <a:t>for strictly bounded </a:t>
                  </a:r>
                  <a:r>
                    <a:rPr lang="en-GB" sz="1400" i="0" u="none" strike="noStrike" baseline="0" dirty="0">
                      <a:latin typeface="CMBX12"/>
                    </a:rPr>
                    <a:t>scalar fields</a:t>
                  </a:r>
                </a:p>
                <a:p>
                  <a:r>
                    <a:rPr lang="en-GB" sz="1400" dirty="0"/>
                    <a:t>4.4.1.2 Schemes for vector fields</a:t>
                  </a:r>
                  <a:endParaRPr lang="LID4096" sz="1400" dirty="0"/>
                </a:p>
              </p:txBody>
            </p:sp>
          </p:grp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EBB611F-31FA-7E82-3D1E-E8B312698407}"/>
                  </a:ext>
                </a:extLst>
              </p:cNvPr>
              <p:cNvSpPr txBox="1"/>
              <p:nvPr/>
            </p:nvSpPr>
            <p:spPr>
              <a:xfrm>
                <a:off x="466985" y="1861431"/>
                <a:ext cx="240143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LID4096" sz="1400" b="1" dirty="0"/>
                  <a:t>4.4</a:t>
                </a:r>
                <a:r>
                  <a:rPr lang="pt-BR" sz="1400" b="1" dirty="0"/>
                  <a:t> </a:t>
                </a:r>
                <a:r>
                  <a:rPr lang="LID4096" sz="1400" b="1" dirty="0"/>
                  <a:t>Numerical schemes</a:t>
                </a:r>
              </a:p>
            </p:txBody>
          </p:sp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81C0F3BF-B181-A537-E58E-58BC6C347B25}"/>
                </a:ext>
              </a:extLst>
            </p:cNvPr>
            <p:cNvSpPr txBox="1"/>
            <p:nvPr/>
          </p:nvSpPr>
          <p:spPr>
            <a:xfrm>
              <a:off x="10893230" y="1181356"/>
              <a:ext cx="82769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800" dirty="0"/>
                <a:t>s</a:t>
              </a:r>
              <a:r>
                <a:rPr lang="LID4096" sz="1800" dirty="0"/>
                <a:t>h</a:t>
              </a:r>
              <a:r>
                <a:rPr lang="pt-BR" sz="1800" dirty="0"/>
                <a:t>a</a:t>
              </a:r>
              <a:r>
                <a:rPr lang="LID4096" sz="1800" dirty="0"/>
                <a:t>me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F197E54-47EE-DB80-263A-7F31B7F4E1FA}"/>
              </a:ext>
            </a:extLst>
          </p:cNvPr>
          <p:cNvGrpSpPr/>
          <p:nvPr/>
        </p:nvGrpSpPr>
        <p:grpSpPr>
          <a:xfrm>
            <a:off x="2514120" y="2009521"/>
            <a:ext cx="1674696" cy="4741265"/>
            <a:chOff x="2470575" y="1678593"/>
            <a:chExt cx="1674696" cy="4741265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7E87B253-111E-19E6-6780-2A2E4BF119A4}"/>
                </a:ext>
              </a:extLst>
            </p:cNvPr>
            <p:cNvSpPr txBox="1"/>
            <p:nvPr/>
          </p:nvSpPr>
          <p:spPr>
            <a:xfrm>
              <a:off x="2470575" y="1678593"/>
              <a:ext cx="153162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400" b="1" i="0" u="none" strike="noStrike" baseline="0" dirty="0">
                  <a:latin typeface="CMBX12"/>
                </a:rPr>
                <a:t>4.4.1.2 - Fields</a:t>
              </a:r>
              <a:endParaRPr lang="LID4096" sz="1400" b="1" dirty="0"/>
            </a:p>
          </p:txBody>
        </p:sp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FFAEBF87-539D-20D9-4F80-4EF9DB7838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527836" y="2022253"/>
              <a:ext cx="1617435" cy="4397605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9D1D8CB-3A3A-C44A-B394-7B5AFF6853BD}"/>
              </a:ext>
            </a:extLst>
          </p:cNvPr>
          <p:cNvGrpSpPr/>
          <p:nvPr/>
        </p:nvGrpSpPr>
        <p:grpSpPr>
          <a:xfrm>
            <a:off x="8045973" y="4302425"/>
            <a:ext cx="2182711" cy="2284728"/>
            <a:chOff x="8002428" y="3971497"/>
            <a:chExt cx="2182711" cy="2284728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5AE55C75-6861-CE01-B6C9-08EEE101D44C}"/>
                </a:ext>
              </a:extLst>
            </p:cNvPr>
            <p:cNvGrpSpPr/>
            <p:nvPr/>
          </p:nvGrpSpPr>
          <p:grpSpPr>
            <a:xfrm>
              <a:off x="8002428" y="3971497"/>
              <a:ext cx="1816050" cy="1913134"/>
              <a:chOff x="8761022" y="4136747"/>
              <a:chExt cx="1816050" cy="1913134"/>
            </a:xfrm>
          </p:grpSpPr>
          <p:pic>
            <p:nvPicPr>
              <p:cNvPr id="40" name="Picture 39">
                <a:extLst>
                  <a:ext uri="{FF2B5EF4-FFF2-40B4-BE49-F238E27FC236}">
                    <a16:creationId xmlns:a16="http://schemas.microsoft.com/office/drawing/2014/main" id="{7688DBC2-D7FB-AB52-E50A-23E03446F62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790344" y="4493997"/>
                <a:ext cx="1670077" cy="1555884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F3D61708-0FD9-BA45-EA64-6C717A7BD0C5}"/>
                  </a:ext>
                </a:extLst>
              </p:cNvPr>
              <p:cNvSpPr txBox="1"/>
              <p:nvPr/>
            </p:nvSpPr>
            <p:spPr>
              <a:xfrm>
                <a:off x="8761022" y="4136747"/>
                <a:ext cx="181605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400" b="1" dirty="0"/>
                  <a:t>4.4.6  </a:t>
                </a:r>
                <a:r>
                  <a:rPr lang="LID4096" sz="1400" b="1" dirty="0"/>
                  <a:t>ddtSchemes</a:t>
                </a:r>
                <a:r>
                  <a:rPr lang="pt-BR" sz="1400" b="1" dirty="0"/>
                  <a:t> *</a:t>
                </a:r>
                <a:endParaRPr lang="LID4096" sz="1400" b="1" dirty="0"/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5A69B27-B046-3860-16F2-801FF63BBB01}"/>
                </a:ext>
              </a:extLst>
            </p:cNvPr>
            <p:cNvSpPr txBox="1"/>
            <p:nvPr/>
          </p:nvSpPr>
          <p:spPr>
            <a:xfrm>
              <a:off x="8031750" y="5948448"/>
              <a:ext cx="2153389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LID4096"/>
              </a:defPPr>
              <a:lvl1pPr>
                <a:defRPr sz="1400" b="1"/>
              </a:lvl1pPr>
            </a:lstStyle>
            <a:p>
              <a:r>
                <a:rPr lang="en-US" dirty="0"/>
                <a:t>4.4.7 Flux calculation</a:t>
              </a:r>
              <a:endParaRPr lang="LID4096" dirty="0"/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E2FC024E-644F-BE9A-7DA0-AC1D7004B15C}"/>
              </a:ext>
            </a:extLst>
          </p:cNvPr>
          <p:cNvSpPr txBox="1"/>
          <p:nvPr/>
        </p:nvSpPr>
        <p:spPr>
          <a:xfrm>
            <a:off x="9538069" y="2644397"/>
            <a:ext cx="2197728" cy="830997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pt-BR" sz="1600" dirty="0"/>
              <a:t>115   controlDict  (4.3)</a:t>
            </a:r>
          </a:p>
          <a:p>
            <a:r>
              <a:rPr lang="pt-BR" sz="1600" b="1" u="sng" dirty="0"/>
              <a:t>118   </a:t>
            </a:r>
            <a:r>
              <a:rPr lang="pt-BR" sz="1600" b="1" u="sng" dirty="0" err="1"/>
              <a:t>fvSchemes</a:t>
            </a:r>
            <a:r>
              <a:rPr lang="pt-BR" sz="1600" b="1" u="sng" dirty="0"/>
              <a:t> (4.4)</a:t>
            </a:r>
          </a:p>
          <a:p>
            <a:r>
              <a:rPr lang="pt-BR" sz="1600" dirty="0"/>
              <a:t>125   </a:t>
            </a:r>
            <a:r>
              <a:rPr lang="LID4096" sz="1600" dirty="0"/>
              <a:t>fvSolution</a:t>
            </a:r>
            <a:r>
              <a:rPr lang="pt-BR" sz="1600" dirty="0"/>
              <a:t> (4.5)</a:t>
            </a:r>
            <a:endParaRPr lang="LID4096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CADF93-E35D-E5B1-6A7A-CF65FDC9C914}"/>
              </a:ext>
            </a:extLst>
          </p:cNvPr>
          <p:cNvSpPr txBox="1"/>
          <p:nvPr/>
        </p:nvSpPr>
        <p:spPr>
          <a:xfrm>
            <a:off x="10447699" y="6620832"/>
            <a:ext cx="176778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pPr algn="r"/>
            <a:r>
              <a:rPr lang="en-US" sz="1000">
                <a:solidFill>
                  <a:srgbClr val="FF0000"/>
                </a:solidFill>
              </a:rPr>
              <a:t>UserGuide</a:t>
            </a:r>
            <a:r>
              <a:rPr lang="en-US" sz="1000" dirty="0">
                <a:solidFill>
                  <a:srgbClr val="FF0000"/>
                </a:solidFill>
              </a:rPr>
              <a:t>_Version 2.3.1</a:t>
            </a:r>
            <a:endParaRPr lang="LID4096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4031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BE64D0D-15AC-BFBC-FE60-CD4B0A346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04" y="320720"/>
            <a:ext cx="5852568" cy="490442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1ADD47B-DAAB-1D48-CF2D-A7A3230D9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1842" y="320720"/>
            <a:ext cx="4803819" cy="207914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E9797EDE-A0FE-7AEA-62AF-ACF4E3FA2401}"/>
              </a:ext>
            </a:extLst>
          </p:cNvPr>
          <p:cNvGrpSpPr/>
          <p:nvPr/>
        </p:nvGrpSpPr>
        <p:grpSpPr>
          <a:xfrm>
            <a:off x="7588271" y="2506479"/>
            <a:ext cx="3971925" cy="2607508"/>
            <a:chOff x="7506379" y="2712689"/>
            <a:chExt cx="3971925" cy="2607508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37CF51D-F218-21D2-AADF-0DEC12E749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06379" y="2712689"/>
              <a:ext cx="3971925" cy="1209675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5D8271E0-7942-D526-5396-C402A3062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84" r="-1"/>
            <a:stretch>
              <a:fillRect/>
            </a:stretch>
          </p:blipFill>
          <p:spPr>
            <a:xfrm>
              <a:off x="9182099" y="3881922"/>
              <a:ext cx="2296205" cy="1438275"/>
            </a:xfrm>
            <a:prstGeom prst="rect">
              <a:avLst/>
            </a:prstGeom>
          </p:spPr>
        </p:pic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18B147F-BF7E-C107-7527-094AC7864E71}"/>
              </a:ext>
            </a:extLst>
          </p:cNvPr>
          <p:cNvSpPr txBox="1"/>
          <p:nvPr/>
        </p:nvSpPr>
        <p:spPr>
          <a:xfrm>
            <a:off x="6428355" y="4348604"/>
            <a:ext cx="3297191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onsolas" panose="020B0609020204030204" pitchFamily="49" charset="0"/>
              </a:rPr>
              <a:t>5.3 Convergence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5.4 Residual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5.5 Diagonal dominance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5.6 Under-relaxation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5.7 Iterative solution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5.8 Accelerating convergence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5.9 Systems of equations (113)</a:t>
            </a:r>
          </a:p>
          <a:p>
            <a:r>
              <a:rPr lang="en-US" sz="1400" dirty="0">
                <a:latin typeface="Consolas" panose="020B0609020204030204" pitchFamily="49" charset="0"/>
              </a:rPr>
              <a:t>5.10 Pressure-velocity coupling</a:t>
            </a:r>
            <a:endParaRPr lang="LID4096" sz="1400" dirty="0"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ADD443-7182-A131-552B-3CDD85AFCC05}"/>
              </a:ext>
            </a:extLst>
          </p:cNvPr>
          <p:cNvSpPr txBox="1"/>
          <p:nvPr/>
        </p:nvSpPr>
        <p:spPr>
          <a:xfrm>
            <a:off x="6419643" y="3921771"/>
            <a:ext cx="28443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>
              <a:defRPr>
                <a:solidFill>
                  <a:srgbClr val="0000FF"/>
                </a:solidFill>
                <a:latin typeface="Consolas" panose="020B0609020204030204" pitchFamily="49" charset="0"/>
              </a:defRPr>
            </a:lvl1pPr>
          </a:lstStyle>
          <a:p>
            <a:r>
              <a:rPr lang="en-US" sz="1400" dirty="0">
                <a:solidFill>
                  <a:schemeClr val="tx1"/>
                </a:solidFill>
              </a:rPr>
              <a:t>5.1 Structure of matrices</a:t>
            </a:r>
          </a:p>
          <a:p>
            <a:r>
              <a:rPr lang="en-US" sz="1400" b="1" dirty="0"/>
              <a:t>5.2 Gauss-Seidel method</a:t>
            </a:r>
            <a:endParaRPr lang="LID4096" sz="14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032843-DBC9-13C2-6C4E-D32B660B34BD}"/>
              </a:ext>
            </a:extLst>
          </p:cNvPr>
          <p:cNvSpPr txBox="1"/>
          <p:nvPr/>
        </p:nvSpPr>
        <p:spPr>
          <a:xfrm>
            <a:off x="61404" y="5405015"/>
            <a:ext cx="3257006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>
              <a:defRPr sz="1400">
                <a:latin typeface="Consolas" panose="020B0609020204030204" pitchFamily="49" charset="0"/>
              </a:defRPr>
            </a:lvl1pPr>
          </a:lstStyle>
          <a:p>
            <a:r>
              <a:rPr lang="LID4096" b="1" dirty="0">
                <a:solidFill>
                  <a:srgbClr val="0000FF"/>
                </a:solidFill>
              </a:rPr>
              <a:t>5.14 Descent methods</a:t>
            </a:r>
            <a:endParaRPr lang="pt-BR" b="1" dirty="0">
              <a:solidFill>
                <a:srgbClr val="0000FF"/>
              </a:solidFill>
            </a:endParaRPr>
          </a:p>
          <a:p>
            <a:r>
              <a:rPr lang="en-US" b="1" dirty="0">
                <a:solidFill>
                  <a:srgbClr val="0000FF"/>
                </a:solidFill>
              </a:rPr>
              <a:t>5.15 Conjugate gradient method</a:t>
            </a:r>
          </a:p>
          <a:p>
            <a:r>
              <a:rPr lang="en-US" sz="1200" dirty="0"/>
              <a:t>5.16 Preconditioning and asymmetry</a:t>
            </a:r>
          </a:p>
          <a:p>
            <a:r>
              <a:rPr lang="en-US" sz="1200" dirty="0"/>
              <a:t>5.17 Multi-grid method</a:t>
            </a:r>
          </a:p>
          <a:p>
            <a:r>
              <a:rPr lang="en-US" sz="1200" dirty="0"/>
              <a:t>5.18 GAMG method</a:t>
            </a:r>
          </a:p>
          <a:p>
            <a:endParaRPr lang="en-US" sz="1200" dirty="0"/>
          </a:p>
          <a:p>
            <a:r>
              <a:rPr lang="en-GB" sz="1100" b="1" dirty="0"/>
              <a:t>5.23 Summary of algorithms and solvers</a:t>
            </a:r>
            <a:endParaRPr lang="LID4096" sz="10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FA67212A-48C7-22CC-7079-D56F93B221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8410" y="5405015"/>
            <a:ext cx="2951762" cy="129616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9F094AF-BA1E-C2B8-40C6-2378FDF287E2}"/>
              </a:ext>
            </a:extLst>
          </p:cNvPr>
          <p:cNvSpPr txBox="1"/>
          <p:nvPr/>
        </p:nvSpPr>
        <p:spPr>
          <a:xfrm>
            <a:off x="6862081" y="6383391"/>
            <a:ext cx="46981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LID4096"/>
            </a:defPPr>
            <a:lvl1pPr>
              <a:defRPr sz="1400">
                <a:latin typeface="Consolas" panose="020B0609020204030204" pitchFamily="49" charset="0"/>
              </a:defRPr>
            </a:lvl1pPr>
          </a:lstStyle>
          <a:p>
            <a:r>
              <a:rPr lang="pt-BR" dirty="0">
                <a:solidFill>
                  <a:srgbClr val="FF0000"/>
                </a:solidFill>
              </a:rPr>
              <a:t>131   </a:t>
            </a:r>
            <a:r>
              <a:rPr lang="LID4096" dirty="0">
                <a:solidFill>
                  <a:srgbClr val="FF0000"/>
                </a:solidFill>
              </a:rPr>
              <a:t>Chapter 6 Introduction to Turbulence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E14254-5037-175F-E141-2798B8728D12}"/>
              </a:ext>
            </a:extLst>
          </p:cNvPr>
          <p:cNvSpPr txBox="1"/>
          <p:nvPr/>
        </p:nvSpPr>
        <p:spPr>
          <a:xfrm>
            <a:off x="417604" y="4868207"/>
            <a:ext cx="27426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r>
              <a:rPr lang="en-US" sz="2000" dirty="0">
                <a:solidFill>
                  <a:srgbClr val="FF0000"/>
                </a:solidFill>
              </a:rPr>
              <a:t>103 Notes on CFD</a:t>
            </a:r>
            <a:endParaRPr lang="LID4096" sz="20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F86CA6-0CFE-7BE7-C113-5184AEFD9474}"/>
              </a:ext>
            </a:extLst>
          </p:cNvPr>
          <p:cNvSpPr txBox="1"/>
          <p:nvPr/>
        </p:nvSpPr>
        <p:spPr>
          <a:xfrm>
            <a:off x="10800784" y="6620832"/>
            <a:ext cx="1414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pPr algn="r"/>
            <a:r>
              <a:rPr lang="en-US" sz="1000" dirty="0">
                <a:solidFill>
                  <a:srgbClr val="FF0000"/>
                </a:solidFill>
              </a:rPr>
              <a:t>Notes on CFD</a:t>
            </a:r>
            <a:endParaRPr lang="LID4096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688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8F61C5-18EE-A7D7-02D7-EB5A270B5D37}"/>
              </a:ext>
            </a:extLst>
          </p:cNvPr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225" y="290647"/>
            <a:ext cx="4038600" cy="2781300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E652475-B117-FE9A-104F-86AFC7CDA7E2}"/>
              </a:ext>
            </a:extLst>
          </p:cNvPr>
          <p:cNvGrpSpPr>
            <a:grpSpLocks noChangeAspect="1"/>
          </p:cNvGrpSpPr>
          <p:nvPr/>
        </p:nvGrpSpPr>
        <p:grpSpPr>
          <a:xfrm>
            <a:off x="6042506" y="290648"/>
            <a:ext cx="4391514" cy="5601106"/>
            <a:chOff x="6368427" y="290647"/>
            <a:chExt cx="5049235" cy="643998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E9A04FC-7F41-48DA-50BE-73C74F4CC9C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68427" y="290647"/>
              <a:ext cx="5049235" cy="6439989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4C9A2E6-CF02-4D29-C64C-3A8212A15186}"/>
                </a:ext>
              </a:extLst>
            </p:cNvPr>
            <p:cNvSpPr txBox="1"/>
            <p:nvPr/>
          </p:nvSpPr>
          <p:spPr>
            <a:xfrm>
              <a:off x="6368427" y="6438248"/>
              <a:ext cx="1942419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r>
                <a:rPr lang="en-US" sz="1300" dirty="0">
                  <a:solidFill>
                    <a:srgbClr val="FF0000"/>
                  </a:solidFill>
                </a:rPr>
                <a:t>118</a:t>
              </a:r>
              <a:endParaRPr lang="LID4096" sz="1300" dirty="0">
                <a:solidFill>
                  <a:srgbClr val="FF0000"/>
                </a:solidFill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5EABAD32-45ED-7EFA-5726-78C87DAEF978}"/>
              </a:ext>
            </a:extLst>
          </p:cNvPr>
          <p:cNvSpPr txBox="1"/>
          <p:nvPr/>
        </p:nvSpPr>
        <p:spPr>
          <a:xfrm>
            <a:off x="10800784" y="6620832"/>
            <a:ext cx="14146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pPr algn="r"/>
            <a:r>
              <a:rPr lang="en-US" sz="1000" dirty="0">
                <a:solidFill>
                  <a:srgbClr val="FF0000"/>
                </a:solidFill>
              </a:rPr>
              <a:t>Notes on CFD</a:t>
            </a:r>
            <a:endParaRPr lang="LID4096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1991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D59D454-DF35-2889-2CD2-4B72F8196D92}"/>
              </a:ext>
            </a:extLst>
          </p:cNvPr>
          <p:cNvGrpSpPr/>
          <p:nvPr/>
        </p:nvGrpSpPr>
        <p:grpSpPr>
          <a:xfrm>
            <a:off x="206610" y="256959"/>
            <a:ext cx="5842328" cy="981075"/>
            <a:chOff x="774910" y="964818"/>
            <a:chExt cx="5842328" cy="981075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8B485B4-64C2-2AEA-0B07-7255E2D72F73}"/>
                </a:ext>
              </a:extLst>
            </p:cNvPr>
            <p:cNvGrpSpPr/>
            <p:nvPr/>
          </p:nvGrpSpPr>
          <p:grpSpPr>
            <a:xfrm>
              <a:off x="774910" y="964818"/>
              <a:ext cx="5842328" cy="981075"/>
              <a:chOff x="470263" y="210586"/>
              <a:chExt cx="5842328" cy="981075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0B246C50-790A-2AEE-A60B-15E9083012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2193"/>
              <a:stretch>
                <a:fillRect/>
              </a:stretch>
            </p:blipFill>
            <p:spPr>
              <a:xfrm>
                <a:off x="470263" y="210586"/>
                <a:ext cx="5254261" cy="981075"/>
              </a:xfrm>
              <a:prstGeom prst="rect">
                <a:avLst/>
              </a:prstGeom>
            </p:spPr>
          </p:pic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6CBD9EE-C6CF-2127-6F7B-F4A6124F4D7E}"/>
                  </a:ext>
                </a:extLst>
              </p:cNvPr>
              <p:cNvSpPr txBox="1"/>
              <p:nvPr/>
            </p:nvSpPr>
            <p:spPr>
              <a:xfrm>
                <a:off x="5862538" y="478371"/>
                <a:ext cx="45005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pPr algn="ctr"/>
                <a:r>
                  <a:rPr lang="en-GB" sz="1400" noProof="0" dirty="0"/>
                  <a:t>2.3</a:t>
                </a:r>
                <a:endParaRPr lang="en-GB" sz="2000" noProof="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9" name="Straight Connector 8">
                <a:extLst>
                  <a:ext uri="{FF2B5EF4-FFF2-40B4-BE49-F238E27FC236}">
                    <a16:creationId xmlns:a16="http://schemas.microsoft.com/office/drawing/2014/main" id="{5F931735-2841-85C6-C381-428F9F7C6D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7085" y="1019532"/>
                <a:ext cx="1255638" cy="0"/>
              </a:xfrm>
              <a:prstGeom prst="line">
                <a:avLst/>
              </a:prstGeom>
              <a:ln>
                <a:solidFill>
                  <a:srgbClr val="0000FF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692C821B-E0C8-800D-429E-C7ED471821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59925" y="1018884"/>
                <a:ext cx="1185440" cy="64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12308BB-C489-9EDD-41FB-418F7778AD63}"/>
                </a:ext>
              </a:extLst>
            </p:cNvPr>
            <p:cNvSpPr/>
            <p:nvPr/>
          </p:nvSpPr>
          <p:spPr>
            <a:xfrm>
              <a:off x="3408374" y="1157807"/>
              <a:ext cx="283357" cy="240638"/>
            </a:xfrm>
            <a:prstGeom prst="rect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4CB8FB0B-6FFE-7AB1-6F77-1714233E6C1A}"/>
              </a:ext>
            </a:extLst>
          </p:cNvPr>
          <p:cNvSpPr/>
          <p:nvPr/>
        </p:nvSpPr>
        <p:spPr>
          <a:xfrm>
            <a:off x="1460797" y="193741"/>
            <a:ext cx="1418273" cy="981075"/>
          </a:xfrm>
          <a:prstGeom prst="rect">
            <a:avLst/>
          </a:prstGeom>
          <a:solidFill>
            <a:schemeClr val="accent2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BF1DA43-37EC-D490-6607-8A609E2389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365"/>
          <a:stretch>
            <a:fillRect/>
          </a:stretch>
        </p:blipFill>
        <p:spPr>
          <a:xfrm>
            <a:off x="9009" y="1207192"/>
            <a:ext cx="7536588" cy="8763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04E163B-E288-D73C-3CD8-25EB42253E31}"/>
              </a:ext>
            </a:extLst>
          </p:cNvPr>
          <p:cNvSpPr/>
          <p:nvPr/>
        </p:nvSpPr>
        <p:spPr>
          <a:xfrm>
            <a:off x="300065" y="1303040"/>
            <a:ext cx="1835772" cy="692843"/>
          </a:xfrm>
          <a:prstGeom prst="rect">
            <a:avLst/>
          </a:prstGeom>
          <a:solidFill>
            <a:schemeClr val="accent2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BE3ABD-14D0-A98B-34D5-D5BCBC214B84}"/>
              </a:ext>
            </a:extLst>
          </p:cNvPr>
          <p:cNvSpPr txBox="1"/>
          <p:nvPr/>
        </p:nvSpPr>
        <p:spPr>
          <a:xfrm>
            <a:off x="7483054" y="1385593"/>
            <a:ext cx="7071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pPr algn="ctr"/>
            <a:r>
              <a:rPr lang="en-GB" sz="1400" noProof="0" dirty="0"/>
              <a:t>2.12</a:t>
            </a:r>
            <a:endParaRPr lang="en-GB" sz="2000" noProof="0" dirty="0">
              <a:solidFill>
                <a:srgbClr val="FF0000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2C15586-662C-9A88-98BB-6DB6542F249E}"/>
              </a:ext>
            </a:extLst>
          </p:cNvPr>
          <p:cNvGrpSpPr/>
          <p:nvPr/>
        </p:nvGrpSpPr>
        <p:grpSpPr>
          <a:xfrm>
            <a:off x="8350944" y="105148"/>
            <a:ext cx="3565688" cy="476250"/>
            <a:chOff x="6579218" y="1414866"/>
            <a:chExt cx="3565688" cy="47625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1960CB2-F941-9D10-8115-D3690AA8C4D4}"/>
                </a:ext>
              </a:extLst>
            </p:cNvPr>
            <p:cNvSpPr txBox="1"/>
            <p:nvPr/>
          </p:nvSpPr>
          <p:spPr>
            <a:xfrm>
              <a:off x="9711724" y="1499103"/>
              <a:ext cx="4331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pPr algn="ctr"/>
              <a:r>
                <a:rPr lang="en-GB" sz="1400" noProof="0" dirty="0"/>
                <a:t>2.5</a:t>
              </a:r>
              <a:endParaRPr lang="en-GB" sz="2000" noProof="0" dirty="0">
                <a:solidFill>
                  <a:srgbClr val="FF0000"/>
                </a:solidFill>
              </a:endParaRPr>
            </a:p>
          </p:txBody>
        </p:sp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3E5FD0E-33F4-124F-E38F-14709F97C5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79218" y="1414866"/>
              <a:ext cx="3038475" cy="476250"/>
            </a:xfrm>
            <a:prstGeom prst="rect">
              <a:avLst/>
            </a:prstGeom>
            <a:ln w="38100">
              <a:solidFill>
                <a:srgbClr val="FFC000"/>
              </a:solidFill>
            </a:ln>
          </p:spPr>
        </p:pic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50846064-75EC-9962-5700-DD95B3D972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5203" y="2082185"/>
            <a:ext cx="5772150" cy="828675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CE7C1423-F0BF-2DA2-AD07-C546A5782BF3}"/>
              </a:ext>
            </a:extLst>
          </p:cNvPr>
          <p:cNvSpPr/>
          <p:nvPr/>
        </p:nvSpPr>
        <p:spPr>
          <a:xfrm>
            <a:off x="3093657" y="189385"/>
            <a:ext cx="1255639" cy="981075"/>
          </a:xfrm>
          <a:prstGeom prst="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26CAD9-D01B-0164-8F35-6D7ABB97E2A3}"/>
              </a:ext>
            </a:extLst>
          </p:cNvPr>
          <p:cNvSpPr/>
          <p:nvPr/>
        </p:nvSpPr>
        <p:spPr>
          <a:xfrm>
            <a:off x="287510" y="2081144"/>
            <a:ext cx="2163574" cy="704939"/>
          </a:xfrm>
          <a:prstGeom prst="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1AC235-523C-6E1F-72BA-BC85C2E268F6}"/>
              </a:ext>
            </a:extLst>
          </p:cNvPr>
          <p:cNvSpPr txBox="1"/>
          <p:nvPr/>
        </p:nvSpPr>
        <p:spPr>
          <a:xfrm>
            <a:off x="6080398" y="2253086"/>
            <a:ext cx="7071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pPr algn="ctr"/>
            <a:r>
              <a:rPr lang="en-GB" sz="1400" noProof="0" dirty="0"/>
              <a:t>2.13</a:t>
            </a:r>
            <a:endParaRPr lang="en-GB" sz="2000" noProof="0" dirty="0">
              <a:solidFill>
                <a:srgbClr val="FF0000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1805535-76A3-D83B-0845-656082C8CF28}"/>
              </a:ext>
            </a:extLst>
          </p:cNvPr>
          <p:cNvGrpSpPr/>
          <p:nvPr/>
        </p:nvGrpSpPr>
        <p:grpSpPr>
          <a:xfrm>
            <a:off x="8333747" y="638114"/>
            <a:ext cx="2092436" cy="526554"/>
            <a:chOff x="9586258" y="3255625"/>
            <a:chExt cx="2092436" cy="526554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566CBBCF-1978-0B47-A2EA-C171ACDAE0C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586258" y="3305929"/>
              <a:ext cx="1372420" cy="476250"/>
            </a:xfrm>
            <a:prstGeom prst="rect">
              <a:avLst/>
            </a:prstGeom>
            <a:ln w="38100">
              <a:solidFill>
                <a:srgbClr val="FFC000"/>
              </a:solidFill>
            </a:ln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60952EE-DBA3-1E54-09BC-175182713AA6}"/>
                </a:ext>
              </a:extLst>
            </p:cNvPr>
            <p:cNvSpPr txBox="1"/>
            <p:nvPr/>
          </p:nvSpPr>
          <p:spPr>
            <a:xfrm>
              <a:off x="10971497" y="3255625"/>
              <a:ext cx="7071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pPr algn="ctr"/>
              <a:r>
                <a:rPr lang="en-GB" sz="1400" noProof="0" dirty="0"/>
                <a:t>2.24</a:t>
              </a:r>
              <a:endParaRPr lang="en-GB" sz="2000" noProof="0" dirty="0">
                <a:solidFill>
                  <a:srgbClr val="FF0000"/>
                </a:solidFill>
              </a:endParaRPr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B8665B11-2612-E8B2-918C-E3C0A30CD58E}"/>
              </a:ext>
            </a:extLst>
          </p:cNvPr>
          <p:cNvSpPr/>
          <p:nvPr/>
        </p:nvSpPr>
        <p:spPr>
          <a:xfrm>
            <a:off x="5162512" y="2253087"/>
            <a:ext cx="917886" cy="32937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42A7C29-4B5F-D857-B978-1C89D0A7F934}"/>
              </a:ext>
            </a:extLst>
          </p:cNvPr>
          <p:cNvGrpSpPr/>
          <p:nvPr/>
        </p:nvGrpSpPr>
        <p:grpSpPr>
          <a:xfrm>
            <a:off x="278430" y="2678657"/>
            <a:ext cx="5794101" cy="677665"/>
            <a:chOff x="2738233" y="3515902"/>
            <a:chExt cx="5794101" cy="677665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8CBC66F8-764E-245A-1B27-C862D9351352}"/>
                </a:ext>
              </a:extLst>
            </p:cNvPr>
            <p:cNvGrpSpPr/>
            <p:nvPr/>
          </p:nvGrpSpPr>
          <p:grpSpPr>
            <a:xfrm>
              <a:off x="2738233" y="3515902"/>
              <a:ext cx="5794101" cy="677665"/>
              <a:chOff x="4319451" y="4459509"/>
              <a:chExt cx="5794101" cy="677665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4915BB76-8BA5-0D8A-F3EA-F511B86730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319451" y="4597026"/>
                <a:ext cx="5045936" cy="540148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D6B0045-F4C5-9A48-F47C-CD99606DE5AB}"/>
                  </a:ext>
                </a:extLst>
              </p:cNvPr>
              <p:cNvSpPr txBox="1"/>
              <p:nvPr/>
            </p:nvSpPr>
            <p:spPr>
              <a:xfrm>
                <a:off x="9121988" y="4459509"/>
                <a:ext cx="7071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pPr algn="ctr"/>
                <a:r>
                  <a:rPr lang="en-GB" sz="1400" noProof="0" dirty="0"/>
                  <a:t>2.24</a:t>
                </a:r>
                <a:endParaRPr lang="en-GB" sz="2000" noProof="0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76D81FB-437C-2AE3-BC18-74965FEDC81A}"/>
                  </a:ext>
                </a:extLst>
              </p:cNvPr>
              <p:cNvSpPr txBox="1"/>
              <p:nvPr/>
            </p:nvSpPr>
            <p:spPr>
              <a:xfrm>
                <a:off x="8995012" y="4681857"/>
                <a:ext cx="111854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pPr algn="ctr"/>
                <a:r>
                  <a:rPr lang="en-GB" sz="1400" noProof="0" dirty="0"/>
                  <a:t>Implicit</a:t>
                </a:r>
                <a:endParaRPr lang="en-GB" sz="2000" noProof="0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C28404E-E2D1-5A5C-D79E-E30C6156DD66}"/>
                </a:ext>
              </a:extLst>
            </p:cNvPr>
            <p:cNvSpPr/>
            <p:nvPr/>
          </p:nvSpPr>
          <p:spPr>
            <a:xfrm>
              <a:off x="2784614" y="3703594"/>
              <a:ext cx="917886" cy="329374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B3D8D72A-9684-8C76-3C7F-5D0BCEFA481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2754" y="3243821"/>
            <a:ext cx="4939813" cy="604875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BEC450B5-A879-2060-DB45-05F90FC54B6A}"/>
              </a:ext>
            </a:extLst>
          </p:cNvPr>
          <p:cNvSpPr txBox="1"/>
          <p:nvPr/>
        </p:nvSpPr>
        <p:spPr>
          <a:xfrm>
            <a:off x="5104436" y="3184949"/>
            <a:ext cx="7071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pPr algn="ctr"/>
            <a:r>
              <a:rPr lang="en-GB" sz="1400" noProof="0"/>
              <a:t>2.28</a:t>
            </a:r>
            <a:endParaRPr lang="en-GB" sz="2000" noProof="0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B1C65FD-9BC5-8682-52E2-EA76382EE6EE}"/>
              </a:ext>
            </a:extLst>
          </p:cNvPr>
          <p:cNvSpPr txBox="1"/>
          <p:nvPr/>
        </p:nvSpPr>
        <p:spPr>
          <a:xfrm>
            <a:off x="4977460" y="3407297"/>
            <a:ext cx="11185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pPr algn="ctr"/>
            <a:r>
              <a:rPr lang="en-GB" sz="1400" noProof="0" dirty="0"/>
              <a:t>Explicit</a:t>
            </a:r>
            <a:endParaRPr lang="en-GB" sz="2000" noProof="0" dirty="0">
              <a:solidFill>
                <a:srgbClr val="FF0000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1A62D55-1951-E241-B307-7021A37C1362}"/>
              </a:ext>
            </a:extLst>
          </p:cNvPr>
          <p:cNvSpPr/>
          <p:nvPr/>
        </p:nvSpPr>
        <p:spPr>
          <a:xfrm>
            <a:off x="278430" y="3315491"/>
            <a:ext cx="917886" cy="329374"/>
          </a:xfrm>
          <a:prstGeom prst="rect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1C29BE1A-B6CB-585D-96CD-6DF5717529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7510" y="4593436"/>
            <a:ext cx="2686050" cy="73342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FBAE01BC-DB8A-3F12-D6AF-F129A567ED2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396" t="16678" r="5821" b="22982"/>
          <a:stretch>
            <a:fillRect/>
          </a:stretch>
        </p:blipFill>
        <p:spPr>
          <a:xfrm>
            <a:off x="287510" y="5374733"/>
            <a:ext cx="1241425" cy="327602"/>
          </a:xfrm>
          <a:prstGeom prst="rect">
            <a:avLst/>
          </a:prstGeom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30B2D314-A52A-DD64-2AEC-9E10A85F0BD3}"/>
              </a:ext>
            </a:extLst>
          </p:cNvPr>
          <p:cNvGrpSpPr/>
          <p:nvPr/>
        </p:nvGrpSpPr>
        <p:grpSpPr>
          <a:xfrm>
            <a:off x="109036" y="3799548"/>
            <a:ext cx="6381446" cy="743374"/>
            <a:chOff x="1416932" y="4026716"/>
            <a:chExt cx="6381446" cy="743374"/>
          </a:xfrm>
        </p:grpSpPr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5371B5A0-D4FF-22FB-5DD2-84F94C698F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416932" y="4026716"/>
              <a:ext cx="5623901" cy="659830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ECA4F21-C21D-1349-0F99-244212D4D717}"/>
                </a:ext>
              </a:extLst>
            </p:cNvPr>
            <p:cNvSpPr txBox="1"/>
            <p:nvPr/>
          </p:nvSpPr>
          <p:spPr>
            <a:xfrm>
              <a:off x="6862270" y="4224564"/>
              <a:ext cx="70719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pPr algn="ctr"/>
              <a:r>
                <a:rPr lang="en-GB" sz="1400" noProof="0" dirty="0"/>
                <a:t>2.29</a:t>
              </a:r>
              <a:endParaRPr lang="en-GB" sz="2000" noProof="0" dirty="0">
                <a:solidFill>
                  <a:srgbClr val="FF0000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1AED8BD-D45B-9B9E-35A6-7DE73B65EB87}"/>
                </a:ext>
              </a:extLst>
            </p:cNvPr>
            <p:cNvSpPr/>
            <p:nvPr/>
          </p:nvSpPr>
          <p:spPr>
            <a:xfrm>
              <a:off x="4421713" y="4182921"/>
              <a:ext cx="839287" cy="329374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4FD8C80C-B04C-CB5A-2D5E-BE1D80337EE1}"/>
                </a:ext>
              </a:extLst>
            </p:cNvPr>
            <p:cNvSpPr txBox="1"/>
            <p:nvPr/>
          </p:nvSpPr>
          <p:spPr>
            <a:xfrm>
              <a:off x="4412475" y="4493091"/>
              <a:ext cx="33859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pPr algn="ctr"/>
              <a:r>
                <a:rPr lang="en-GB" sz="1200" noProof="0" dirty="0"/>
                <a:t>Discretized Standard transport equation</a:t>
              </a:r>
              <a:endParaRPr lang="en-GB" sz="1800" noProof="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53" name="Picture 52">
            <a:extLst>
              <a:ext uri="{FF2B5EF4-FFF2-40B4-BE49-F238E27FC236}">
                <a16:creationId xmlns:a16="http://schemas.microsoft.com/office/drawing/2014/main" id="{2B26C39B-0C31-1EAC-2FE2-3754A26F35AF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5233" t="21526" r="7796" b="16334"/>
          <a:stretch>
            <a:fillRect/>
          </a:stretch>
        </p:blipFill>
        <p:spPr>
          <a:xfrm>
            <a:off x="1749648" y="5141708"/>
            <a:ext cx="1381124" cy="260473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6D8ED021-EB24-CCD4-5EF8-3FA2E81B84C5}"/>
              </a:ext>
            </a:extLst>
          </p:cNvPr>
          <p:cNvSpPr txBox="1"/>
          <p:nvPr/>
        </p:nvSpPr>
        <p:spPr>
          <a:xfrm>
            <a:off x="3113817" y="4655445"/>
            <a:ext cx="8743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pPr algn="ctr"/>
            <a:r>
              <a:rPr lang="en-GB" sz="1400" noProof="0" dirty="0">
                <a:solidFill>
                  <a:srgbClr val="FF0000"/>
                </a:solidFill>
              </a:rPr>
              <a:t>2.30 (p88) 83</a:t>
            </a:r>
            <a:endParaRPr lang="en-GB" sz="2000" noProof="0" dirty="0">
              <a:solidFill>
                <a:srgbClr val="FF0000"/>
              </a:solidFill>
            </a:endParaRP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9F61F10-2CFD-872C-7841-235203262328}"/>
              </a:ext>
            </a:extLst>
          </p:cNvPr>
          <p:cNvGrpSpPr/>
          <p:nvPr/>
        </p:nvGrpSpPr>
        <p:grpSpPr>
          <a:xfrm>
            <a:off x="8604456" y="1257475"/>
            <a:ext cx="3443122" cy="834647"/>
            <a:chOff x="8604456" y="1362250"/>
            <a:chExt cx="3443122" cy="834647"/>
          </a:xfrm>
        </p:grpSpPr>
        <p:pic>
          <p:nvPicPr>
            <p:cNvPr id="69" name="Picture 68">
              <a:extLst>
                <a:ext uri="{FF2B5EF4-FFF2-40B4-BE49-F238E27FC236}">
                  <a16:creationId xmlns:a16="http://schemas.microsoft.com/office/drawing/2014/main" id="{EF9258D6-2CC8-B605-B23F-E4A28019886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8637628" y="1362250"/>
              <a:ext cx="3409950" cy="762000"/>
            </a:xfrm>
            <a:prstGeom prst="rect">
              <a:avLst/>
            </a:prstGeom>
            <a:ln w="38100">
              <a:solidFill>
                <a:srgbClr val="FFC000"/>
              </a:solidFill>
            </a:ln>
          </p:spPr>
        </p:pic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9791399E-C2B8-43C2-A77A-3C3C5BE78C7F}"/>
                </a:ext>
              </a:extLst>
            </p:cNvPr>
            <p:cNvSpPr txBox="1"/>
            <p:nvPr/>
          </p:nvSpPr>
          <p:spPr>
            <a:xfrm>
              <a:off x="8604456" y="1919898"/>
              <a:ext cx="33859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LID4096"/>
              </a:defPPr>
              <a:lvl1pPr>
                <a:defRPr sz="1050" b="1">
                  <a:solidFill>
                    <a:srgbClr val="0000FF"/>
                  </a:solidFill>
                </a:defRPr>
              </a:lvl1pPr>
            </a:lstStyle>
            <a:p>
              <a:pPr algn="r"/>
              <a:r>
                <a:rPr lang="en-GB" sz="1200" noProof="0" dirty="0"/>
                <a:t>2.11  Discretization of time derivative</a:t>
              </a:r>
              <a:endParaRPr lang="en-GB" sz="1800" noProof="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2A7C197-D56F-E91C-56C2-7C486A565DFE}"/>
              </a:ext>
            </a:extLst>
          </p:cNvPr>
          <p:cNvGrpSpPr/>
          <p:nvPr/>
        </p:nvGrpSpPr>
        <p:grpSpPr>
          <a:xfrm>
            <a:off x="6233307" y="2684972"/>
            <a:ext cx="6096000" cy="4156191"/>
            <a:chOff x="6233307" y="2684972"/>
            <a:chExt cx="6096000" cy="4156191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82D1EDA1-E538-DAD0-B9F3-56C65D09FF9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261571" y="3241771"/>
              <a:ext cx="5786007" cy="3318222"/>
              <a:chOff x="7643098" y="4224565"/>
              <a:chExt cx="4404479" cy="2525928"/>
            </a:xfrm>
          </p:grpSpPr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F7B83639-5DE8-EBF5-1C68-D31DAB1D14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643098" y="4224565"/>
                <a:ext cx="4404479" cy="2525928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518E6709-32DC-94C9-8369-220788F65EA9}"/>
                  </a:ext>
                </a:extLst>
              </p:cNvPr>
              <p:cNvSpPr/>
              <p:nvPr/>
            </p:nvSpPr>
            <p:spPr>
              <a:xfrm>
                <a:off x="7666745" y="4363491"/>
                <a:ext cx="504987" cy="276999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60821C67-FCF6-CDE2-A38A-CD633CD20CA4}"/>
                  </a:ext>
                </a:extLst>
              </p:cNvPr>
              <p:cNvSpPr/>
              <p:nvPr/>
            </p:nvSpPr>
            <p:spPr>
              <a:xfrm>
                <a:off x="8443489" y="4224565"/>
                <a:ext cx="1275497" cy="415926"/>
              </a:xfrm>
              <a:prstGeom prst="rect">
                <a:avLst/>
              </a:prstGeom>
              <a:solidFill>
                <a:srgbClr val="FF0000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/>
              </a:p>
            </p:txBody>
          </p:sp>
        </p:grpSp>
        <p:pic>
          <p:nvPicPr>
            <p:cNvPr id="68" name="Picture 67">
              <a:extLst>
                <a:ext uri="{FF2B5EF4-FFF2-40B4-BE49-F238E27FC236}">
                  <a16:creationId xmlns:a16="http://schemas.microsoft.com/office/drawing/2014/main" id="{20AB0C07-2315-C738-E8A2-D275FFB232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t="9056" b="20401"/>
            <a:stretch>
              <a:fillRect/>
            </a:stretch>
          </p:blipFill>
          <p:spPr>
            <a:xfrm>
              <a:off x="6644126" y="2684972"/>
              <a:ext cx="2301537" cy="476250"/>
            </a:xfrm>
            <a:prstGeom prst="rect">
              <a:avLst/>
            </a:prstGeom>
          </p:spPr>
        </p:pic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0739581-428E-C90B-9392-1026306B692E}"/>
                </a:ext>
              </a:extLst>
            </p:cNvPr>
            <p:cNvSpPr txBox="1"/>
            <p:nvPr/>
          </p:nvSpPr>
          <p:spPr>
            <a:xfrm>
              <a:off x="6233307" y="6564164"/>
              <a:ext cx="60960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/>
                <a:t>you need to apply a </a:t>
              </a:r>
              <a:r>
                <a:rPr lang="en-GB" sz="1200" b="1" u="none" strike="noStrike" dirty="0">
                  <a:effectLst/>
                  <a:latin typeface="Google Sans"/>
                </a:rPr>
                <a:t>particular differencing scheme</a:t>
              </a:r>
              <a:r>
                <a:rPr lang="en-GB" sz="1200" dirty="0"/>
                <a:t> (like QUICK or Second-Order Upwind) ?</a:t>
              </a:r>
              <a:endParaRPr lang="LID4096" sz="1200" dirty="0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6350945E-A0E6-181B-9982-DC844431B067}"/>
                </a:ext>
              </a:extLst>
            </p:cNvPr>
            <p:cNvSpPr txBox="1"/>
            <p:nvPr/>
          </p:nvSpPr>
          <p:spPr>
            <a:xfrm>
              <a:off x="9203330" y="2730335"/>
              <a:ext cx="290971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solidFill>
                    <a:srgbClr val="FF0000"/>
                  </a:solidFill>
                </a:rPr>
                <a:t>you looking to implement this discretization into a </a:t>
              </a:r>
              <a:r>
                <a:rPr lang="en-GB" sz="1200" b="1" u="none" strike="noStrike" dirty="0">
                  <a:solidFill>
                    <a:srgbClr val="FF0000"/>
                  </a:solidFill>
                  <a:effectLst/>
                  <a:latin typeface="Google Sans"/>
                </a:rPr>
                <a:t>specific coding language ?</a:t>
              </a:r>
              <a:endParaRPr lang="LID4096" sz="1200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BF07E2E8-02BD-32C6-C356-3375069435BB}"/>
              </a:ext>
            </a:extLst>
          </p:cNvPr>
          <p:cNvGrpSpPr/>
          <p:nvPr/>
        </p:nvGrpSpPr>
        <p:grpSpPr>
          <a:xfrm>
            <a:off x="386948" y="5940753"/>
            <a:ext cx="5105599" cy="793422"/>
            <a:chOff x="386948" y="5940753"/>
            <a:chExt cx="5105599" cy="793422"/>
          </a:xfrm>
        </p:grpSpPr>
        <p:pic>
          <p:nvPicPr>
            <p:cNvPr id="80" name="Picture 79">
              <a:extLst>
                <a:ext uri="{FF2B5EF4-FFF2-40B4-BE49-F238E27FC236}">
                  <a16:creationId xmlns:a16="http://schemas.microsoft.com/office/drawing/2014/main" id="{E7392416-82D4-A401-5381-08846DDDAE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86948" y="6000968"/>
              <a:ext cx="5105599" cy="663292"/>
            </a:xfrm>
            <a:prstGeom prst="rect">
              <a:avLst/>
            </a:prstGeom>
          </p:spPr>
        </p:pic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A978971E-FF3C-D104-F7A4-868D003EB232}"/>
                </a:ext>
              </a:extLst>
            </p:cNvPr>
            <p:cNvSpPr/>
            <p:nvPr/>
          </p:nvSpPr>
          <p:spPr>
            <a:xfrm>
              <a:off x="960914" y="5950453"/>
              <a:ext cx="1385411" cy="783722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7102B5BD-F063-168E-39E0-5F3853E7B53E}"/>
                </a:ext>
              </a:extLst>
            </p:cNvPr>
            <p:cNvSpPr/>
            <p:nvPr/>
          </p:nvSpPr>
          <p:spPr>
            <a:xfrm>
              <a:off x="4075459" y="5940753"/>
              <a:ext cx="1385412" cy="783722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/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7632A012-088F-DD3C-07CC-1CF8B060E2CE}"/>
              </a:ext>
            </a:extLst>
          </p:cNvPr>
          <p:cNvSpPr txBox="1"/>
          <p:nvPr/>
        </p:nvSpPr>
        <p:spPr>
          <a:xfrm>
            <a:off x="4065451" y="5713152"/>
            <a:ext cx="13854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pPr algn="ctr"/>
            <a:r>
              <a:rPr lang="en-GB" sz="1200" dirty="0"/>
              <a:t>Under-Relaxation</a:t>
            </a:r>
            <a:endParaRPr lang="en-GB" sz="1800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073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822CA58-F62B-2EB4-5E34-8FEFE0B063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365"/>
          <a:stretch>
            <a:fillRect/>
          </a:stretch>
        </p:blipFill>
        <p:spPr>
          <a:xfrm>
            <a:off x="969444" y="1309892"/>
            <a:ext cx="7536588" cy="8763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E9075BB-37E3-4EF3-7891-1F62EFC69D10}"/>
              </a:ext>
            </a:extLst>
          </p:cNvPr>
          <p:cNvSpPr/>
          <p:nvPr/>
        </p:nvSpPr>
        <p:spPr>
          <a:xfrm>
            <a:off x="1260500" y="1405740"/>
            <a:ext cx="1835772" cy="692843"/>
          </a:xfrm>
          <a:prstGeom prst="rect">
            <a:avLst/>
          </a:prstGeom>
          <a:solidFill>
            <a:schemeClr val="accent2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9E143A-FF22-ED9A-CAC1-6683896F71D8}"/>
              </a:ext>
            </a:extLst>
          </p:cNvPr>
          <p:cNvSpPr txBox="1"/>
          <p:nvPr/>
        </p:nvSpPr>
        <p:spPr>
          <a:xfrm>
            <a:off x="8443489" y="1488293"/>
            <a:ext cx="7071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pPr algn="ctr"/>
            <a:r>
              <a:rPr lang="en-GB" sz="1400" noProof="0" dirty="0"/>
              <a:t>2.12</a:t>
            </a:r>
            <a:endParaRPr lang="en-GB" sz="2000" noProof="0" dirty="0">
              <a:solidFill>
                <a:srgbClr val="FF0000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666C1A1-0FD1-7995-4F54-F415C39B9E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085" r="45531" b="69005"/>
          <a:stretch>
            <a:fillRect/>
          </a:stretch>
        </p:blipFill>
        <p:spPr>
          <a:xfrm>
            <a:off x="543352" y="2186192"/>
            <a:ext cx="2438400" cy="65246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9F4AEE-378D-57F9-13A3-1A7ED57D5C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914" t="58371" r="1987"/>
          <a:stretch>
            <a:fillRect/>
          </a:stretch>
        </p:blipFill>
        <p:spPr>
          <a:xfrm>
            <a:off x="385815" y="2838655"/>
            <a:ext cx="4895850" cy="8763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3F003C87-E0F8-A808-F01B-070153298C93}"/>
              </a:ext>
            </a:extLst>
          </p:cNvPr>
          <p:cNvGrpSpPr/>
          <p:nvPr/>
        </p:nvGrpSpPr>
        <p:grpSpPr>
          <a:xfrm>
            <a:off x="206610" y="256959"/>
            <a:ext cx="5842328" cy="981075"/>
            <a:chOff x="774910" y="964818"/>
            <a:chExt cx="5842328" cy="981075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37310EA-52CA-DCE7-F81E-EE1F9F8A92DA}"/>
                </a:ext>
              </a:extLst>
            </p:cNvPr>
            <p:cNvGrpSpPr/>
            <p:nvPr/>
          </p:nvGrpSpPr>
          <p:grpSpPr>
            <a:xfrm>
              <a:off x="774910" y="964818"/>
              <a:ext cx="5842328" cy="981075"/>
              <a:chOff x="470263" y="210586"/>
              <a:chExt cx="5842328" cy="981075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014BB6F7-4C27-6E3D-279E-BBF77A350C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2193"/>
              <a:stretch>
                <a:fillRect/>
              </a:stretch>
            </p:blipFill>
            <p:spPr>
              <a:xfrm>
                <a:off x="470263" y="210586"/>
                <a:ext cx="5254261" cy="981075"/>
              </a:xfrm>
              <a:prstGeom prst="rect">
                <a:avLst/>
              </a:prstGeom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71890F1-1475-81CD-7170-CDEA1E9ECC45}"/>
                  </a:ext>
                </a:extLst>
              </p:cNvPr>
              <p:cNvSpPr txBox="1"/>
              <p:nvPr/>
            </p:nvSpPr>
            <p:spPr>
              <a:xfrm>
                <a:off x="5862538" y="478371"/>
                <a:ext cx="45005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LID4096"/>
                </a:defPPr>
                <a:lvl1pPr>
                  <a:defRPr sz="1050" b="1">
                    <a:solidFill>
                      <a:srgbClr val="0000FF"/>
                    </a:solidFill>
                  </a:defRPr>
                </a:lvl1pPr>
              </a:lstStyle>
              <a:p>
                <a:pPr algn="ctr"/>
                <a:r>
                  <a:rPr lang="en-GB" sz="1400" noProof="0" dirty="0"/>
                  <a:t>2.3</a:t>
                </a:r>
                <a:endParaRPr lang="en-GB" sz="2000" noProof="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B509D166-F5B4-839D-9F5F-AC5B7EAFCD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87085" y="1019532"/>
                <a:ext cx="1255638" cy="0"/>
              </a:xfrm>
              <a:prstGeom prst="line">
                <a:avLst/>
              </a:prstGeom>
              <a:ln>
                <a:solidFill>
                  <a:srgbClr val="0000FF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0214CD44-6FE6-F40A-4374-C4CA2262B4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59925" y="1018884"/>
                <a:ext cx="1185440" cy="64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2EADC3D-DB27-F568-5A6D-4092A9FCF527}"/>
                </a:ext>
              </a:extLst>
            </p:cNvPr>
            <p:cNvSpPr/>
            <p:nvPr/>
          </p:nvSpPr>
          <p:spPr>
            <a:xfrm>
              <a:off x="3408374" y="1157807"/>
              <a:ext cx="283357" cy="240638"/>
            </a:xfrm>
            <a:prstGeom prst="rect">
              <a:avLst/>
            </a:prstGeom>
            <a:noFill/>
            <a:ln w="3810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dirty="0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90B5CF22-5CC9-61B2-FF5C-C14A813664C8}"/>
              </a:ext>
            </a:extLst>
          </p:cNvPr>
          <p:cNvSpPr/>
          <p:nvPr/>
        </p:nvSpPr>
        <p:spPr>
          <a:xfrm>
            <a:off x="1460797" y="193741"/>
            <a:ext cx="1418273" cy="981075"/>
          </a:xfrm>
          <a:prstGeom prst="rect">
            <a:avLst/>
          </a:prstGeom>
          <a:solidFill>
            <a:schemeClr val="accent2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E89B499-DEA8-11D9-0D64-C958499637A5}"/>
              </a:ext>
            </a:extLst>
          </p:cNvPr>
          <p:cNvSpPr/>
          <p:nvPr/>
        </p:nvSpPr>
        <p:spPr>
          <a:xfrm>
            <a:off x="3093657" y="189385"/>
            <a:ext cx="1255639" cy="981075"/>
          </a:xfrm>
          <a:prstGeom prst="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8905F83-3D17-6AFD-9C61-26F12176EE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544" y="4091612"/>
            <a:ext cx="1857375" cy="695325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87A6B9F-2E5B-1A84-163F-A7AE261FA631}"/>
              </a:ext>
            </a:extLst>
          </p:cNvPr>
          <p:cNvSpPr/>
          <p:nvPr/>
        </p:nvSpPr>
        <p:spPr>
          <a:xfrm>
            <a:off x="1388682" y="3948738"/>
            <a:ext cx="1255639" cy="981075"/>
          </a:xfrm>
          <a:prstGeom prst="rect">
            <a:avLst/>
          </a:prstGeom>
          <a:solidFill>
            <a:schemeClr val="accent1">
              <a:lumMod val="60000"/>
              <a:lumOff val="4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A38D59E-77DC-7670-987B-45ACE5C0279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2641" b="6677"/>
          <a:stretch>
            <a:fillRect/>
          </a:stretch>
        </p:blipFill>
        <p:spPr>
          <a:xfrm>
            <a:off x="6772276" y="2186926"/>
            <a:ext cx="5317056" cy="458121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D09F506-632B-4EB5-6234-D223376768E5}"/>
              </a:ext>
            </a:extLst>
          </p:cNvPr>
          <p:cNvSpPr txBox="1"/>
          <p:nvPr/>
        </p:nvSpPr>
        <p:spPr>
          <a:xfrm>
            <a:off x="9124950" y="1897069"/>
            <a:ext cx="29533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pPr algn="r"/>
            <a:r>
              <a:rPr lang="en-GB" sz="1400" noProof="0" dirty="0"/>
              <a:t>Finite Volume Notation</a:t>
            </a:r>
            <a:endParaRPr lang="en-GB" sz="2000" noProof="0" dirty="0">
              <a:solidFill>
                <a:srgbClr val="FF0000"/>
              </a:solidFill>
            </a:endParaRPr>
          </a:p>
        </p:txBody>
      </p:sp>
      <p:pic>
        <p:nvPicPr>
          <p:cNvPr id="86" name="Picture 85">
            <a:extLst>
              <a:ext uri="{FF2B5EF4-FFF2-40B4-BE49-F238E27FC236}">
                <a16:creationId xmlns:a16="http://schemas.microsoft.com/office/drawing/2014/main" id="{B3FC6047-76EA-31D5-7D36-293BA9768C8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0886" y="6177588"/>
            <a:ext cx="6117990" cy="58897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4111360-FC1C-91DA-C6B6-18F7625E3C7B}"/>
              </a:ext>
            </a:extLst>
          </p:cNvPr>
          <p:cNvSpPr txBox="1"/>
          <p:nvPr/>
        </p:nvSpPr>
        <p:spPr>
          <a:xfrm>
            <a:off x="5750723" y="6115919"/>
            <a:ext cx="450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LID4096"/>
            </a:defPPr>
            <a:lvl1pPr>
              <a:defRPr sz="1050" b="1">
                <a:solidFill>
                  <a:srgbClr val="0000FF"/>
                </a:solidFill>
              </a:defRPr>
            </a:lvl1pPr>
          </a:lstStyle>
          <a:p>
            <a:pPr algn="ctr"/>
            <a:r>
              <a:rPr lang="en-GB" sz="1400" noProof="0" dirty="0"/>
              <a:t>2.3</a:t>
            </a:r>
            <a:endParaRPr lang="en-GB" sz="2000" noProof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1017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6716</TotalTime>
  <Words>434</Words>
  <Application>Microsoft Office PowerPoint</Application>
  <PresentationFormat>Widescreen</PresentationFormat>
  <Paragraphs>125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CMBX12</vt:lpstr>
      <vt:lpstr>CMR12</vt:lpstr>
      <vt:lpstr>CMTT12</vt:lpstr>
      <vt:lpstr>Consolas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grossi</dc:creator>
  <cp:lastModifiedBy>grossi</cp:lastModifiedBy>
  <cp:revision>128</cp:revision>
  <dcterms:created xsi:type="dcterms:W3CDTF">2026-05-20T13:22:55Z</dcterms:created>
  <dcterms:modified xsi:type="dcterms:W3CDTF">2026-09-18T11:19:08Z</dcterms:modified>
</cp:coreProperties>
</file>