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09/16/2026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17" Type="http://schemas.openxmlformats.org/officeDocument/2006/relationships/image" Target="../media/image20.png"/><Relationship Id="rId2" Type="http://schemas.openxmlformats.org/officeDocument/2006/relationships/image" Target="../media/image8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9" Type="http://schemas.openxmlformats.org/officeDocument/2006/relationships/image" Target="../media/image23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FAAB37-1D7F-73EB-E92D-AB6513FCD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1475780"/>
            <a:ext cx="2809875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5CDA9-0F54-3488-3FBB-CC7738CAA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3918615"/>
            <a:ext cx="2962275" cy="942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0A005E-2866-6328-552C-0291B1E94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39" y="2547015"/>
            <a:ext cx="2954777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0CBDAB-83AC-8610-55EE-2A371D96B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761891"/>
            <a:ext cx="1304925" cy="438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47D79C-6002-D6F2-05FE-0173FD5BF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35538"/>
            <a:ext cx="5257800" cy="352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6FC8A7-96E0-1B4C-5678-CCDD1373B2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46" t="-12545" b="-1"/>
          <a:stretch>
            <a:fillRect/>
          </a:stretch>
        </p:blipFill>
        <p:spPr>
          <a:xfrm>
            <a:off x="2727279" y="2517551"/>
            <a:ext cx="3368721" cy="3657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68C6906-CF15-941F-3915-BA1BA0E38E57}"/>
              </a:ext>
            </a:extLst>
          </p:cNvPr>
          <p:cNvGrpSpPr/>
          <p:nvPr/>
        </p:nvGrpSpPr>
        <p:grpSpPr>
          <a:xfrm>
            <a:off x="151039" y="766708"/>
            <a:ext cx="2930034" cy="1585372"/>
            <a:chOff x="151039" y="766708"/>
            <a:chExt cx="2930034" cy="158537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1EC75C-8402-47E1-A2D1-B5B7973D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1039" y="766708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122025-25DF-2E1F-A7E4-75818D194E4B}"/>
                </a:ext>
              </a:extLst>
            </p:cNvPr>
            <p:cNvSpPr txBox="1"/>
            <p:nvPr/>
          </p:nvSpPr>
          <p:spPr>
            <a:xfrm>
              <a:off x="211999" y="2077236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/>
                <a:t>Finite 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762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7132155-2F91-E519-0239-5AE20681D681}"/>
              </a:ext>
            </a:extLst>
          </p:cNvPr>
          <p:cNvGrpSpPr/>
          <p:nvPr/>
        </p:nvGrpSpPr>
        <p:grpSpPr>
          <a:xfrm>
            <a:off x="287322" y="4594862"/>
            <a:ext cx="10719809" cy="809299"/>
            <a:chOff x="287322" y="4864829"/>
            <a:chExt cx="10719809" cy="809299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C98F7D3-B2B1-458B-795A-2A800B6D6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322" y="4864829"/>
              <a:ext cx="4481342" cy="809299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310240C-3952-3C2E-B532-5009D1426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0779" y="4928438"/>
              <a:ext cx="3758045" cy="66675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75D6A8-DE90-4155-3A60-0D2607E0EE8A}"/>
                </a:ext>
              </a:extLst>
            </p:cNvPr>
            <p:cNvSpPr txBox="1"/>
            <p:nvPr/>
          </p:nvSpPr>
          <p:spPr>
            <a:xfrm>
              <a:off x="9370603" y="5007897"/>
              <a:ext cx="16365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US" sz="1300" dirty="0">
                  <a:solidFill>
                    <a:srgbClr val="FF0000"/>
                  </a:solidFill>
                </a:rPr>
                <a:t>Tutorial Four p. 45</a:t>
              </a:r>
              <a:endParaRPr lang="LID4096" sz="13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307B6A-AEB0-E00F-A835-EAC653D23E51}"/>
              </a:ext>
            </a:extLst>
          </p:cNvPr>
          <p:cNvGrpSpPr/>
          <p:nvPr/>
        </p:nvGrpSpPr>
        <p:grpSpPr>
          <a:xfrm>
            <a:off x="248516" y="3624236"/>
            <a:ext cx="4675859" cy="1005763"/>
            <a:chOff x="508633" y="3499957"/>
            <a:chExt cx="4675859" cy="10057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AD3A5AE-7214-A8F0-EF2F-FAA849B87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21"/>
            <a:stretch>
              <a:fillRect/>
            </a:stretch>
          </p:blipFill>
          <p:spPr>
            <a:xfrm>
              <a:off x="609600" y="3513653"/>
              <a:ext cx="4574892" cy="906211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8FC23A-3296-6DDC-FD36-820AF71BBC42}"/>
                </a:ext>
              </a:extLst>
            </p:cNvPr>
            <p:cNvSpPr/>
            <p:nvPr/>
          </p:nvSpPr>
          <p:spPr>
            <a:xfrm>
              <a:off x="508633" y="3499957"/>
              <a:ext cx="1823233" cy="1005763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EC8758-54C4-4F62-EBE5-767EF1982B3D}"/>
              </a:ext>
            </a:extLst>
          </p:cNvPr>
          <p:cNvGrpSpPr/>
          <p:nvPr/>
        </p:nvGrpSpPr>
        <p:grpSpPr>
          <a:xfrm>
            <a:off x="5531353" y="3569026"/>
            <a:ext cx="3839250" cy="1060974"/>
            <a:chOff x="5504924" y="2631158"/>
            <a:chExt cx="3839250" cy="106097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CDD00C9-ECE7-4ED6-A30E-E8DBB6D7C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6967"/>
            <a:stretch>
              <a:fillRect/>
            </a:stretch>
          </p:blipFill>
          <p:spPr>
            <a:xfrm>
              <a:off x="5504924" y="2631158"/>
              <a:ext cx="3839250" cy="99609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E0D9EF-6F2B-5C68-063D-49BE3E05944F}"/>
                </a:ext>
              </a:extLst>
            </p:cNvPr>
            <p:cNvSpPr txBox="1"/>
            <p:nvPr/>
          </p:nvSpPr>
          <p:spPr>
            <a:xfrm>
              <a:off x="6256542" y="3295168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5A08A2-44D2-2E73-8374-285C8F0C5BAF}"/>
                </a:ext>
              </a:extLst>
            </p:cNvPr>
            <p:cNvSpPr txBox="1"/>
            <p:nvPr/>
          </p:nvSpPr>
          <p:spPr>
            <a:xfrm>
              <a:off x="6512242" y="3438216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AE7112-BBA7-FA52-BA59-8BBD426FEFE8}"/>
                  </a:ext>
                </a:extLst>
              </p:cNvPr>
              <p:cNvSpPr txBox="1"/>
              <p:nvPr/>
            </p:nvSpPr>
            <p:spPr>
              <a:xfrm>
                <a:off x="4940228" y="3784746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AE7112-BBA7-FA52-BA59-8BBD426FE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28" y="3784746"/>
                <a:ext cx="51888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96F7D440-9B11-A3A4-35BA-40FAE21516DE}"/>
              </a:ext>
            </a:extLst>
          </p:cNvPr>
          <p:cNvGrpSpPr/>
          <p:nvPr/>
        </p:nvGrpSpPr>
        <p:grpSpPr>
          <a:xfrm>
            <a:off x="1132005" y="4214063"/>
            <a:ext cx="2027611" cy="406030"/>
            <a:chOff x="1379095" y="4061515"/>
            <a:chExt cx="2027611" cy="40603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242161-60D1-7962-8AAC-A331409DC3E2}"/>
                </a:ext>
              </a:extLst>
            </p:cNvPr>
            <p:cNvSpPr txBox="1"/>
            <p:nvPr/>
          </p:nvSpPr>
          <p:spPr>
            <a:xfrm>
              <a:off x="1379095" y="4061515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0AA16CA-C4F1-CCFE-BB6B-59EF59F297B6}"/>
                </a:ext>
              </a:extLst>
            </p:cNvPr>
            <p:cNvSpPr txBox="1"/>
            <p:nvPr/>
          </p:nvSpPr>
          <p:spPr>
            <a:xfrm>
              <a:off x="1634795" y="4213629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EF56DDC-9C31-45AC-D7FA-A17A8127615C}"/>
              </a:ext>
            </a:extLst>
          </p:cNvPr>
          <p:cNvGrpSpPr/>
          <p:nvPr/>
        </p:nvGrpSpPr>
        <p:grpSpPr>
          <a:xfrm>
            <a:off x="5598692" y="2885734"/>
            <a:ext cx="2790457" cy="762942"/>
            <a:chOff x="5481171" y="2685020"/>
            <a:chExt cx="2790457" cy="762942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01504D9-71FC-0C21-3DF2-6C5F3D2AE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277" r="66555" b="23374"/>
            <a:stretch>
              <a:fillRect/>
            </a:stretch>
          </p:blipFill>
          <p:spPr>
            <a:xfrm>
              <a:off x="5481171" y="2685020"/>
              <a:ext cx="2037092" cy="68082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D00A65-B956-4D40-79D9-E75850C1BF91}"/>
                </a:ext>
              </a:extLst>
            </p:cNvPr>
            <p:cNvSpPr txBox="1"/>
            <p:nvPr/>
          </p:nvSpPr>
          <p:spPr>
            <a:xfrm>
              <a:off x="6499717" y="3194046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18FC71-6437-21B3-26D8-3196491EDBE9}"/>
              </a:ext>
            </a:extLst>
          </p:cNvPr>
          <p:cNvGrpSpPr/>
          <p:nvPr/>
        </p:nvGrpSpPr>
        <p:grpSpPr>
          <a:xfrm>
            <a:off x="174169" y="2031080"/>
            <a:ext cx="5625737" cy="805705"/>
            <a:chOff x="470263" y="1258066"/>
            <a:chExt cx="5625737" cy="80570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4DDBC08-AB3E-320F-1B05-A7D4641D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052" b="48031"/>
            <a:stretch>
              <a:fillRect/>
            </a:stretch>
          </p:blipFill>
          <p:spPr>
            <a:xfrm>
              <a:off x="470263" y="1258066"/>
              <a:ext cx="5625737" cy="77220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DF293F-4E3A-75DA-78C0-759BF3648BCF}"/>
                </a:ext>
              </a:extLst>
            </p:cNvPr>
            <p:cNvCxnSpPr>
              <a:cxnSpLocks/>
            </p:cNvCxnSpPr>
            <p:nvPr/>
          </p:nvCxnSpPr>
          <p:spPr>
            <a:xfrm>
              <a:off x="2999288" y="2063771"/>
              <a:ext cx="168864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FBEC9D1-044A-2724-06EF-333CB2299B64}"/>
              </a:ext>
            </a:extLst>
          </p:cNvPr>
          <p:cNvSpPr txBox="1"/>
          <p:nvPr/>
        </p:nvSpPr>
        <p:spPr>
          <a:xfrm>
            <a:off x="3490174" y="2606793"/>
            <a:ext cx="999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6AE4483-795B-A27D-99FD-FA8DE25F2C82}"/>
              </a:ext>
            </a:extLst>
          </p:cNvPr>
          <p:cNvGrpSpPr/>
          <p:nvPr/>
        </p:nvGrpSpPr>
        <p:grpSpPr>
          <a:xfrm>
            <a:off x="8350944" y="105148"/>
            <a:ext cx="3565688" cy="476250"/>
            <a:chOff x="6579218" y="1414866"/>
            <a:chExt cx="3565688" cy="4762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50F9A7-0D71-FD02-B370-87205EE152DC}"/>
                </a:ext>
              </a:extLst>
            </p:cNvPr>
            <p:cNvSpPr txBox="1"/>
            <p:nvPr/>
          </p:nvSpPr>
          <p:spPr>
            <a:xfrm>
              <a:off x="9711724" y="1499103"/>
              <a:ext cx="433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2.5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4073551-39D1-104C-8A26-BFF43DB5F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79218" y="1414866"/>
              <a:ext cx="3038475" cy="47625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AE98A3FF-E4A6-C563-882A-A4DDB81E3F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7854" y="5956863"/>
            <a:ext cx="2838450" cy="66675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5981FC-7B44-9A59-A15D-6720C352D32C}"/>
                  </a:ext>
                </a:extLst>
              </p:cNvPr>
              <p:cNvSpPr txBox="1"/>
              <p:nvPr/>
            </p:nvSpPr>
            <p:spPr>
              <a:xfrm>
                <a:off x="4921900" y="3047671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5981FC-7B44-9A59-A15D-6720C352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00" y="3047671"/>
                <a:ext cx="51888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865CEF-858F-9A61-E806-694015A1CA98}"/>
                  </a:ext>
                </a:extLst>
              </p:cNvPr>
              <p:cNvSpPr txBox="1"/>
              <p:nvPr/>
            </p:nvSpPr>
            <p:spPr>
              <a:xfrm>
                <a:off x="4921900" y="2260986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865CEF-858F-9A61-E806-694015A1C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00" y="2260986"/>
                <a:ext cx="51888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>
            <a:extLst>
              <a:ext uri="{FF2B5EF4-FFF2-40B4-BE49-F238E27FC236}">
                <a16:creationId xmlns:a16="http://schemas.microsoft.com/office/drawing/2014/main" id="{AA739BAB-3B02-B01F-68A5-F9F5AA2A44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296" t="52147" r="1"/>
          <a:stretch>
            <a:fillRect/>
          </a:stretch>
        </p:blipFill>
        <p:spPr>
          <a:xfrm>
            <a:off x="5566444" y="2092245"/>
            <a:ext cx="4577823" cy="711042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6E6629-A27E-39F6-7834-DCFFF79A0762}"/>
              </a:ext>
            </a:extLst>
          </p:cNvPr>
          <p:cNvCxnSpPr>
            <a:cxnSpLocks/>
          </p:cNvCxnSpPr>
          <p:nvPr/>
        </p:nvCxnSpPr>
        <p:spPr>
          <a:xfrm>
            <a:off x="6846442" y="2803286"/>
            <a:ext cx="131350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E3EA4D5-DE4E-DF1E-78F7-74B6FEAC142A}"/>
              </a:ext>
            </a:extLst>
          </p:cNvPr>
          <p:cNvSpPr txBox="1"/>
          <p:nvPr/>
        </p:nvSpPr>
        <p:spPr>
          <a:xfrm>
            <a:off x="10265603" y="2256129"/>
            <a:ext cx="433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2.4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2FAA748-BD70-2F74-A911-144C33646381}"/>
              </a:ext>
            </a:extLst>
          </p:cNvPr>
          <p:cNvCxnSpPr/>
          <p:nvPr/>
        </p:nvCxnSpPr>
        <p:spPr>
          <a:xfrm>
            <a:off x="6553154" y="3412396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D2AA57D-48C5-B51C-D73D-0DDC1D18BD34}"/>
              </a:ext>
            </a:extLst>
          </p:cNvPr>
          <p:cNvCxnSpPr/>
          <p:nvPr/>
        </p:nvCxnSpPr>
        <p:spPr>
          <a:xfrm>
            <a:off x="6425887" y="4223970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64F103-39A0-1730-297F-F6DB9824D3BE}"/>
              </a:ext>
            </a:extLst>
          </p:cNvPr>
          <p:cNvCxnSpPr/>
          <p:nvPr/>
        </p:nvCxnSpPr>
        <p:spPr>
          <a:xfrm>
            <a:off x="1326906" y="4182299"/>
            <a:ext cx="365760" cy="0"/>
          </a:xfrm>
          <a:prstGeom prst="line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B2A8037-737E-186D-C1C2-3513891FB690}"/>
              </a:ext>
            </a:extLst>
          </p:cNvPr>
          <p:cNvSpPr txBox="1"/>
          <p:nvPr/>
        </p:nvSpPr>
        <p:spPr>
          <a:xfrm>
            <a:off x="7348670" y="2565550"/>
            <a:ext cx="706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>
                <a:solidFill>
                  <a:srgbClr val="FF0000"/>
                </a:solidFill>
              </a:rPr>
              <a:t>Diffusion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76F5FD8-FBFC-2DF3-8B56-AF71BF540FEC}"/>
              </a:ext>
            </a:extLst>
          </p:cNvPr>
          <p:cNvGrpSpPr/>
          <p:nvPr/>
        </p:nvGrpSpPr>
        <p:grpSpPr>
          <a:xfrm>
            <a:off x="2751291" y="2942437"/>
            <a:ext cx="1615883" cy="834059"/>
            <a:chOff x="2751291" y="2099753"/>
            <a:chExt cx="1615883" cy="834059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ADDB1AE-D479-D686-2B42-3E348E4D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92" t="7962" r="73685"/>
            <a:stretch>
              <a:fillRect/>
            </a:stretch>
          </p:blipFill>
          <p:spPr>
            <a:xfrm>
              <a:off x="2751291" y="2099753"/>
              <a:ext cx="1615883" cy="83405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469AAD-0B84-CB59-394F-38F3416B2982}"/>
                </a:ext>
              </a:extLst>
            </p:cNvPr>
            <p:cNvSpPr txBox="1"/>
            <p:nvPr/>
          </p:nvSpPr>
          <p:spPr>
            <a:xfrm>
              <a:off x="3427169" y="2552076"/>
              <a:ext cx="82899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D0E836-C22B-9C04-CEE4-E67DEA10A88B}"/>
                </a:ext>
              </a:extLst>
            </p:cNvPr>
            <p:cNvCxnSpPr/>
            <p:nvPr/>
          </p:nvCxnSpPr>
          <p:spPr>
            <a:xfrm>
              <a:off x="3282876" y="2560417"/>
              <a:ext cx="707010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33EDD9C-EA66-6BBC-F468-37428C6F7AAC}"/>
              </a:ext>
            </a:extLst>
          </p:cNvPr>
          <p:cNvSpPr txBox="1"/>
          <p:nvPr/>
        </p:nvSpPr>
        <p:spPr>
          <a:xfrm>
            <a:off x="10613652" y="640358"/>
            <a:ext cx="974784" cy="262517"/>
          </a:xfrm>
          <a:prstGeom prst="rect">
            <a:avLst/>
          </a:prstGeom>
          <a:solidFill>
            <a:srgbClr val="00B0F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800" noProof="0" dirty="0">
                <a:solidFill>
                  <a:schemeClr val="bg1"/>
                </a:solidFill>
              </a:rPr>
              <a:t>Schemes!</a:t>
            </a:r>
            <a:endParaRPr lang="en-GB" sz="2800" noProof="0" dirty="0">
              <a:solidFill>
                <a:schemeClr val="bg1"/>
              </a:solidFill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60D33EC-30C3-65F8-41F4-E4788EEA08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611" y="142472"/>
            <a:ext cx="2962275" cy="447675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A32D044-DBC5-0668-0D97-B65E2952CACF}"/>
              </a:ext>
            </a:extLst>
          </p:cNvPr>
          <p:cNvGrpSpPr/>
          <p:nvPr/>
        </p:nvGrpSpPr>
        <p:grpSpPr>
          <a:xfrm>
            <a:off x="140892" y="5607532"/>
            <a:ext cx="3625338" cy="1107996"/>
            <a:chOff x="-213656" y="5559119"/>
            <a:chExt cx="3625338" cy="1107996"/>
          </a:xfrm>
        </p:grpSpPr>
        <p:pic>
          <p:nvPicPr>
            <p:cNvPr id="102" name="Picture 1">
              <a:extLst>
                <a:ext uri="{FF2B5EF4-FFF2-40B4-BE49-F238E27FC236}">
                  <a16:creationId xmlns:a16="http://schemas.microsoft.com/office/drawing/2014/main" id="{9FFDCD54-B920-60A0-EF20-FF38AD257D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3" t="7716" r="4082" b="24547"/>
            <a:stretch>
              <a:fillRect/>
            </a:stretch>
          </p:blipFill>
          <p:spPr bwMode="auto">
            <a:xfrm>
              <a:off x="1750235" y="5571248"/>
              <a:ext cx="1661447" cy="3385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0CFC7EB-52DE-65B0-6D3F-919641005405}"/>
                </a:ext>
              </a:extLst>
            </p:cNvPr>
            <p:cNvSpPr txBox="1"/>
            <p:nvPr/>
          </p:nvSpPr>
          <p:spPr>
            <a:xfrm>
              <a:off x="-213656" y="5559119"/>
              <a:ext cx="1932186" cy="1107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Solve (</a:t>
              </a:r>
            </a:p>
            <a:p>
              <a:r>
                <a:rPr lang="en-US" sz="1200" b="1" dirty="0"/>
                <a:t>   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ddt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(rho, U)</a:t>
              </a:r>
            </a:p>
            <a:p>
              <a:r>
                <a:rPr lang="en-US" sz="1200" b="1" dirty="0"/>
                <a:t> </a:t>
              </a:r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+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::div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(phi, U)</a:t>
              </a:r>
            </a:p>
            <a:p>
              <a:r>
                <a:rPr lang="en-US" sz="1200" b="1" dirty="0"/>
                <a:t> </a:t>
              </a:r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-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laplacian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(nu, U)</a:t>
              </a:r>
            </a:p>
            <a:p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   ==</a:t>
              </a:r>
            </a:p>
            <a:p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 -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fvc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grad(p))</a:t>
              </a:r>
              <a:endParaRPr lang="LID4096" sz="1000" dirty="0">
                <a:solidFill>
                  <a:srgbClr val="24292E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B7D0B72D-BA6F-E0BF-2572-D425A25B5712}"/>
              </a:ext>
            </a:extLst>
          </p:cNvPr>
          <p:cNvSpPr txBox="1"/>
          <p:nvPr/>
        </p:nvSpPr>
        <p:spPr>
          <a:xfrm>
            <a:off x="3841667" y="5607950"/>
            <a:ext cx="203709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fvScalarMatrix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TEqn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   (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ddt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::div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(phi, 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laplacian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(DT, 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==</a:t>
            </a:r>
            <a:endParaRPr lang="en-US" sz="10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fvOptions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(T)        );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4102456-FC59-8121-900C-863BD88E1FAD}"/>
              </a:ext>
            </a:extLst>
          </p:cNvPr>
          <p:cNvGrpSpPr/>
          <p:nvPr/>
        </p:nvGrpSpPr>
        <p:grpSpPr>
          <a:xfrm>
            <a:off x="6034912" y="5424117"/>
            <a:ext cx="2918333" cy="1308050"/>
            <a:chOff x="6034912" y="5424117"/>
            <a:chExt cx="2918333" cy="130805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3C20295-5EB8-5E84-5760-CB8FB967BBA5}"/>
                </a:ext>
              </a:extLst>
            </p:cNvPr>
            <p:cNvGrpSpPr/>
            <p:nvPr/>
          </p:nvGrpSpPr>
          <p:grpSpPr>
            <a:xfrm>
              <a:off x="6087742" y="5670338"/>
              <a:ext cx="2865503" cy="1061829"/>
              <a:chOff x="9177854" y="3009624"/>
              <a:chExt cx="2865503" cy="1061829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11EE9B3-8954-6F59-9CFF-DF383F45DE17}"/>
                  </a:ext>
                </a:extLst>
              </p:cNvPr>
              <p:cNvSpPr txBox="1"/>
              <p:nvPr/>
            </p:nvSpPr>
            <p:spPr>
              <a:xfrm>
                <a:off x="9177854" y="3009624"/>
                <a:ext cx="2865503" cy="10618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900" b="0" dirty="0" err="1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divSchemes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    {</a:t>
                </a: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sz="900" b="0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default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        none;</a:t>
                </a: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upwind;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linear;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linearUpwind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 grad(T);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QUICK;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en-US" sz="900" b="0" dirty="0">
                    <a:solidFill>
                      <a:srgbClr val="6F42C1"/>
                    </a:solidFill>
                    <a:effectLst/>
                    <a:latin typeface="Consolas" panose="020B0609020204030204" pitchFamily="49" charset="0"/>
                  </a:rPr>
                  <a:t>div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900" b="0" dirty="0" err="1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)  Gauss cubic;  }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7F91039-004C-3234-E495-F9836A640454}"/>
                  </a:ext>
                </a:extLst>
              </p:cNvPr>
              <p:cNvSpPr txBox="1"/>
              <p:nvPr/>
            </p:nvSpPr>
            <p:spPr>
              <a:xfrm>
                <a:off x="10803261" y="3009624"/>
                <a:ext cx="12254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LID4096"/>
                </a:defPPr>
                <a:lvl1pPr>
                  <a:defRPr sz="1000">
                    <a:solidFill>
                      <a:srgbClr val="24292E"/>
                    </a:solidFill>
                    <a:latin typeface="Consolas" panose="020B0609020204030204" pitchFamily="49" charset="0"/>
                  </a:defRPr>
                </a:lvl1pPr>
              </a:lstStyle>
              <a:p>
                <a:pPr algn="r"/>
                <a:r>
                  <a:rPr lang="LID4096" sz="1400" dirty="0">
                    <a:solidFill>
                      <a:srgbClr val="0000FF"/>
                    </a:solidFill>
                  </a:rPr>
                  <a:t>fvSchemes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4DA7E74-CA11-C340-2487-28946251AE3E}"/>
                </a:ext>
              </a:extLst>
            </p:cNvPr>
            <p:cNvSpPr txBox="1"/>
            <p:nvPr/>
          </p:nvSpPr>
          <p:spPr>
            <a:xfrm>
              <a:off x="6034912" y="5424117"/>
              <a:ext cx="186318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scalarTransportFoam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EF5512-CBF5-2F0D-5211-764B6A6975A0}"/>
                  </a:ext>
                </a:extLst>
              </p:cNvPr>
              <p:cNvSpPr txBox="1"/>
              <p:nvPr/>
            </p:nvSpPr>
            <p:spPr>
              <a:xfrm>
                <a:off x="4940228" y="4616963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EF5512-CBF5-2F0D-5211-764B6A69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28" y="4616963"/>
                <a:ext cx="51888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Picture 111">
            <a:extLst>
              <a:ext uri="{FF2B5EF4-FFF2-40B4-BE49-F238E27FC236}">
                <a16:creationId xmlns:a16="http://schemas.microsoft.com/office/drawing/2014/main" id="{4B5C8BD1-4F2B-6D6C-96B0-68717505FF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41057" y="131784"/>
            <a:ext cx="2598519" cy="469177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A6030B6-276D-B67A-0774-BDA773B432F1}"/>
              </a:ext>
            </a:extLst>
          </p:cNvPr>
          <p:cNvGrpSpPr/>
          <p:nvPr/>
        </p:nvGrpSpPr>
        <p:grpSpPr>
          <a:xfrm>
            <a:off x="7119206" y="1011584"/>
            <a:ext cx="4895850" cy="919974"/>
            <a:chOff x="7119206" y="911997"/>
            <a:chExt cx="4895850" cy="9199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B6DC7CB-1BF2-C776-D862-21819E0A9AC4}"/>
                </a:ext>
              </a:extLst>
            </p:cNvPr>
            <p:cNvGrpSpPr/>
            <p:nvPr/>
          </p:nvGrpSpPr>
          <p:grpSpPr>
            <a:xfrm>
              <a:off x="7119206" y="911997"/>
              <a:ext cx="4895850" cy="919974"/>
              <a:chOff x="7119206" y="939158"/>
              <a:chExt cx="4895850" cy="91997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1F353D17-9949-A4D6-0AA5-183BBFC99A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19206" y="939158"/>
                <a:ext cx="4895850" cy="714375"/>
              </a:xfrm>
              <a:prstGeom prst="rect">
                <a:avLst/>
              </a:prstGeom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B2F3EA-46CB-29FE-D83B-3AC547450482}"/>
                  </a:ext>
                </a:extLst>
              </p:cNvPr>
              <p:cNvSpPr txBox="1"/>
              <p:nvPr/>
            </p:nvSpPr>
            <p:spPr>
              <a:xfrm>
                <a:off x="10555472" y="1566744"/>
                <a:ext cx="145958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US" sz="1300" dirty="0">
                    <a:solidFill>
                      <a:srgbClr val="FF0000"/>
                    </a:solidFill>
                  </a:rPr>
                  <a:t>Notes on CFD</a:t>
                </a:r>
                <a:endParaRPr lang="LID4096" sz="13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B6DED5-BB1E-5989-32EC-E4DE19B5B81D}"/>
                </a:ext>
              </a:extLst>
            </p:cNvPr>
            <p:cNvSpPr/>
            <p:nvPr/>
          </p:nvSpPr>
          <p:spPr>
            <a:xfrm>
              <a:off x="9198824" y="922851"/>
              <a:ext cx="2127061" cy="674478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F61166E-D299-0371-3372-0AB2FBBA2A1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405" y="2929631"/>
            <a:ext cx="2729410" cy="11461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D3ABCAC-AD99-7810-C3FE-2548B4BDEFF0}"/>
              </a:ext>
            </a:extLst>
          </p:cNvPr>
          <p:cNvGrpSpPr/>
          <p:nvPr/>
        </p:nvGrpSpPr>
        <p:grpSpPr>
          <a:xfrm>
            <a:off x="774910" y="964818"/>
            <a:ext cx="5842328" cy="981075"/>
            <a:chOff x="774910" y="964818"/>
            <a:chExt cx="5842328" cy="98107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E4847EF-FDC2-5878-FF02-0799C72BD516}"/>
                </a:ext>
              </a:extLst>
            </p:cNvPr>
            <p:cNvGrpSpPr/>
            <p:nvPr/>
          </p:nvGrpSpPr>
          <p:grpSpPr>
            <a:xfrm>
              <a:off x="774910" y="964818"/>
              <a:ext cx="5842328" cy="981075"/>
              <a:chOff x="470263" y="210586"/>
              <a:chExt cx="5842328" cy="98107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F84D371-DC81-BFCB-879C-180768C8A3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rcRect l="2193"/>
              <a:stretch>
                <a:fillRect/>
              </a:stretch>
            </p:blipFill>
            <p:spPr>
              <a:xfrm>
                <a:off x="470263" y="210586"/>
                <a:ext cx="5254261" cy="981075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881AF7-CE9D-A4C9-6F44-1A6E6394FB9C}"/>
                  </a:ext>
                </a:extLst>
              </p:cNvPr>
              <p:cNvSpPr txBox="1"/>
              <p:nvPr/>
            </p:nvSpPr>
            <p:spPr>
              <a:xfrm>
                <a:off x="5862538" y="478371"/>
                <a:ext cx="4500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GB" sz="1400" noProof="0" dirty="0"/>
                  <a:t>2.3</a:t>
                </a:r>
                <a:endParaRPr lang="en-GB" sz="2000" noProof="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29C4E34-D752-C98F-0296-F8021A155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085" y="1019532"/>
                <a:ext cx="1255638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DA42186-D9A5-C16B-8947-126F322FFD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925" y="1018884"/>
                <a:ext cx="1185440" cy="64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8C35F0-D6EB-3C3C-5318-91742A0388DB}"/>
                </a:ext>
              </a:extLst>
            </p:cNvPr>
            <p:cNvSpPr/>
            <p:nvPr/>
          </p:nvSpPr>
          <p:spPr>
            <a:xfrm>
              <a:off x="3408374" y="1157807"/>
              <a:ext cx="283357" cy="240638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9690131-7F31-2716-D54A-DCD1030CF335}"/>
              </a:ext>
            </a:extLst>
          </p:cNvPr>
          <p:cNvSpPr txBox="1"/>
          <p:nvPr/>
        </p:nvSpPr>
        <p:spPr>
          <a:xfrm>
            <a:off x="114765" y="678607"/>
            <a:ext cx="11208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200" b="1" dirty="0">
                <a:solidFill>
                  <a:srgbClr val="FF0000"/>
                </a:solidFill>
              </a:rPr>
              <a:t>Henrik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LID4096" sz="1200" b="1" dirty="0">
                <a:solidFill>
                  <a:srgbClr val="FF0000"/>
                </a:solidFill>
              </a:rPr>
              <a:t>Rusche</a:t>
            </a:r>
            <a:r>
              <a:rPr lang="pt-BR" sz="1200" b="1" dirty="0">
                <a:solidFill>
                  <a:srgbClr val="FF0000"/>
                </a:solidFill>
              </a:rPr>
              <a:t> 73-74</a:t>
            </a:r>
            <a:endParaRPr lang="LID4096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3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A03B52-36C3-6294-1EA1-E88EFB53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7" y="277420"/>
            <a:ext cx="1609725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5108FD-AC69-AA6B-94C1-72A26F437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730" y="303547"/>
            <a:ext cx="3886200" cy="59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F583D6-29E8-5E2E-9787-4902615A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896" y="822930"/>
            <a:ext cx="6610350" cy="581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8A23C5-253B-A03D-7625-DAF5129FF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86" y="770676"/>
            <a:ext cx="1628775" cy="57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8A5B7B-4305-2128-3698-4F313A335E71}"/>
              </a:ext>
            </a:extLst>
          </p:cNvPr>
          <p:cNvSpPr txBox="1"/>
          <p:nvPr/>
        </p:nvSpPr>
        <p:spPr>
          <a:xfrm>
            <a:off x="145024" y="79361"/>
            <a:ext cx="1663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pt-BR" noProof="0"/>
              <a:t>Conservação de massa</a:t>
            </a:r>
            <a:endParaRPr lang="pt-BR" sz="1400" noProof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2426A-0F11-287F-2B95-241E66692D7E}"/>
              </a:ext>
            </a:extLst>
          </p:cNvPr>
          <p:cNvSpPr txBox="1"/>
          <p:nvPr/>
        </p:nvSpPr>
        <p:spPr>
          <a:xfrm>
            <a:off x="2086896" y="105488"/>
            <a:ext cx="1663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pt-BR" noProof="0" dirty="0"/>
              <a:t>Qde de movimento</a:t>
            </a:r>
            <a:endParaRPr lang="pt-BR" sz="1400" noProof="0" dirty="0">
              <a:solidFill>
                <a:srgbClr val="FF0000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09D697-AC37-CC03-5E86-8F0067276C8E}"/>
              </a:ext>
            </a:extLst>
          </p:cNvPr>
          <p:cNvGrpSpPr/>
          <p:nvPr/>
        </p:nvGrpSpPr>
        <p:grpSpPr>
          <a:xfrm>
            <a:off x="4249542" y="1669257"/>
            <a:ext cx="1758387" cy="2014773"/>
            <a:chOff x="4226379" y="1695229"/>
            <a:chExt cx="1758387" cy="201477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DAB203C-27C9-68EE-61B8-9276D5695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73153" y="2031674"/>
              <a:ext cx="1449823" cy="167832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4EDD40-910C-D228-892E-B2EA3C0F4ABA}"/>
                </a:ext>
              </a:extLst>
            </p:cNvPr>
            <p:cNvSpPr txBox="1"/>
            <p:nvPr/>
          </p:nvSpPr>
          <p:spPr>
            <a:xfrm>
              <a:off x="4226379" y="1695229"/>
              <a:ext cx="175838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i="0" u="none" strike="noStrike" baseline="0" dirty="0">
                  <a:latin typeface="CMBX12"/>
                </a:rPr>
                <a:t>4.4.</a:t>
              </a:r>
              <a:r>
                <a:rPr lang="en-GB" sz="1400" b="1" dirty="0">
                  <a:latin typeface="CMBX12"/>
                </a:rPr>
                <a:t>2 </a:t>
              </a:r>
              <a:r>
                <a:rPr lang="en-GB" sz="1200" b="1" dirty="0" err="1">
                  <a:latin typeface="CMBX12"/>
                </a:rPr>
                <a:t>snGradSchemes</a:t>
              </a:r>
              <a:r>
                <a:rPr lang="en-GB" sz="1200" b="1" dirty="0">
                  <a:latin typeface="CMBX12"/>
                </a:rPr>
                <a:t> *</a:t>
              </a:r>
              <a:endParaRPr lang="LID4096" sz="1200" b="1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6007C1-78E3-5540-1FFF-8D3921959607}"/>
              </a:ext>
            </a:extLst>
          </p:cNvPr>
          <p:cNvGrpSpPr/>
          <p:nvPr/>
        </p:nvGrpSpPr>
        <p:grpSpPr>
          <a:xfrm>
            <a:off x="5928270" y="1673175"/>
            <a:ext cx="2635859" cy="1737719"/>
            <a:chOff x="5928270" y="1691281"/>
            <a:chExt cx="2635859" cy="173771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71C90A0-427A-74D7-AEC0-B1472F63B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40043" y="2031674"/>
              <a:ext cx="2624086" cy="139732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09CE3E-D7A2-6CCC-7889-76A21BE2693F}"/>
                </a:ext>
              </a:extLst>
            </p:cNvPr>
            <p:cNvSpPr txBox="1"/>
            <p:nvPr/>
          </p:nvSpPr>
          <p:spPr>
            <a:xfrm>
              <a:off x="5928270" y="1691281"/>
              <a:ext cx="25967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4.4.3 </a:t>
              </a:r>
              <a:r>
                <a:rPr lang="LID4096" sz="1200" b="1" dirty="0">
                  <a:solidFill>
                    <a:srgbClr val="FF0000"/>
                  </a:solidFill>
                </a:rPr>
                <a:t>gradSchemes sub-dictionary</a:t>
              </a:r>
              <a:r>
                <a:rPr lang="pt-BR" sz="1200" b="1" dirty="0">
                  <a:solidFill>
                    <a:srgbClr val="FF0000"/>
                  </a:solidFill>
                </a:rPr>
                <a:t> *</a:t>
              </a:r>
              <a:endParaRPr lang="LID4096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AE4D524-4EE6-A447-67CD-31EE0C05A02F}"/>
              </a:ext>
            </a:extLst>
          </p:cNvPr>
          <p:cNvSpPr txBox="1"/>
          <p:nvPr/>
        </p:nvSpPr>
        <p:spPr>
          <a:xfrm>
            <a:off x="45438" y="4286455"/>
            <a:ext cx="28064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  <a:latin typeface="CMTT12"/>
              </a:rPr>
              <a:t>interpolationSchemes</a:t>
            </a:r>
            <a:r>
              <a:rPr lang="en-US" sz="1400" b="1" dirty="0">
                <a:solidFill>
                  <a:srgbClr val="FF0000"/>
                </a:solidFill>
                <a:latin typeface="CMTT12"/>
              </a:rPr>
              <a:t>  DICT*</a:t>
            </a:r>
          </a:p>
          <a:p>
            <a:r>
              <a:rPr lang="en-US" sz="1400" b="0" i="0" u="none" strike="noStrike" baseline="0" dirty="0">
                <a:latin typeface="CMTT12"/>
              </a:rPr>
              <a:t>default linear;</a:t>
            </a:r>
          </a:p>
          <a:p>
            <a:r>
              <a:rPr lang="en-US" sz="1400" dirty="0"/>
              <a:t>default upwind phi;</a:t>
            </a:r>
          </a:p>
          <a:p>
            <a:r>
              <a:rPr lang="en-US" sz="1400" dirty="0"/>
              <a:t>default limitedLinear 1.0 phi;</a:t>
            </a:r>
          </a:p>
          <a:p>
            <a:endParaRPr lang="en-US" sz="1400" dirty="0"/>
          </a:p>
          <a:p>
            <a:r>
              <a:rPr lang="en-US" sz="1400" b="1" dirty="0"/>
              <a:t>4.4.1.1 - scalar</a:t>
            </a:r>
          </a:p>
          <a:p>
            <a:r>
              <a:rPr lang="en-US" sz="1400" dirty="0"/>
              <a:t>default limitedVanLeer -2.0 3.0;</a:t>
            </a:r>
          </a:p>
          <a:p>
            <a:r>
              <a:rPr lang="en-US" sz="1400" dirty="0"/>
              <a:t>default vanLeer01;</a:t>
            </a:r>
            <a:endParaRPr lang="LID4096" sz="14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F89438-7DC6-23C0-0439-A4FB26C682AC}"/>
              </a:ext>
            </a:extLst>
          </p:cNvPr>
          <p:cNvGrpSpPr/>
          <p:nvPr/>
        </p:nvGrpSpPr>
        <p:grpSpPr>
          <a:xfrm>
            <a:off x="4314437" y="3908481"/>
            <a:ext cx="3008012" cy="1904939"/>
            <a:chOff x="4261922" y="3896279"/>
            <a:chExt cx="3008012" cy="190493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1399B1-55EF-0EE6-FD9A-7A4689B9478F}"/>
                </a:ext>
              </a:extLst>
            </p:cNvPr>
            <p:cNvSpPr txBox="1"/>
            <p:nvPr/>
          </p:nvSpPr>
          <p:spPr>
            <a:xfrm>
              <a:off x="4261922" y="3896279"/>
              <a:ext cx="30080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/>
                <a:t>4.4.4 </a:t>
              </a:r>
              <a:r>
                <a:rPr lang="LID4096" sz="1400" b="1" dirty="0"/>
                <a:t>laplacianSchemes</a:t>
              </a:r>
              <a:r>
                <a:rPr lang="pt-BR" sz="1400" b="1" dirty="0"/>
                <a:t> *</a:t>
              </a:r>
              <a:endParaRPr lang="LID4096" sz="1400" b="1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1AFD736-B014-2D54-E5D1-1858FCC76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73153" y="4258374"/>
              <a:ext cx="1328560" cy="154284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2F9B00-1EC4-E41B-57F2-B4E43403CB9A}"/>
              </a:ext>
            </a:extLst>
          </p:cNvPr>
          <p:cNvGrpSpPr/>
          <p:nvPr/>
        </p:nvGrpSpPr>
        <p:grpSpPr>
          <a:xfrm>
            <a:off x="5902778" y="3569920"/>
            <a:ext cx="2776361" cy="2686905"/>
            <a:chOff x="5920885" y="3642345"/>
            <a:chExt cx="2776361" cy="268690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7B70693-8CF8-48CD-D780-5A770A00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91665" y="4004188"/>
              <a:ext cx="1449823" cy="232506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27D651-5238-1646-2C96-5BA69626E248}"/>
                </a:ext>
              </a:extLst>
            </p:cNvPr>
            <p:cNvSpPr txBox="1"/>
            <p:nvPr/>
          </p:nvSpPr>
          <p:spPr>
            <a:xfrm>
              <a:off x="5920885" y="3642345"/>
              <a:ext cx="27763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>
                  <a:solidFill>
                    <a:srgbClr val="0000FF"/>
                  </a:solidFill>
                </a:rPr>
                <a:t>4.4.5 </a:t>
              </a:r>
              <a:r>
                <a:rPr lang="LID4096" sz="1400" b="1" dirty="0">
                  <a:solidFill>
                    <a:srgbClr val="0000FF"/>
                  </a:solidFill>
                </a:rPr>
                <a:t>divSchemes sub-dictionary</a:t>
              </a:r>
              <a:r>
                <a:rPr lang="pt-BR" sz="1400" b="1" dirty="0">
                  <a:solidFill>
                    <a:srgbClr val="0000FF"/>
                  </a:solidFill>
                </a:rPr>
                <a:t> *</a:t>
              </a:r>
              <a:endParaRPr lang="LID4096" sz="140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331D81-E684-4808-67E2-A4FBAEBA3088}"/>
              </a:ext>
            </a:extLst>
          </p:cNvPr>
          <p:cNvGrpSpPr/>
          <p:nvPr/>
        </p:nvGrpSpPr>
        <p:grpSpPr>
          <a:xfrm>
            <a:off x="145024" y="1701177"/>
            <a:ext cx="2224634" cy="2272254"/>
            <a:chOff x="145024" y="1701177"/>
            <a:chExt cx="2224634" cy="227225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FE1EB93-B908-933D-8294-9022A1826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5986" y="2031674"/>
              <a:ext cx="2163672" cy="194175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5E6531F-6F79-29B1-68C8-FF21CAEB1AFB}"/>
                </a:ext>
              </a:extLst>
            </p:cNvPr>
            <p:cNvSpPr txBox="1"/>
            <p:nvPr/>
          </p:nvSpPr>
          <p:spPr>
            <a:xfrm>
              <a:off x="145024" y="1701177"/>
              <a:ext cx="21636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400" b="1" dirty="0"/>
                <a:t>4.4</a:t>
              </a:r>
              <a:r>
                <a:rPr lang="pt-BR" sz="1400" b="1" dirty="0"/>
                <a:t> </a:t>
              </a:r>
              <a:r>
                <a:rPr lang="LID4096" sz="1400" b="1" dirty="0"/>
                <a:t>Numerical schemes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997687-91FA-1E0D-6496-D857A8C04017}"/>
                </a:ext>
              </a:extLst>
            </p:cNvPr>
            <p:cNvSpPr txBox="1"/>
            <p:nvPr/>
          </p:nvSpPr>
          <p:spPr>
            <a:xfrm>
              <a:off x="1636718" y="2488153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</a:t>
              </a:r>
              <a:r>
                <a:rPr lang="en-GB" sz="1200" dirty="0">
                  <a:latin typeface="CMBX12"/>
                </a:rPr>
                <a:t>2</a:t>
              </a:r>
              <a:endParaRPr lang="LID4096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ECC4F5-F78D-C806-D076-2F7E50D1EB33}"/>
                </a:ext>
              </a:extLst>
            </p:cNvPr>
            <p:cNvSpPr txBox="1"/>
            <p:nvPr/>
          </p:nvSpPr>
          <p:spPr>
            <a:xfrm>
              <a:off x="1635212" y="2740139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4.4.3</a:t>
              </a:r>
              <a:endParaRPr lang="LID4096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2517A4C-E8BE-5966-C6FF-92F8C6F19E3C}"/>
                </a:ext>
              </a:extLst>
            </p:cNvPr>
            <p:cNvSpPr txBox="1"/>
            <p:nvPr/>
          </p:nvSpPr>
          <p:spPr>
            <a:xfrm>
              <a:off x="1633703" y="2974018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4.4.5</a:t>
              </a:r>
              <a:endParaRPr lang="LID4096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3BAD393-90FD-03F4-6899-306ED3030798}"/>
                </a:ext>
              </a:extLst>
            </p:cNvPr>
            <p:cNvSpPr txBox="1"/>
            <p:nvPr/>
          </p:nvSpPr>
          <p:spPr>
            <a:xfrm>
              <a:off x="1850770" y="3201100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4.4.4</a:t>
              </a:r>
              <a:endParaRPr lang="LID4096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D80BA5-1688-A202-3D6E-35A744D69B17}"/>
                </a:ext>
              </a:extLst>
            </p:cNvPr>
            <p:cNvSpPr txBox="1"/>
            <p:nvPr/>
          </p:nvSpPr>
          <p:spPr>
            <a:xfrm>
              <a:off x="1635212" y="3419145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4.4.6</a:t>
              </a:r>
              <a:endParaRPr lang="LID4096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22CF889-6BE8-4320-0689-6FDE3A3A1391}"/>
                </a:ext>
              </a:extLst>
            </p:cNvPr>
            <p:cNvSpPr txBox="1"/>
            <p:nvPr/>
          </p:nvSpPr>
          <p:spPr>
            <a:xfrm>
              <a:off x="1635212" y="3645488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4.4.7</a:t>
              </a:r>
              <a:endParaRPr lang="LID4096" sz="12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6E147DE-80FF-D74B-DA28-F6B89FDFA918}"/>
              </a:ext>
            </a:extLst>
          </p:cNvPr>
          <p:cNvGrpSpPr/>
          <p:nvPr/>
        </p:nvGrpSpPr>
        <p:grpSpPr>
          <a:xfrm>
            <a:off x="8641736" y="76830"/>
            <a:ext cx="3450506" cy="2253344"/>
            <a:chOff x="8617763" y="2263"/>
            <a:chExt cx="3450506" cy="225334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CEE8A85-FC08-73A7-8C7A-98ABAD1F53B7}"/>
                </a:ext>
              </a:extLst>
            </p:cNvPr>
            <p:cNvGrpSpPr/>
            <p:nvPr/>
          </p:nvGrpSpPr>
          <p:grpSpPr>
            <a:xfrm>
              <a:off x="8617763" y="2263"/>
              <a:ext cx="3450506" cy="2253344"/>
              <a:chOff x="466985" y="1861431"/>
              <a:chExt cx="3450506" cy="225334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2A9BEB2-AE31-15C1-075E-9480577E3952}"/>
                  </a:ext>
                </a:extLst>
              </p:cNvPr>
              <p:cNvGrpSpPr/>
              <p:nvPr/>
            </p:nvGrpSpPr>
            <p:grpSpPr>
              <a:xfrm>
                <a:off x="466985" y="2083450"/>
                <a:ext cx="3450506" cy="2031325"/>
                <a:chOff x="5582193" y="4219253"/>
                <a:chExt cx="3450506" cy="2031325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1D6B448-9326-6A9C-5E46-321CD199A864}"/>
                    </a:ext>
                  </a:extLst>
                </p:cNvPr>
                <p:cNvSpPr txBox="1"/>
                <p:nvPr/>
              </p:nvSpPr>
              <p:spPr>
                <a:xfrm>
                  <a:off x="5582193" y="4219253"/>
                  <a:ext cx="2560030" cy="20313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1400" b="0" i="0" u="none" strike="noStrike" baseline="0" dirty="0">
                      <a:solidFill>
                        <a:srgbClr val="FF0000"/>
                      </a:solidFill>
                      <a:latin typeface="CMR12"/>
                    </a:rPr>
                    <a:t>4.4.1 Interpolation schemes</a:t>
                  </a:r>
                </a:p>
                <a:p>
                  <a:pPr algn="l"/>
                  <a:endParaRPr lang="en-US" sz="1400" b="0" i="0" u="none" strike="noStrike" baseline="0" dirty="0">
                    <a:solidFill>
                      <a:srgbClr val="FF0000"/>
                    </a:solidFill>
                    <a:latin typeface="CMR12"/>
                  </a:endParaRPr>
                </a:p>
                <a:p>
                  <a:pPr algn="l"/>
                  <a:endParaRPr lang="en-US" sz="1400" b="0" i="0" u="none" strike="noStrike" baseline="0" dirty="0">
                    <a:solidFill>
                      <a:srgbClr val="FF0000"/>
                    </a:solidFill>
                    <a:latin typeface="CMR12"/>
                  </a:endParaRPr>
                </a:p>
                <a:p>
                  <a:pPr algn="l"/>
                  <a:r>
                    <a:rPr lang="fr-FR" sz="1400" dirty="0"/>
                    <a:t>4.4.2 Surface normal ∆ </a:t>
                  </a:r>
                  <a:r>
                    <a:rPr lang="fr-FR" sz="1400" dirty="0" err="1"/>
                    <a:t>schemes</a:t>
                  </a:r>
                  <a:endParaRPr lang="en-US" sz="1400" b="0" i="0" u="none" strike="noStrike" baseline="0" dirty="0">
                    <a:solidFill>
                      <a:srgbClr val="FF0000"/>
                    </a:solidFill>
                    <a:latin typeface="CMR12"/>
                  </a:endParaRPr>
                </a:p>
                <a:p>
                  <a:pPr algn="l"/>
                  <a:r>
                    <a:rPr lang="en-US" sz="1400" b="0" i="0" u="none" strike="noStrike" baseline="0" dirty="0">
                      <a:solidFill>
                        <a:srgbClr val="FF0000"/>
                      </a:solidFill>
                      <a:latin typeface="CMR12"/>
                    </a:rPr>
                    <a:t>4.4.3 Gradient schemes</a:t>
                  </a:r>
                  <a:endParaRPr lang="en-US" sz="1400" b="0" i="0" u="none" strike="noStrike" baseline="0" dirty="0">
                    <a:solidFill>
                      <a:srgbClr val="000000"/>
                    </a:solidFill>
                    <a:latin typeface="CMR12"/>
                  </a:endParaRPr>
                </a:p>
                <a:p>
                  <a:pPr algn="l"/>
                  <a:r>
                    <a:rPr lang="en-US" sz="1400" b="0" i="0" u="none" strike="noStrike" baseline="0" dirty="0">
                      <a:latin typeface="CMR12"/>
                    </a:rPr>
                    <a:t>4.4.4 Laplacian schemes</a:t>
                  </a:r>
                </a:p>
                <a:p>
                  <a:pPr algn="l"/>
                  <a:r>
                    <a:rPr lang="en-US" sz="1400" b="1" i="0" u="none" strike="noStrike" baseline="0" dirty="0">
                      <a:solidFill>
                        <a:srgbClr val="0000FF"/>
                      </a:solidFill>
                      <a:latin typeface="CMR12"/>
                    </a:rPr>
                    <a:t>4.4.5 Divergence schemes ____</a:t>
                  </a:r>
                </a:p>
                <a:p>
                  <a:pPr algn="l"/>
                  <a:r>
                    <a:rPr lang="en-US" sz="1400" b="0" i="0" u="none" strike="noStrike" baseline="0" dirty="0">
                      <a:latin typeface="CMR12"/>
                    </a:rPr>
                    <a:t>4.4.6 Time schemes</a:t>
                  </a:r>
                </a:p>
                <a:p>
                  <a:pPr algn="l"/>
                  <a:r>
                    <a:rPr lang="en-US" sz="1400" b="0" i="0" u="none" strike="noStrike" baseline="0" dirty="0">
                      <a:solidFill>
                        <a:srgbClr val="FF0000"/>
                      </a:solidFill>
                      <a:latin typeface="CMR12"/>
                    </a:rPr>
                    <a:t>4.4.7 Flux calculation</a:t>
                  </a:r>
                  <a:endParaRPr lang="LID4096" sz="1400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804ECA-2ED9-6984-099E-2BC11BBAFBFA}"/>
                    </a:ext>
                  </a:extLst>
                </p:cNvPr>
                <p:cNvSpPr txBox="1"/>
                <p:nvPr/>
              </p:nvSpPr>
              <p:spPr>
                <a:xfrm>
                  <a:off x="5582193" y="4436180"/>
                  <a:ext cx="345050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400" i="0" u="none" strike="noStrike" baseline="0" dirty="0">
                      <a:latin typeface="CMBX12"/>
                    </a:rPr>
                    <a:t>4.4.1.1 Schemes </a:t>
                  </a:r>
                  <a:r>
                    <a:rPr lang="en-GB" sz="1100" i="0" u="none" strike="noStrike" baseline="0" dirty="0">
                      <a:latin typeface="CMBX12"/>
                    </a:rPr>
                    <a:t>for strictly bounded </a:t>
                  </a:r>
                  <a:r>
                    <a:rPr lang="en-GB" sz="1400" i="0" u="none" strike="noStrike" baseline="0" dirty="0">
                      <a:latin typeface="CMBX12"/>
                    </a:rPr>
                    <a:t>scalar fields</a:t>
                  </a:r>
                </a:p>
                <a:p>
                  <a:r>
                    <a:rPr lang="en-GB" sz="1400" dirty="0"/>
                    <a:t>4.4.1.2 Schemes for vector fields</a:t>
                  </a:r>
                  <a:endParaRPr lang="LID4096" sz="1400" dirty="0"/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BB611F-31FA-7E82-3D1E-E8B312698407}"/>
                  </a:ext>
                </a:extLst>
              </p:cNvPr>
              <p:cNvSpPr txBox="1"/>
              <p:nvPr/>
            </p:nvSpPr>
            <p:spPr>
              <a:xfrm>
                <a:off x="466985" y="1861431"/>
                <a:ext cx="24014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sz="1400" b="1" dirty="0"/>
                  <a:t>4.4</a:t>
                </a:r>
                <a:r>
                  <a:rPr lang="pt-BR" sz="1400" b="1" dirty="0"/>
                  <a:t> </a:t>
                </a:r>
                <a:r>
                  <a:rPr lang="LID4096" sz="1400" b="1" dirty="0"/>
                  <a:t>Numerical schemes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1C0F3BF-B181-A537-E58E-58BC6C347B25}"/>
                </a:ext>
              </a:extLst>
            </p:cNvPr>
            <p:cNvSpPr txBox="1"/>
            <p:nvPr/>
          </p:nvSpPr>
          <p:spPr>
            <a:xfrm>
              <a:off x="10893230" y="1181356"/>
              <a:ext cx="8276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dirty="0"/>
                <a:t>s</a:t>
              </a:r>
              <a:r>
                <a:rPr lang="LID4096" sz="1800" dirty="0"/>
                <a:t>h</a:t>
              </a:r>
              <a:r>
                <a:rPr lang="pt-BR" sz="1800" dirty="0"/>
                <a:t>a</a:t>
              </a:r>
              <a:r>
                <a:rPr lang="LID4096" sz="1800" dirty="0"/>
                <a:t>me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197E54-47EE-DB80-263A-7F31B7F4E1FA}"/>
              </a:ext>
            </a:extLst>
          </p:cNvPr>
          <p:cNvGrpSpPr/>
          <p:nvPr/>
        </p:nvGrpSpPr>
        <p:grpSpPr>
          <a:xfrm>
            <a:off x="2470575" y="1678593"/>
            <a:ext cx="1674696" cy="4741265"/>
            <a:chOff x="2470575" y="1678593"/>
            <a:chExt cx="1674696" cy="47412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87B253-111E-19E6-6780-2A2E4BF119A4}"/>
                </a:ext>
              </a:extLst>
            </p:cNvPr>
            <p:cNvSpPr txBox="1"/>
            <p:nvPr/>
          </p:nvSpPr>
          <p:spPr>
            <a:xfrm>
              <a:off x="2470575" y="1678593"/>
              <a:ext cx="15316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i="0" u="none" strike="noStrike" baseline="0" dirty="0">
                  <a:latin typeface="CMBX12"/>
                </a:rPr>
                <a:t>4.4.1.2 - Fields</a:t>
              </a:r>
              <a:endParaRPr lang="LID4096" sz="1400" b="1" dirty="0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FAEBF87-539D-20D9-4F80-4EF9DB783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27836" y="2022253"/>
              <a:ext cx="1617435" cy="439760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9D1D8CB-3A3A-C44A-B394-7B5AFF6853BD}"/>
              </a:ext>
            </a:extLst>
          </p:cNvPr>
          <p:cNvGrpSpPr/>
          <p:nvPr/>
        </p:nvGrpSpPr>
        <p:grpSpPr>
          <a:xfrm>
            <a:off x="8002428" y="3971497"/>
            <a:ext cx="2182711" cy="2284728"/>
            <a:chOff x="8002428" y="3971497"/>
            <a:chExt cx="2182711" cy="22847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AE55C75-6861-CE01-B6C9-08EEE101D44C}"/>
                </a:ext>
              </a:extLst>
            </p:cNvPr>
            <p:cNvGrpSpPr/>
            <p:nvPr/>
          </p:nvGrpSpPr>
          <p:grpSpPr>
            <a:xfrm>
              <a:off x="8002428" y="3971497"/>
              <a:ext cx="1816050" cy="1913134"/>
              <a:chOff x="8761022" y="4136747"/>
              <a:chExt cx="1816050" cy="1913134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7688DBC2-D7FB-AB52-E50A-23E03446F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0344" y="4493997"/>
                <a:ext cx="1670077" cy="15558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D61708-0FD9-BA45-EA64-6C717A7BD0C5}"/>
                  </a:ext>
                </a:extLst>
              </p:cNvPr>
              <p:cNvSpPr txBox="1"/>
              <p:nvPr/>
            </p:nvSpPr>
            <p:spPr>
              <a:xfrm>
                <a:off x="8761022" y="4136747"/>
                <a:ext cx="18160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4.4.6  </a:t>
                </a:r>
                <a:r>
                  <a:rPr lang="LID4096" sz="1400" b="1" dirty="0"/>
                  <a:t>ddtSchemes</a:t>
                </a:r>
                <a:r>
                  <a:rPr lang="pt-BR" sz="1400" b="1" dirty="0"/>
                  <a:t> *</a:t>
                </a:r>
                <a:endParaRPr lang="LID4096" sz="1400" b="1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5A69B27-B046-3860-16F2-801FF63BBB01}"/>
                </a:ext>
              </a:extLst>
            </p:cNvPr>
            <p:cNvSpPr txBox="1"/>
            <p:nvPr/>
          </p:nvSpPr>
          <p:spPr>
            <a:xfrm>
              <a:off x="8031750" y="5948448"/>
              <a:ext cx="21533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LID4096"/>
              </a:defPPr>
              <a:lvl1pPr>
                <a:defRPr sz="1400" b="1"/>
              </a:lvl1pPr>
            </a:lstStyle>
            <a:p>
              <a:r>
                <a:rPr lang="en-US" dirty="0"/>
                <a:t>4.4.7 Flux calculation</a:t>
              </a:r>
              <a:endParaRPr lang="LID4096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E2FC024E-644F-BE9A-7DA0-AC1D7004B15C}"/>
              </a:ext>
            </a:extLst>
          </p:cNvPr>
          <p:cNvSpPr txBox="1"/>
          <p:nvPr/>
        </p:nvSpPr>
        <p:spPr>
          <a:xfrm>
            <a:off x="9538069" y="2644397"/>
            <a:ext cx="2197728" cy="8309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115   controlDict  (4.3)</a:t>
            </a:r>
          </a:p>
          <a:p>
            <a:r>
              <a:rPr lang="pt-BR" sz="1600" b="1" u="sng" dirty="0"/>
              <a:t>118   </a:t>
            </a:r>
            <a:r>
              <a:rPr lang="pt-BR" sz="1600" b="1" u="sng" dirty="0" err="1"/>
              <a:t>fvSchemes</a:t>
            </a:r>
            <a:r>
              <a:rPr lang="pt-BR" sz="1600" b="1" u="sng" dirty="0"/>
              <a:t> (4.4)</a:t>
            </a:r>
          </a:p>
          <a:p>
            <a:r>
              <a:rPr lang="pt-BR" sz="1600" dirty="0"/>
              <a:t>125   </a:t>
            </a:r>
            <a:r>
              <a:rPr lang="LID4096" sz="1600" dirty="0"/>
              <a:t>fvSolution</a:t>
            </a:r>
            <a:r>
              <a:rPr lang="pt-BR" sz="1600" dirty="0"/>
              <a:t> (4.5)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63403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7CE5DD0-08E7-6BBE-35C1-0ED5777E4081}"/>
              </a:ext>
            </a:extLst>
          </p:cNvPr>
          <p:cNvGrpSpPr/>
          <p:nvPr/>
        </p:nvGrpSpPr>
        <p:grpSpPr>
          <a:xfrm>
            <a:off x="417604" y="320720"/>
            <a:ext cx="5852568" cy="4939461"/>
            <a:chOff x="417603" y="320720"/>
            <a:chExt cx="7019925" cy="56119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E64D0D-15AC-BFBC-FE60-CD4B0A346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603" y="320720"/>
              <a:ext cx="7019925" cy="557212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E14254-5037-175F-E141-2798B8728D12}"/>
                </a:ext>
              </a:extLst>
            </p:cNvPr>
            <p:cNvSpPr txBox="1"/>
            <p:nvPr/>
          </p:nvSpPr>
          <p:spPr>
            <a:xfrm>
              <a:off x="417603" y="5600458"/>
              <a:ext cx="2329855" cy="332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US" sz="1300" dirty="0">
                  <a:solidFill>
                    <a:srgbClr val="FF0000"/>
                  </a:solidFill>
                </a:rPr>
                <a:t>103 Notes on CFD</a:t>
              </a:r>
              <a:endParaRPr lang="LID4096" sz="13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1ADD47B-DAAB-1D48-CF2D-A7A3230D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842" y="320720"/>
            <a:ext cx="4803819" cy="20791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9797EDE-A0FE-7AEA-62AF-ACF4E3FA2401}"/>
              </a:ext>
            </a:extLst>
          </p:cNvPr>
          <p:cNvGrpSpPr/>
          <p:nvPr/>
        </p:nvGrpSpPr>
        <p:grpSpPr>
          <a:xfrm>
            <a:off x="7588271" y="2506479"/>
            <a:ext cx="3971925" cy="2607508"/>
            <a:chOff x="7506379" y="2712689"/>
            <a:chExt cx="3971925" cy="260750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7CF51D-F218-21D2-AADF-0DEC12E74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6379" y="2712689"/>
              <a:ext cx="3971925" cy="12096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8271E0-7942-D526-5396-C402A3062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4" r="-1"/>
            <a:stretch>
              <a:fillRect/>
            </a:stretch>
          </p:blipFill>
          <p:spPr>
            <a:xfrm>
              <a:off x="9182099" y="3881922"/>
              <a:ext cx="2296205" cy="143827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18B147F-BF7E-C107-7527-094AC7864E71}"/>
              </a:ext>
            </a:extLst>
          </p:cNvPr>
          <p:cNvSpPr txBox="1"/>
          <p:nvPr/>
        </p:nvSpPr>
        <p:spPr>
          <a:xfrm>
            <a:off x="6428355" y="4348604"/>
            <a:ext cx="32971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5.3 Convergence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5.4 Residual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5.5 Diagonal dominance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5.6 Under-relaxation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5.7 Iterative solution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5.8 Accelerating convergence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5.9 Systems of equations (113)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5.10 Pressure-velocity coupling</a:t>
            </a:r>
            <a:endParaRPr lang="LID4096" sz="1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DD443-7182-A131-552B-3CDD85AFCC05}"/>
              </a:ext>
            </a:extLst>
          </p:cNvPr>
          <p:cNvSpPr txBox="1"/>
          <p:nvPr/>
        </p:nvSpPr>
        <p:spPr>
          <a:xfrm>
            <a:off x="6419643" y="3921771"/>
            <a:ext cx="2844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>
                <a:solidFill>
                  <a:srgbClr val="0000FF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</a:rPr>
              <a:t>5.1 Structure of matrices</a:t>
            </a:r>
          </a:p>
          <a:p>
            <a:r>
              <a:rPr lang="en-US" sz="1400" b="1" dirty="0"/>
              <a:t>5.2 Gauss-Seidel method</a:t>
            </a:r>
            <a:endParaRPr lang="LID4096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32843-DBC9-13C2-6C4E-D32B660B34BD}"/>
              </a:ext>
            </a:extLst>
          </p:cNvPr>
          <p:cNvSpPr txBox="1"/>
          <p:nvPr/>
        </p:nvSpPr>
        <p:spPr>
          <a:xfrm>
            <a:off x="61404" y="5405015"/>
            <a:ext cx="325700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LID4096" b="1" dirty="0">
                <a:solidFill>
                  <a:srgbClr val="0000FF"/>
                </a:solidFill>
              </a:rPr>
              <a:t>5.14 Descent methods</a:t>
            </a:r>
            <a:endParaRPr lang="pt-BR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5.15 Conjugate gradient method</a:t>
            </a:r>
          </a:p>
          <a:p>
            <a:r>
              <a:rPr lang="en-US" sz="1200" dirty="0"/>
              <a:t>5.16 Preconditioning and asymmetry</a:t>
            </a:r>
          </a:p>
          <a:p>
            <a:r>
              <a:rPr lang="en-US" sz="1200" dirty="0"/>
              <a:t>5.17 Multi-grid method</a:t>
            </a:r>
          </a:p>
          <a:p>
            <a:r>
              <a:rPr lang="en-US" sz="1200" dirty="0"/>
              <a:t>5.18 GAMG method</a:t>
            </a:r>
          </a:p>
          <a:p>
            <a:endParaRPr lang="en-US" sz="1200" dirty="0"/>
          </a:p>
          <a:p>
            <a:r>
              <a:rPr lang="en-GB" sz="1100" b="1" dirty="0"/>
              <a:t>5.23 Summary of algorithms and solvers</a:t>
            </a:r>
            <a:endParaRPr lang="LID4096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A67212A-48C7-22CC-7079-D56F93B22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410" y="5405015"/>
            <a:ext cx="2951762" cy="12961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F094AF-BA1E-C2B8-40C6-2378FDF287E2}"/>
              </a:ext>
            </a:extLst>
          </p:cNvPr>
          <p:cNvSpPr txBox="1"/>
          <p:nvPr/>
        </p:nvSpPr>
        <p:spPr>
          <a:xfrm>
            <a:off x="6862081" y="6383391"/>
            <a:ext cx="4698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pt-BR" dirty="0">
                <a:solidFill>
                  <a:srgbClr val="FF0000"/>
                </a:solidFill>
              </a:rPr>
              <a:t>131   </a:t>
            </a:r>
            <a:r>
              <a:rPr lang="LID4096" dirty="0">
                <a:solidFill>
                  <a:srgbClr val="FF0000"/>
                </a:solidFill>
              </a:rPr>
              <a:t>Chapter 6 Introduction to Turbulence</a:t>
            </a:r>
          </a:p>
        </p:txBody>
      </p:sp>
    </p:spTree>
    <p:extLst>
      <p:ext uri="{BB962C8B-B14F-4D97-AF65-F5344CB8AC3E}">
        <p14:creationId xmlns:p14="http://schemas.microsoft.com/office/powerpoint/2010/main" val="150568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8F61C5-18EE-A7D7-02D7-EB5A270B5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2" y="369025"/>
            <a:ext cx="4038600" cy="2781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E652475-B117-FE9A-104F-86AFC7CDA7E2}"/>
              </a:ext>
            </a:extLst>
          </p:cNvPr>
          <p:cNvGrpSpPr/>
          <p:nvPr/>
        </p:nvGrpSpPr>
        <p:grpSpPr>
          <a:xfrm>
            <a:off x="6368427" y="290647"/>
            <a:ext cx="5049235" cy="6439989"/>
            <a:chOff x="6368427" y="290647"/>
            <a:chExt cx="5049235" cy="643998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9A04FC-7F41-48DA-50BE-73C74F4CC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8427" y="290647"/>
              <a:ext cx="5049235" cy="643998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C9A2E6-CF02-4D29-C64C-3A8212A15186}"/>
                </a:ext>
              </a:extLst>
            </p:cNvPr>
            <p:cNvSpPr txBox="1"/>
            <p:nvPr/>
          </p:nvSpPr>
          <p:spPr>
            <a:xfrm>
              <a:off x="6368427" y="6438248"/>
              <a:ext cx="194241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US" sz="1300" dirty="0">
                  <a:solidFill>
                    <a:srgbClr val="FF0000"/>
                  </a:solidFill>
                </a:rPr>
                <a:t>118</a:t>
              </a:r>
              <a:endParaRPr lang="LID4096" sz="13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991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5256</TotalTime>
  <Words>362</Words>
  <Application>Microsoft Office PowerPoint</Application>
  <PresentationFormat>Widescreen</PresentationFormat>
  <Paragraphs>101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CMBX12</vt:lpstr>
      <vt:lpstr>CMR12</vt:lpstr>
      <vt:lpstr>CMTT12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113</cp:revision>
  <dcterms:created xsi:type="dcterms:W3CDTF">2026-05-20T13:22:55Z</dcterms:created>
  <dcterms:modified xsi:type="dcterms:W3CDTF">2026-09-16T18:34:34Z</dcterms:modified>
</cp:coreProperties>
</file>