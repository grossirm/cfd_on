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1" r:id="rId3"/>
    <p:sldId id="260" r:id="rId4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FE6FF"/>
    <a:srgbClr val="E7E7FF"/>
    <a:srgbClr val="0000FF"/>
    <a:srgbClr val="C5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38" autoAdjust="0"/>
    <p:restoredTop sz="94660"/>
  </p:normalViewPr>
  <p:slideViewPr>
    <p:cSldViewPr snapToGrid="0">
      <p:cViewPr>
        <p:scale>
          <a:sx n="100" d="100"/>
          <a:sy n="100" d="100"/>
        </p:scale>
        <p:origin x="112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33D61-E0E5-6C72-C54F-7628B0F003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62186D-C881-9373-1998-342384F108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501D0A-EF62-285D-9183-65966AA4DA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95C0A-264B-01D6-C9EE-B5CF74257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8D4BD-37AF-ECAC-43E7-EBA62764A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43524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544E9C-37E5-C451-30FE-57F941ECD5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578DD0-929E-5524-E292-0D67AF6FE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76DC0C-3DEC-D6A0-C747-5D2649827B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B1A0B-F63C-87F2-1818-20FC3B87D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C0E64-C8F3-E549-A522-AB53B8D8A8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304455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98F187-C830-6EC9-2F9C-57EE7EF8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C2355B-5837-559F-0C62-BE8137F843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85A62-9FD1-43AF-5BB6-DD4EEE21F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79CC27-CB3D-C5E0-B2E7-54885B352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31110E-B2BB-5AF3-1E85-194A80B88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93811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42DA8-6400-5744-5B0E-F16C12F86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E0E0E-E08A-BB9F-67F0-9DC9B677D3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D095A8-9B5D-6503-FBBB-5AA1E45B39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7A78AA-D7C3-06C3-1312-6E4AE3FD8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06/30/2026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6A2628-24CB-5C9A-373C-086B5291F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DA631-EAEB-2498-6B81-8A16F716C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2702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A550CB-0CCD-0344-DA7D-906CE2674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A643C-66E8-8188-1C7A-D30D4EC679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75E80-CD44-F8AE-4D08-B065D0216D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68B0C4-D33D-82E4-379C-AA5510AF35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0AC3E1-2ABB-7DA9-308D-46B6D1A835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9670E15-CC1F-4523-43BA-5EB26CFE63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06/30/2026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15CA21-DB4C-1D0F-9C98-7B19CC5CEC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69FEFD-5C23-06F3-8415-9CA79630A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769509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753254-56B4-E122-B071-9AAAA6C006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D4792F3-89DE-DCC4-8940-C1BC35DBF9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06/30/2026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672E0B-1915-463E-8D77-582F8490A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BC7BB10-7AA7-F13F-ECC4-1C3955CFC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48217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8AE4944-B874-CB00-7F5B-D9366F1D3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06/30/2026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626A870-DF66-8291-6BE4-8B326AE80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DA30FE-B4DF-2BCD-0659-F362BD280B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36498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72871-9BF2-8AC9-C213-7B3FBD7913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38457D-B644-ADF2-1719-2F6DE1187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4A7A3F-C2B5-AB32-3955-D57273D8A1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3E3201-1425-77FC-2190-154B84E0E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06/30/2026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B92529-4051-6BE1-1A8B-5C5FAB01E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49CB76-2937-C5EE-1D1F-9A7DC4E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6320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ECA7D7-4133-7659-80BA-7809F2C383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7A0E90-DD7E-EC6A-4635-8E2C7A4886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A4488B-41A4-D683-4735-EE7231C87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EEA442-CA3D-DA99-ED43-510E7EE10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06/30/2026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CDBE1-E250-F438-FC01-C7EFB503C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EB16D9-C319-E976-E573-77200E6E5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94242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82A14D-1925-799F-3060-4D025AFA61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1800ED-E441-7A1A-A3C8-7F594EB0B1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9FB6C-19C3-686A-B427-D0FA27EB7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CC511-C983-37CE-12A7-5E757C04D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9A466F-0AE7-4B18-582D-155846CE7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52824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8EC23B1-CC57-4AA7-1404-8F12F79222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575EED-0C59-B74D-3B0D-D8443287C0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28E20-2C3C-5DFD-0DF6-2107B8672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686FF-3DC0-4D03-9102-64E826D8EE6E}" type="datetimeFigureOut">
              <a:rPr lang="LID4096" smtClean="0"/>
              <a:t>06/30/2026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27F950-1EC5-B858-83E8-ECAA42DD8E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D305C-B816-E5B9-7931-FC4DCBF1C4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78347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2E029C-018F-A872-5F6F-36A65D811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DE4F39-8059-F351-237E-C5D4AB0BC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57534-6C95-8156-4758-F655ACB0B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686FF-3DC0-4D03-9102-64E826D8EE6E}" type="datetimeFigureOut">
              <a:rPr lang="LID4096" smtClean="0"/>
              <a:t>06/30/2026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35FFD-A04D-B66E-4D58-AED7887AF7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79332-3623-35DD-6626-8EF3F02003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B3E1AE-01EE-46B2-B44F-34DFC3E3C67A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9774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rossiRM/CFD_ON/blob/main/04_OpenFoam/99_NOTES-on-CFD_OpenFoam.pdf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grossiRM/CDF_ON/blob/main/04_OpenFoam/99_NOTES-on-CFD_OpenFoam.ipynb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B6E5A675-C85A-A925-DFCB-43D541FECBAD}"/>
              </a:ext>
            </a:extLst>
          </p:cNvPr>
          <p:cNvGrpSpPr/>
          <p:nvPr/>
        </p:nvGrpSpPr>
        <p:grpSpPr>
          <a:xfrm>
            <a:off x="1709229" y="415565"/>
            <a:ext cx="8773542" cy="5894399"/>
            <a:chOff x="1194324" y="605688"/>
            <a:chExt cx="8773542" cy="5894399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AD2A08B1-A190-D003-C04B-6AD59CC8ECFB}"/>
                </a:ext>
              </a:extLst>
            </p:cNvPr>
            <p:cNvSpPr txBox="1"/>
            <p:nvPr/>
          </p:nvSpPr>
          <p:spPr>
            <a:xfrm>
              <a:off x="1194324" y="4059828"/>
              <a:ext cx="8683011" cy="244025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noAutofit/>
            </a:bodyPr>
            <a:lstStyle/>
            <a:p>
              <a:pPr>
                <a:lnSpc>
                  <a:spcPts val="1650"/>
                </a:lnSpc>
                <a:buNone/>
              </a:pPr>
              <a:endParaRPr lang="en-GB" sz="1700" b="1" u="sng" dirty="0">
                <a:solidFill>
                  <a:srgbClr val="FF0000"/>
                </a:solidFill>
                <a:effectLst/>
                <a:latin typeface="Consolas" panose="020B0609020204030204" pitchFamily="49" charset="0"/>
              </a:endParaRPr>
            </a:p>
          </p:txBody>
        </p:sp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B0FE93DD-92CF-7D0A-840D-BB3956AFD79B}"/>
                </a:ext>
              </a:extLst>
            </p:cNvPr>
            <p:cNvSpPr txBox="1"/>
            <p:nvPr/>
          </p:nvSpPr>
          <p:spPr>
            <a:xfrm>
              <a:off x="5385587" y="605688"/>
              <a:ext cx="4491748" cy="244025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>
              <a:noAutofit/>
            </a:bodyPr>
            <a:lstStyle/>
            <a:p>
              <a:pPr>
                <a:lnSpc>
                  <a:spcPts val="1650"/>
                </a:lnSpc>
                <a:buNone/>
              </a:pPr>
              <a:endParaRPr lang="en-GB" sz="1700" b="1" u="sng" dirty="0">
                <a:solidFill>
                  <a:srgbClr val="FF0000"/>
                </a:solidFill>
                <a:effectLst/>
                <a:latin typeface="Consolas" panose="020B0609020204030204" pitchFamily="49" charset="0"/>
              </a:endParaRP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F5732ED-22FF-0A9C-4B67-CAD17C37947C}"/>
                </a:ext>
              </a:extLst>
            </p:cNvPr>
            <p:cNvGrpSpPr/>
            <p:nvPr/>
          </p:nvGrpSpPr>
          <p:grpSpPr>
            <a:xfrm>
              <a:off x="1194324" y="607022"/>
              <a:ext cx="8773542" cy="2438925"/>
              <a:chOff x="415726" y="398794"/>
              <a:chExt cx="8773542" cy="2438925"/>
            </a:xfrm>
          </p:grpSpPr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AE74B8B4-CD56-EB47-F8F7-FF9BAB8BE1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15726" y="1301326"/>
                <a:ext cx="1417376" cy="1536393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04348C19-D0A1-ABB3-7419-E5055972BF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25979" y="1301327"/>
                <a:ext cx="2533045" cy="1536392"/>
              </a:xfrm>
              <a:prstGeom prst="rect">
                <a:avLst/>
              </a:prstGeom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</p:pic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F93DBFC-DC5A-999D-DADD-BFFF66AC3D48}"/>
                  </a:ext>
                </a:extLst>
              </p:cNvPr>
              <p:cNvSpPr txBox="1"/>
              <p:nvPr/>
            </p:nvSpPr>
            <p:spPr>
              <a:xfrm>
                <a:off x="4708723" y="1219847"/>
                <a:ext cx="4480545" cy="1536393"/>
              </a:xfrm>
              <a:prstGeom prst="rect">
                <a:avLst/>
              </a:prstGeom>
              <a:noFill/>
            </p:spPr>
            <p:txBody>
              <a:bodyPr wrap="square" lIns="0" tIns="0" rIns="0" bIns="0" anchor="ctr" anchorCtr="0">
                <a:noAutofit/>
              </a:bodyPr>
              <a:lstStyle/>
              <a:p>
                <a:r>
                  <a:rPr lang="en-US" sz="2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orley Old Style"/>
                  </a:rPr>
                  <a:t>PIL </a:t>
                </a:r>
                <a:r>
                  <a:rPr lang="en-US" sz="24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orley Old Style"/>
                  </a:rPr>
                  <a:t>Path</a:t>
                </a:r>
                <a:r>
                  <a:rPr lang="en-US" sz="2000" dirty="0">
                    <a:latin typeface="Horley Old Style"/>
                  </a:rPr>
                  <a:t> - </a:t>
                </a:r>
                <a:r>
                  <a:rPr lang="pt-PT" sz="2000" dirty="0">
                    <a:latin typeface="Horley Old Style"/>
                  </a:rPr>
                  <a:t>Biblioteca de imagens Python</a:t>
                </a:r>
              </a:p>
              <a:p>
                <a:endParaRPr lang="pt-PT" sz="700" dirty="0">
                  <a:latin typeface="Horley Old Style"/>
                </a:endParaRPr>
              </a:p>
              <a:p>
                <a:r>
                  <a:rPr lang="en-GB" sz="2400" b="1" dirty="0">
                    <a:solidFill>
                      <a:srgbClr val="24292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orley Old Style"/>
                  </a:rPr>
                  <a:t>Latex</a:t>
                </a:r>
                <a:r>
                  <a:rPr lang="en-GB" sz="2400" b="1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orley Old Style"/>
                  </a:rPr>
                  <a:t>OCR</a:t>
                </a:r>
                <a:r>
                  <a:rPr lang="en-US" sz="20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orley Old Style"/>
                  </a:rPr>
                  <a:t> </a:t>
                </a:r>
                <a:r>
                  <a:rPr lang="pt-BR" sz="2000" b="1" u="sng" dirty="0">
                    <a:latin typeface="Horley Old Style"/>
                  </a:rPr>
                  <a:t>Reconhecedor de caracteres </a:t>
                </a:r>
                <a:r>
                  <a:rPr lang="pt-BR" sz="2200" b="1" u="sng" dirty="0">
                    <a:latin typeface="Horley Old Style"/>
                  </a:rPr>
                  <a:t> </a:t>
                </a:r>
              </a:p>
              <a:p>
                <a:endParaRPr lang="pt-BR" sz="600" u="sng" dirty="0">
                  <a:latin typeface="Horley Old Style"/>
                </a:endParaRPr>
              </a:p>
              <a:p>
                <a:pPr marL="342900" indent="-342900">
                  <a:buFontTx/>
                  <a:buChar char="-"/>
                </a:pPr>
                <a:r>
                  <a:rPr lang="pt-BR" sz="2000" b="1" dirty="0">
                    <a:solidFill>
                      <a:srgbClr val="FF0000"/>
                    </a:solidFill>
                    <a:latin typeface="Horley Old Style"/>
                  </a:rPr>
                  <a:t>Converte</a:t>
                </a:r>
                <a:r>
                  <a:rPr lang="pt-BR" sz="2000" b="1" dirty="0">
                    <a:latin typeface="Horley Old Style"/>
                  </a:rPr>
                  <a:t> </a:t>
                </a:r>
                <a:r>
                  <a:rPr lang="pt-BR" sz="2000" b="1" dirty="0">
                    <a:solidFill>
                      <a:srgbClr val="FF0000"/>
                    </a:solidFill>
                    <a:latin typeface="Horley Old Style"/>
                  </a:rPr>
                  <a:t>imagens</a:t>
                </a:r>
                <a:r>
                  <a:rPr lang="pt-BR" sz="2000" dirty="0">
                    <a:latin typeface="Horley Old Style"/>
                  </a:rPr>
                  <a:t>, documentos (PDF) digitalizados e fotos </a:t>
                </a:r>
                <a:r>
                  <a:rPr lang="pt-BR" sz="2000" b="1" dirty="0">
                    <a:solidFill>
                      <a:srgbClr val="FF0000"/>
                    </a:solidFill>
                    <a:latin typeface="Horley Old Style"/>
                  </a:rPr>
                  <a:t>... em texto</a:t>
                </a:r>
                <a:endParaRPr lang="en-US" sz="2000" b="1" dirty="0">
                  <a:solidFill>
                    <a:srgbClr val="FF0000"/>
                  </a:solidFill>
                  <a:latin typeface="Horley Old Style"/>
                </a:endParaRPr>
              </a:p>
            </p:txBody>
          </p:sp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EE5D6E43-6BD3-89FC-1AAB-E8626A86A321}"/>
                  </a:ext>
                </a:extLst>
              </p:cNvPr>
              <p:cNvSpPr txBox="1"/>
              <p:nvPr/>
            </p:nvSpPr>
            <p:spPr>
              <a:xfrm>
                <a:off x="415727" y="398794"/>
                <a:ext cx="4047631" cy="790791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>
                <a:noAutofit/>
              </a:bodyPr>
              <a:lstStyle/>
              <a:p>
                <a:pPr>
                  <a:lnSpc>
                    <a:spcPts val="1650"/>
                  </a:lnSpc>
                  <a:buNone/>
                </a:pPr>
                <a:r>
                  <a:rPr lang="en-GB" sz="1700" b="0" dirty="0">
                    <a:solidFill>
                      <a:srgbClr val="D73A49"/>
                    </a:solidFill>
                    <a:effectLst/>
                    <a:latin typeface="Consolas" panose="020B0609020204030204" pitchFamily="49" charset="0"/>
                  </a:rPr>
                  <a:t>from</a:t>
                </a:r>
                <a:r>
                  <a:rPr lang="en-GB" sz="1700" b="0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en-GB" sz="1700" b="1" dirty="0">
                    <a:solidFill>
                      <a:srgbClr val="24292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anose="020B0609020204030204" pitchFamily="49" charset="0"/>
                  </a:rPr>
                  <a:t>path</a:t>
                </a:r>
                <a:r>
                  <a:rPr lang="en-GB" sz="1700" b="0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lib import </a:t>
                </a:r>
                <a:r>
                  <a:rPr lang="en-GB" sz="1700" b="1" dirty="0">
                    <a:solidFill>
                      <a:srgbClr val="FF0000"/>
                    </a:solidFill>
                    <a:effectLst/>
                    <a:latin typeface="Consolas" panose="020B0609020204030204" pitchFamily="49" charset="0"/>
                  </a:rPr>
                  <a:t>Path </a:t>
                </a:r>
              </a:p>
              <a:p>
                <a:pPr>
                  <a:lnSpc>
                    <a:spcPts val="1650"/>
                  </a:lnSpc>
                  <a:buNone/>
                </a:pPr>
                <a:r>
                  <a:rPr lang="en-GB" sz="1700" b="0" dirty="0">
                    <a:solidFill>
                      <a:srgbClr val="D73A49"/>
                    </a:solidFill>
                    <a:effectLst/>
                    <a:latin typeface="Consolas" panose="020B0609020204030204" pitchFamily="49" charset="0"/>
                  </a:rPr>
                  <a:t>from</a:t>
                </a:r>
                <a:r>
                  <a:rPr lang="en-GB" sz="1700" b="0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en-GB" sz="1700" b="1" dirty="0">
                    <a:solidFill>
                      <a:srgbClr val="24292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anose="020B0609020204030204" pitchFamily="49" charset="0"/>
                  </a:rPr>
                  <a:t>PIL</a:t>
                </a:r>
                <a:r>
                  <a:rPr lang="en-GB" sz="1700" b="0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 import </a:t>
                </a:r>
                <a:r>
                  <a:rPr lang="en-GB" sz="1700" b="1" dirty="0">
                    <a:solidFill>
                      <a:srgbClr val="FF0000"/>
                    </a:solidFill>
                    <a:effectLst/>
                    <a:latin typeface="Consolas" panose="020B0609020204030204" pitchFamily="49" charset="0"/>
                  </a:rPr>
                  <a:t>Image </a:t>
                </a:r>
              </a:p>
              <a:p>
                <a:pPr>
                  <a:lnSpc>
                    <a:spcPts val="1650"/>
                  </a:lnSpc>
                  <a:buNone/>
                </a:pPr>
                <a:r>
                  <a:rPr lang="en-GB" sz="1700" b="0" dirty="0">
                    <a:solidFill>
                      <a:srgbClr val="D73A49"/>
                    </a:solidFill>
                    <a:effectLst/>
                    <a:latin typeface="Consolas" panose="020B0609020204030204" pitchFamily="49" charset="0"/>
                  </a:rPr>
                  <a:t>from</a:t>
                </a:r>
                <a:r>
                  <a:rPr lang="en-GB" sz="1700" b="0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 </a:t>
                </a:r>
                <a:r>
                  <a:rPr lang="en-GB" sz="1700" b="0" dirty="0">
                    <a:solidFill>
                      <a:srgbClr val="005CC5"/>
                    </a:solidFill>
                    <a:effectLst/>
                    <a:latin typeface="Consolas" panose="020B0609020204030204" pitchFamily="49" charset="0"/>
                  </a:rPr>
                  <a:t>pix2tex</a:t>
                </a:r>
                <a:r>
                  <a:rPr lang="en-GB" sz="1700" b="0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.</a:t>
                </a:r>
                <a:r>
                  <a:rPr lang="en-GB" sz="1700" b="0" dirty="0">
                    <a:solidFill>
                      <a:srgbClr val="005CC5"/>
                    </a:solidFill>
                    <a:effectLst/>
                    <a:latin typeface="Consolas" panose="020B0609020204030204" pitchFamily="49" charset="0"/>
                  </a:rPr>
                  <a:t>cli</a:t>
                </a:r>
                <a:r>
                  <a:rPr lang="en-GB" sz="1700" b="0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rPr>
                  <a:t> import </a:t>
                </a:r>
                <a:r>
                  <a:rPr lang="en-GB" sz="1700" b="1" dirty="0">
                    <a:solidFill>
                      <a:srgbClr val="24292E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Consolas" panose="020B0609020204030204" pitchFamily="49" charset="0"/>
                  </a:rPr>
                  <a:t>Latex</a:t>
                </a:r>
                <a:r>
                  <a:rPr lang="en-GB" sz="1700" b="1" u="sng" dirty="0">
                    <a:solidFill>
                      <a:srgbClr val="FF0000"/>
                    </a:solidFill>
                    <a:effectLst/>
                    <a:latin typeface="Consolas" panose="020B0609020204030204" pitchFamily="49" charset="0"/>
                  </a:rPr>
                  <a:t>OCR</a:t>
                </a:r>
              </a:p>
            </p:txBody>
          </p: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DF48F6B-202D-804C-DD1A-BF2B87077026}"/>
                  </a:ext>
                </a:extLst>
              </p:cNvPr>
              <p:cNvSpPr txBox="1"/>
              <p:nvPr/>
            </p:nvSpPr>
            <p:spPr>
              <a:xfrm>
                <a:off x="4715533" y="493064"/>
                <a:ext cx="4383199" cy="616235"/>
              </a:xfrm>
              <a:prstGeom prst="rect">
                <a:avLst/>
              </a:prstGeom>
              <a:noFill/>
            </p:spPr>
            <p:txBody>
              <a:bodyPr wrap="square" lIns="0" tIns="0" rIns="0" bIns="0" anchor="ctr" anchorCtr="0">
                <a:noAutofit/>
              </a:bodyPr>
              <a:lstStyle/>
              <a:p>
                <a:pPr>
                  <a:buNone/>
                </a:pPr>
                <a:r>
                  <a:rPr lang="pt-BR" sz="2400" b="1" noProof="0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orley Old Style"/>
                  </a:rPr>
                  <a:t>Path</a:t>
                </a:r>
                <a:r>
                  <a:rPr lang="pt-BR" sz="2400" b="1" noProof="0" dirty="0">
                    <a:solidFill>
                      <a:srgbClr val="FF0000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latin typeface="Horley Old Style"/>
                  </a:rPr>
                  <a:t>lib</a:t>
                </a:r>
                <a:r>
                  <a:rPr lang="pt-BR" sz="2400" noProof="0" dirty="0">
                    <a:latin typeface="Horley Old Style"/>
                  </a:rPr>
                  <a:t>  - Caminho até a figura: </a:t>
                </a:r>
              </a:p>
              <a:p>
                <a:pPr algn="ctr">
                  <a:buNone/>
                </a:pPr>
                <a:r>
                  <a:rPr lang="pt-BR" sz="2400" noProof="0" dirty="0"/>
                  <a:t>sistema orientado a objetos</a:t>
                </a:r>
                <a:endParaRPr lang="pt-BR" sz="2400" b="1" u="sng" noProof="0" dirty="0">
                  <a:solidFill>
                    <a:srgbClr val="FF0000"/>
                  </a:solidFill>
                  <a:latin typeface="Horley Old Style"/>
                </a:endParaRPr>
              </a:p>
            </p:txBody>
          </p: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692C0CAD-0539-F470-8BE1-EC28143391AC}"/>
                </a:ext>
              </a:extLst>
            </p:cNvPr>
            <p:cNvGrpSpPr/>
            <p:nvPr/>
          </p:nvGrpSpPr>
          <p:grpSpPr>
            <a:xfrm>
              <a:off x="1327531" y="4158348"/>
              <a:ext cx="8416059" cy="2222446"/>
              <a:chOff x="1026424" y="4269235"/>
              <a:chExt cx="8416059" cy="2222446"/>
            </a:xfrm>
          </p:grpSpPr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161F6DEA-096C-F555-48BB-1E739BC6EBAB}"/>
                  </a:ext>
                </a:extLst>
              </p:cNvPr>
              <p:cNvGrpSpPr/>
              <p:nvPr/>
            </p:nvGrpSpPr>
            <p:grpSpPr>
              <a:xfrm>
                <a:off x="1026424" y="4269235"/>
                <a:ext cx="8416059" cy="2222446"/>
                <a:chOff x="1309228" y="3959086"/>
                <a:chExt cx="8416059" cy="2222446"/>
              </a:xfrm>
            </p:grpSpPr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C293EDE8-16DF-FE06-8E36-C4C5AF57730B}"/>
                    </a:ext>
                  </a:extLst>
                </p:cNvPr>
                <p:cNvSpPr txBox="1"/>
                <p:nvPr/>
              </p:nvSpPr>
              <p:spPr>
                <a:xfrm>
                  <a:off x="4939491" y="5109387"/>
                  <a:ext cx="1753921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pt-BR" sz="2400" b="1" dirty="0">
                      <a:solidFill>
                        <a:srgbClr val="0000FF"/>
                      </a:solidFill>
                      <a:effectLst>
                        <a:outerShdw blurRad="38100" dist="38100" dir="2700000" algn="tl">
                          <a:srgbClr val="000000">
                            <a:alpha val="43137"/>
                          </a:srgbClr>
                        </a:outerShdw>
                      </a:effectLst>
                    </a:rPr>
                    <a:t>OCR Model</a:t>
                  </a:r>
                  <a:endParaRPr lang="en-US" b="1" dirty="0">
                    <a:solidFill>
                      <a:srgbClr val="0000FF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endParaRPr>
                </a:p>
              </p:txBody>
            </p:sp>
            <p:pic>
              <p:nvPicPr>
                <p:cNvPr id="20" name="Picture 19">
                  <a:extLst>
                    <a:ext uri="{FF2B5EF4-FFF2-40B4-BE49-F238E27FC236}">
                      <a16:creationId xmlns:a16="http://schemas.microsoft.com/office/drawing/2014/main" id="{A2544E92-B766-6FF1-86F4-389E2A3BF8C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artisticTexturizer/>
                          </a14:imgEffect>
                        </a14:imgLayer>
                      </a14:imgProps>
                    </a:ext>
                  </a:extLst>
                </a:blip>
                <a:srcRect l="5358" t="3913" r="4219" b="19578"/>
                <a:stretch>
                  <a:fillRect/>
                </a:stretch>
              </p:blipFill>
              <p:spPr>
                <a:xfrm>
                  <a:off x="1309228" y="3959087"/>
                  <a:ext cx="2855168" cy="991516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</p:pic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EEB9D3AA-61DD-D3B6-66D1-7BB9309E52FF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7190722" y="3959086"/>
                      <a:ext cx="2534565" cy="1111287"/>
                    </a:xfrm>
                    <a:prstGeom prst="rect">
                      <a:avLst/>
                    </a:prstGeom>
                    <a:solidFill>
                      <a:srgbClr val="E7E7FF"/>
                    </a:solidFill>
                    <a:ln>
                      <a:solidFill>
                        <a:schemeClr val="tx1"/>
                      </a:solidFill>
                    </a:ln>
                    <a:effectLst>
                      <a:outerShdw blurRad="50800" dist="38100" dir="8100000" algn="tr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 wrap="square" lIns="0" tIns="0" rIns="0" bIns="0" rtlCol="0" anchor="ctr" anchorCtr="0">
                      <a:no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en-US" sz="3200" b="1" i="1" smtClean="0"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3200" b="1" i="1" smtClean="0"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en-US" sz="3200" b="1" i="1" smtClean="0"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∅</m:t>
                                </m:r>
                              </m:num>
                              <m:den>
                                <m:r>
                                  <a:rPr lang="en-US" sz="3200" b="1" i="1"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𝝏</m:t>
                                </m:r>
                                <m:r>
                                  <a:rPr lang="pt-BR" sz="3200" b="1" i="1" smtClean="0"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𝒕</m:t>
                                </m:r>
                              </m:den>
                            </m:f>
                            <m:r>
                              <a:rPr lang="pt-BR" sz="3200" b="1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pt-BR" sz="3200" b="1" i="1" smtClean="0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</a:rPr>
                              <m:t>𝑫</m:t>
                            </m:r>
                            <m:sSup>
                              <m:sSupPr>
                                <m:ctrlPr>
                                  <a:rPr lang="pt-BR" sz="3200" b="1" i="1" smtClean="0"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pt-BR" sz="3200" b="1" i="0" smtClean="0"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𝛁</m:t>
                                </m:r>
                              </m:e>
                              <m:sup>
                                <m:r>
                                  <a:rPr lang="pt-BR" sz="3200" b="1" i="1" smtClean="0">
                                    <a:effectLst>
                                      <a:outerShdw blurRad="38100" dist="38100" dir="2700000" algn="tl">
                                        <a:srgbClr val="000000">
                                          <a:alpha val="43137"/>
                                        </a:srgbClr>
                                      </a:outerShdw>
                                    </a:effectLst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sup>
                            </m:sSup>
                            <m:r>
                              <a:rPr lang="en-US" sz="3200" b="1" i="1">
                                <a:effectLst>
                                  <a:outerShdw blurRad="38100" dist="38100" dir="2700000" algn="tl">
                                    <a:srgbClr val="000000">
                                      <a:alpha val="43137"/>
                                    </a:srgbClr>
                                  </a:outerShdw>
                                </a:effectLs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∅</m:t>
                            </m:r>
                          </m:oMath>
                        </m:oMathPara>
                      </a14:m>
                      <a:endParaRPr lang="LID4096" sz="3200" b="1" i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p:txBody>
                </p:sp>
              </mc:Choice>
              <mc:Fallback xmlns="">
                <p:sp>
                  <p:nvSpPr>
                    <p:cNvPr id="21" name="TextBox 20">
                      <a:extLst>
                        <a:ext uri="{FF2B5EF4-FFF2-40B4-BE49-F238E27FC236}">
                          <a16:creationId xmlns:a16="http://schemas.microsoft.com/office/drawing/2014/main" id="{EEB9D3AA-61DD-D3B6-66D1-7BB9309E52FF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190722" y="3959086"/>
                      <a:ext cx="2534565" cy="1111287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/>
                      </a:stretch>
                    </a:blipFill>
                    <a:ln>
                      <a:solidFill>
                        <a:schemeClr val="tx1"/>
                      </a:solidFill>
                    </a:ln>
                    <a:effectLst>
                      <a:outerShdw blurRad="50800" dist="38100" dir="8100000" algn="tr" rotWithShape="0">
                        <a:prstClr val="black">
                          <a:alpha val="40000"/>
                        </a:prstClr>
                      </a:outerShdw>
                    </a:effectLst>
                  </p:spPr>
                  <p:txBody>
                    <a:bodyPr/>
                    <a:lstStyle/>
                    <a:p>
                      <a:r>
                        <a:rPr lang="LID4096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A142396D-445C-B152-597E-8DCA03BE4ECC}"/>
                    </a:ext>
                  </a:extLst>
                </p:cNvPr>
                <p:cNvSpPr txBox="1"/>
                <p:nvPr/>
              </p:nvSpPr>
              <p:spPr>
                <a:xfrm>
                  <a:off x="2063994" y="5565297"/>
                  <a:ext cx="7661293" cy="616235"/>
                </a:xfrm>
                <a:prstGeom prst="rect">
                  <a:avLst/>
                </a:prstGeom>
                <a:solidFill>
                  <a:srgbClr val="E7E7FF"/>
                </a:solidFill>
                <a:ln>
                  <a:solidFill>
                    <a:schemeClr val="tx1"/>
                  </a:solidFill>
                </a:ln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txBody>
                <a:bodyPr wrap="square" anchor="ctr" anchorCtr="0">
                  <a:noAutofit/>
                </a:bodyPr>
                <a:lstStyle/>
                <a:p>
                  <a:pPr algn="ctr">
                    <a:buNone/>
                  </a:pPr>
                  <a:r>
                    <a:rPr lang="en-US" sz="2000" b="1" dirty="0">
                      <a:solidFill>
                        <a:srgbClr val="D73A49"/>
                      </a:solidFill>
                      <a:effectLst/>
                      <a:latin typeface="Consolas" panose="020B0609020204030204" pitchFamily="49" charset="0"/>
                    </a:rPr>
                    <a:t>\</a:t>
                  </a:r>
                  <a:r>
                    <a:rPr lang="en-US" sz="2000" b="1" dirty="0">
                      <a:solidFill>
                        <a:srgbClr val="6F42C1"/>
                      </a:solidFill>
                      <a:effectLst/>
                      <a:latin typeface="Consolas" panose="020B0609020204030204" pitchFamily="49" charset="0"/>
                    </a:rPr>
                    <a:t>frac </a:t>
                  </a:r>
                  <a:r>
                    <a:rPr lang="en-US" sz="2000" b="1" dirty="0">
                      <a:solidFill>
                        <a:srgbClr val="24292E"/>
                      </a:solidFill>
                      <a:effectLst/>
                      <a:latin typeface="Consolas" panose="020B0609020204030204" pitchFamily="49" charset="0"/>
                    </a:rPr>
                    <a:t>{</a:t>
                  </a:r>
                  <a:r>
                    <a:rPr lang="en-US" sz="2000" b="1" dirty="0">
                      <a:solidFill>
                        <a:srgbClr val="005CC5"/>
                      </a:solidFill>
                      <a:effectLst/>
                      <a:latin typeface="Consolas" panose="020B0609020204030204" pitchFamily="49" charset="0"/>
                    </a:rPr>
                    <a:t>\partial\phi</a:t>
                  </a:r>
                  <a:r>
                    <a:rPr lang="en-US" sz="2000" b="1" dirty="0">
                      <a:solidFill>
                        <a:srgbClr val="24292E"/>
                      </a:solidFill>
                      <a:effectLst/>
                      <a:latin typeface="Consolas" panose="020B0609020204030204" pitchFamily="49" charset="0"/>
                    </a:rPr>
                    <a:t>} {</a:t>
                  </a:r>
                  <a:r>
                    <a:rPr lang="en-US" sz="2000" b="1" dirty="0">
                      <a:solidFill>
                        <a:srgbClr val="005CC5"/>
                      </a:solidFill>
                      <a:effectLst/>
                      <a:latin typeface="Consolas" panose="020B0609020204030204" pitchFamily="49" charset="0"/>
                    </a:rPr>
                    <a:t>\partial </a:t>
                  </a:r>
                  <a:r>
                    <a:rPr lang="en-US" sz="2000" b="1" dirty="0">
                      <a:solidFill>
                        <a:srgbClr val="24292E"/>
                      </a:solidFill>
                      <a:effectLst/>
                      <a:latin typeface="Consolas" panose="020B0609020204030204" pitchFamily="49" charset="0"/>
                    </a:rPr>
                    <a:t>t} = D </a:t>
                  </a:r>
                  <a:r>
                    <a:rPr lang="en-US" sz="2000" b="1" dirty="0">
                      <a:solidFill>
                        <a:srgbClr val="005CC5"/>
                      </a:solidFill>
                      <a:effectLst/>
                      <a:latin typeface="Consolas" panose="020B0609020204030204" pitchFamily="49" charset="0"/>
                    </a:rPr>
                    <a:t>\nabla</a:t>
                  </a:r>
                  <a:r>
                    <a:rPr lang="en-US" sz="2000" b="1" dirty="0">
                      <a:solidFill>
                        <a:srgbClr val="24292E"/>
                      </a:solidFill>
                      <a:effectLst/>
                      <a:latin typeface="Consolas" panose="020B0609020204030204" pitchFamily="49" charset="0"/>
                    </a:rPr>
                    <a:t>^</a:t>
                  </a:r>
                  <a:r>
                    <a:rPr lang="en-US" sz="2000" b="1" dirty="0">
                      <a:solidFill>
                        <a:srgbClr val="005CC5"/>
                      </a:solidFill>
                      <a:effectLst/>
                      <a:latin typeface="Consolas" panose="020B0609020204030204" pitchFamily="49" charset="0"/>
                    </a:rPr>
                    <a:t>2 \phi</a:t>
                  </a:r>
                  <a:endParaRPr lang="en-US" sz="2000" b="1" dirty="0">
                    <a:solidFill>
                      <a:srgbClr val="24292E"/>
                    </a:solidFill>
                    <a:effectLst/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3" name="Arrow: Right 22">
                  <a:extLst>
                    <a:ext uri="{FF2B5EF4-FFF2-40B4-BE49-F238E27FC236}">
                      <a16:creationId xmlns:a16="http://schemas.microsoft.com/office/drawing/2014/main" id="{441FCC32-94B3-0490-7686-8397979F3ABB}"/>
                    </a:ext>
                  </a:extLst>
                </p:cNvPr>
                <p:cNvSpPr/>
                <p:nvPr/>
              </p:nvSpPr>
              <p:spPr>
                <a:xfrm rot="2162833">
                  <a:off x="3985028" y="5057799"/>
                  <a:ext cx="317578" cy="389449"/>
                </a:xfrm>
                <a:prstGeom prst="rightArrow">
                  <a:avLst/>
                </a:prstGeom>
                <a:solidFill>
                  <a:srgbClr val="0000FF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dirty="0"/>
                </a:p>
              </p:txBody>
            </p:sp>
            <p:sp>
              <p:nvSpPr>
                <p:cNvPr id="24" name="Arrow: Right 23">
                  <a:extLst>
                    <a:ext uri="{FF2B5EF4-FFF2-40B4-BE49-F238E27FC236}">
                      <a16:creationId xmlns:a16="http://schemas.microsoft.com/office/drawing/2014/main" id="{8EC1D28D-75BC-1207-5C63-1FF25EE80232}"/>
                    </a:ext>
                  </a:extLst>
                </p:cNvPr>
                <p:cNvSpPr/>
                <p:nvPr/>
              </p:nvSpPr>
              <p:spPr>
                <a:xfrm rot="19808280">
                  <a:off x="6816045" y="5003558"/>
                  <a:ext cx="317578" cy="389449"/>
                </a:xfrm>
                <a:prstGeom prst="rightArrow">
                  <a:avLst/>
                </a:prstGeom>
                <a:solidFill>
                  <a:srgbClr val="0000FF"/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LID4096" dirty="0"/>
                </a:p>
              </p:txBody>
            </p:sp>
          </p:grp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44DD562-985A-8937-8F19-F8C2BF3194D4}"/>
                  </a:ext>
                </a:extLst>
              </p:cNvPr>
              <p:cNvSpPr txBox="1"/>
              <p:nvPr/>
            </p:nvSpPr>
            <p:spPr>
              <a:xfrm>
                <a:off x="1781191" y="5480799"/>
                <a:ext cx="1826286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r"/>
                <a:r>
                  <a:rPr lang="pt-BR" sz="2200" b="1" dirty="0">
                    <a:solidFill>
                      <a:srgbClr val="FF0000"/>
                    </a:solidFill>
                  </a:rPr>
                  <a:t>.. predição</a:t>
                </a:r>
                <a:endParaRPr lang="en-US" sz="22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13661CDB-ECDB-730C-CC85-4898BA726687}"/>
                  </a:ext>
                </a:extLst>
              </p:cNvPr>
              <p:cNvSpPr txBox="1"/>
              <p:nvPr/>
            </p:nvSpPr>
            <p:spPr>
              <a:xfrm>
                <a:off x="6981415" y="5473318"/>
                <a:ext cx="2366493" cy="43088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2200" b="1" dirty="0">
                    <a:solidFill>
                      <a:srgbClr val="FF0000"/>
                    </a:solidFill>
                  </a:rPr>
                  <a:t>.. renderização</a:t>
                </a:r>
                <a:endParaRPr lang="en-US" sz="2200" b="1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773B681C-E1F4-D5EE-DE1F-CE0DA1AF95C6}"/>
                </a:ext>
              </a:extLst>
            </p:cNvPr>
            <p:cNvSpPr txBox="1"/>
            <p:nvPr/>
          </p:nvSpPr>
          <p:spPr>
            <a:xfrm>
              <a:off x="1196975" y="3157492"/>
              <a:ext cx="8680355" cy="790791"/>
            </a:xfrm>
            <a:prstGeom prst="rect">
              <a:avLst/>
            </a:prstGeom>
            <a:solidFill>
              <a:srgbClr val="E7E7FF"/>
            </a:solidFill>
            <a:ln>
              <a:solidFill>
                <a:schemeClr val="tx1"/>
              </a:solidFill>
            </a:ln>
            <a:effectLst>
              <a:outerShdw blurRad="50800" dist="38100" dir="8100000" algn="tr" rotWithShape="0">
                <a:prstClr val="black">
                  <a:alpha val="40000"/>
                </a:prstClr>
              </a:outerShdw>
            </a:effectLst>
          </p:spPr>
          <p:txBody>
            <a:bodyPr wrap="square" anchor="ctr" anchorCtr="0">
              <a:noAutofit/>
            </a:bodyPr>
            <a:lstStyle/>
            <a:p>
              <a:pPr>
                <a:buNone/>
              </a:pPr>
              <a:r>
                <a:rPr lang="en-US" b="1" dirty="0">
                  <a:solidFill>
                    <a:srgbClr val="24292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img  </a:t>
              </a:r>
              <a:r>
                <a:rPr lang="en-US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D73A49"/>
                  </a:solidFill>
                  <a:effectLst/>
                  <a:latin typeface="Consolas" panose="020B0609020204030204" pitchFamily="49" charset="0"/>
                </a:rPr>
                <a:t>= </a:t>
              </a:r>
              <a:r>
                <a:rPr lang="en-US" b="0" dirty="0">
                  <a:solidFill>
                    <a:srgbClr val="005CC5"/>
                  </a:solidFill>
                  <a:effectLst/>
                  <a:latin typeface="Consolas" panose="020B0609020204030204" pitchFamily="49" charset="0"/>
                </a:rPr>
                <a:t>Image</a:t>
              </a:r>
              <a:r>
                <a:rPr lang="en-US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.</a:t>
              </a:r>
              <a:r>
                <a:rPr lang="en-US" b="0" dirty="0">
                  <a:solidFill>
                    <a:srgbClr val="005CC5"/>
                  </a:solidFill>
                  <a:effectLst/>
                  <a:latin typeface="Consolas" panose="020B0609020204030204" pitchFamily="49" charset="0"/>
                </a:rPr>
                <a:t>open</a:t>
              </a:r>
              <a:r>
                <a:rPr lang="en-US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(</a:t>
              </a:r>
              <a:r>
                <a:rPr lang="en-US" dirty="0">
                  <a:solidFill>
                    <a:srgbClr val="D73A49"/>
                  </a:solidFill>
                  <a:latin typeface="Consolas" panose="020B0609020204030204" pitchFamily="49" charset="0"/>
                </a:rPr>
                <a:t>Path</a:t>
              </a:r>
              <a:r>
                <a:rPr lang="en-US" dirty="0">
                  <a:solidFill>
                    <a:srgbClr val="24292E"/>
                  </a:solidFill>
                  <a:latin typeface="Consolas" panose="020B0609020204030204" pitchFamily="49" charset="0"/>
                </a:rPr>
                <a:t>(</a:t>
              </a:r>
              <a:r>
                <a:rPr lang="en-US" dirty="0">
                  <a:solidFill>
                    <a:srgbClr val="032F62"/>
                  </a:solidFill>
                  <a:latin typeface="Consolas" panose="020B0609020204030204" pitchFamily="49" charset="0"/>
                </a:rPr>
                <a:t>'</a:t>
              </a:r>
              <a:r>
                <a:rPr lang="en-US" b="1" dirty="0">
                  <a:solidFill>
                    <a:srgbClr val="032F62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E:/REPO/01.PNG</a:t>
              </a:r>
              <a:r>
                <a:rPr lang="en-US" dirty="0">
                  <a:solidFill>
                    <a:srgbClr val="032F62"/>
                  </a:solidFill>
                  <a:latin typeface="Consolas" panose="020B0609020204030204" pitchFamily="49" charset="0"/>
                </a:rPr>
                <a:t>'</a:t>
              </a:r>
              <a:r>
                <a:rPr lang="en-US" dirty="0">
                  <a:solidFill>
                    <a:srgbClr val="24292E"/>
                  </a:solidFill>
                  <a:latin typeface="Consolas" panose="020B0609020204030204" pitchFamily="49" charset="0"/>
                </a:rPr>
                <a:t>)</a:t>
              </a:r>
              <a:r>
                <a:rPr lang="en-US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) </a:t>
              </a:r>
            </a:p>
            <a:p>
              <a:pPr>
                <a:buNone/>
              </a:pPr>
              <a:r>
                <a:rPr lang="en-US" b="1" dirty="0">
                  <a:solidFill>
                    <a:srgbClr val="24292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model</a:t>
              </a:r>
              <a:r>
                <a:rPr lang="en-US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 </a:t>
              </a:r>
              <a:r>
                <a:rPr lang="en-US" b="0" dirty="0">
                  <a:solidFill>
                    <a:srgbClr val="D73A49"/>
                  </a:solidFill>
                  <a:effectLst/>
                  <a:latin typeface="Consolas" panose="020B0609020204030204" pitchFamily="49" charset="0"/>
                </a:rPr>
                <a:t>= </a:t>
              </a:r>
              <a:r>
                <a:rPr lang="en-US" b="0" dirty="0">
                  <a:solidFill>
                    <a:srgbClr val="24292E"/>
                  </a:solidFill>
                  <a:effectLst/>
                  <a:latin typeface="Consolas" panose="020B0609020204030204" pitchFamily="49" charset="0"/>
                </a:rPr>
                <a:t>LatexOCR() 				   ; </a:t>
              </a:r>
              <a:r>
                <a:rPr lang="en-US" b="0" dirty="0">
                  <a:solidFill>
                    <a:srgbClr val="D73A49"/>
                  </a:solidFill>
                  <a:effectLst/>
                  <a:latin typeface="Consolas" panose="020B0609020204030204" pitchFamily="49" charset="0"/>
                </a:rPr>
                <a:t>print</a:t>
              </a:r>
              <a:r>
                <a:rPr lang="en-US" b="0" dirty="0">
                  <a:solidFill>
                    <a:srgbClr val="24292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(</a:t>
              </a:r>
              <a:r>
                <a:rPr lang="en-US" b="1" dirty="0">
                  <a:solidFill>
                    <a:srgbClr val="24292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model</a:t>
              </a:r>
              <a:r>
                <a:rPr lang="en-US" b="0" dirty="0">
                  <a:solidFill>
                    <a:srgbClr val="24292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(</a:t>
              </a:r>
              <a:r>
                <a:rPr lang="en-US" b="1" dirty="0">
                  <a:solidFill>
                    <a:srgbClr val="24292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img</a:t>
              </a:r>
              <a:r>
                <a:rPr lang="en-US" b="0" dirty="0">
                  <a:solidFill>
                    <a:srgbClr val="24292E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onsolas" panose="020B0609020204030204" pitchFamily="49" charset="0"/>
                </a:rPr>
                <a:t>))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1278CB2D-6D0D-08E5-A49D-6EECCE90022A}"/>
                </a:ext>
              </a:extLst>
            </p:cNvPr>
            <p:cNvSpPr txBox="1"/>
            <p:nvPr/>
          </p:nvSpPr>
          <p:spPr>
            <a:xfrm>
              <a:off x="1282266" y="5884450"/>
              <a:ext cx="1429759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2400" b="1" dirty="0">
                  <a:solidFill>
                    <a:srgbClr val="FF0000"/>
                  </a:solidFill>
                </a:rPr>
                <a:t>RES:</a:t>
              </a:r>
              <a:endParaRPr lang="en-US" b="1" dirty="0">
                <a:solidFill>
                  <a:srgbClr val="FF0000"/>
                </a:solidFill>
              </a:endParaRPr>
            </a:p>
          </p:txBody>
        </p: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8A051B33-90CE-62E3-06B7-42BBC9D357A9}"/>
                </a:ext>
              </a:extLst>
            </p:cNvPr>
            <p:cNvGrpSpPr/>
            <p:nvPr/>
          </p:nvGrpSpPr>
          <p:grpSpPr>
            <a:xfrm>
              <a:off x="4372217" y="4351343"/>
              <a:ext cx="2384084" cy="918838"/>
              <a:chOff x="4372217" y="4351343"/>
              <a:chExt cx="2384084" cy="918838"/>
            </a:xfrm>
          </p:grpSpPr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5E355AF-88EA-5E10-A105-8998572D2E9A}"/>
                  </a:ext>
                </a:extLst>
              </p:cNvPr>
              <p:cNvSpPr txBox="1"/>
              <p:nvPr/>
            </p:nvSpPr>
            <p:spPr>
              <a:xfrm>
                <a:off x="4372217" y="4351343"/>
                <a:ext cx="2384084" cy="91883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p:spPr>
            <p:txBody>
              <a:bodyPr wrap="square" lIns="0" tIns="0" rIns="0" bIns="0" rtlCol="0" anchor="ctr" anchorCtr="0">
                <a:noAutofit/>
              </a:bodyPr>
              <a:lstStyle/>
              <a:p>
                <a:endParaRPr lang="LID4096" sz="3200" b="1" i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C97E7732-C692-F62D-0E41-68E22B98D0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</a:blip>
              <a:srcRect l="1221" t="1811" r="3833"/>
              <a:stretch>
                <a:fillRect/>
              </a:stretch>
            </p:blipFill>
            <p:spPr>
              <a:xfrm>
                <a:off x="4470289" y="4448067"/>
                <a:ext cx="2154441" cy="77647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</p:pic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1E61368-AF9E-D58F-BA89-49E20124ED26}"/>
                  </a:ext>
                </a:extLst>
              </p:cNvPr>
              <p:cNvSpPr txBox="1"/>
              <p:nvPr/>
            </p:nvSpPr>
            <p:spPr>
              <a:xfrm>
                <a:off x="4429159" y="4757026"/>
                <a:ext cx="839932" cy="404617"/>
              </a:xfrm>
              <a:prstGeom prst="rect">
                <a:avLst/>
              </a:prstGeom>
              <a:noFill/>
            </p:spPr>
            <p:txBody>
              <a:bodyPr wrap="square" lIns="0" tIns="0" rIns="0" bIns="0" anchor="b" anchorCtr="0">
                <a:noAutofit/>
              </a:bodyPr>
              <a:lstStyle/>
              <a:p>
                <a:r>
                  <a:rPr lang="pt-BR" sz="4000" b="1" dirty="0">
                    <a:solidFill>
                      <a:srgbClr val="FF0000"/>
                    </a:solidFill>
                    <a:latin typeface="Horley Old Style"/>
                  </a:rPr>
                  <a:t>___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75607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49EA81F-B4DF-F143-0DE4-65020C769521}"/>
              </a:ext>
            </a:extLst>
          </p:cNvPr>
          <p:cNvSpPr txBox="1"/>
          <p:nvPr/>
        </p:nvSpPr>
        <p:spPr>
          <a:xfrm>
            <a:off x="679010" y="386142"/>
            <a:ext cx="10829339" cy="1324963"/>
          </a:xfrm>
          <a:prstGeom prst="rect">
            <a:avLst/>
          </a:prstGeom>
          <a:solidFill>
            <a:srgbClr val="9FE6FF"/>
          </a:solidFill>
        </p:spPr>
        <p:txBody>
          <a:bodyPr wrap="square">
            <a:noAutofit/>
          </a:bodyPr>
          <a:lstStyle/>
          <a:p>
            <a:r>
              <a:rPr lang="pt-BR" sz="2800" b="1" dirty="0">
                <a:solidFill>
                  <a:srgbClr val="000000"/>
                </a:solidFill>
                <a:latin typeface="Horley Old Style MT"/>
                <a:ea typeface="MS Gothic" panose="020B0609070205080204" pitchFamily="49" charset="-128"/>
                <a:cs typeface="Times New Roman" panose="02020603050405020304" pitchFamily="18" charset="0"/>
              </a:rPr>
              <a:t>CDF não. CFD!</a:t>
            </a:r>
          </a:p>
          <a:p>
            <a:r>
              <a:rPr lang="pt-BR" sz="2400" b="1" dirty="0">
                <a:solidFill>
                  <a:srgbClr val="000000"/>
                </a:solidFill>
                <a:latin typeface="Horley Old Style MT"/>
                <a:ea typeface="MS Gothic" panose="020B0609070205080204" pitchFamily="49" charset="-128"/>
                <a:cs typeface="Times New Roman" panose="02020603050405020304" pitchFamily="18" charset="0"/>
              </a:rPr>
              <a:t>Recentemente resolvi dar uma guinada, “um giro de 360º” na minha carreira profissional; - Se é que você me entende (rsrs).</a:t>
            </a:r>
          </a:p>
          <a:p>
            <a:endParaRPr lang="pt-BR" sz="2400" b="1" dirty="0">
              <a:solidFill>
                <a:srgbClr val="000000"/>
              </a:solidFill>
              <a:latin typeface="Horley Old Style MT"/>
              <a:ea typeface="MS Gothic" panose="020B0609070205080204" pitchFamily="49" charset="-128"/>
              <a:cs typeface="Times New Roman" panose="02020603050405020304" pitchFamily="18" charset="0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52D3EC3-460E-4882-DAC1-E89391147C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7549" y="2945658"/>
            <a:ext cx="5020670" cy="341927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F3527D-79B9-AC88-1AEC-641B0332AC94}"/>
              </a:ext>
            </a:extLst>
          </p:cNvPr>
          <p:cNvSpPr txBox="1"/>
          <p:nvPr/>
        </p:nvSpPr>
        <p:spPr>
          <a:xfrm>
            <a:off x="679009" y="1760761"/>
            <a:ext cx="10829339" cy="1157738"/>
          </a:xfrm>
          <a:prstGeom prst="rect">
            <a:avLst/>
          </a:prstGeom>
          <a:solidFill>
            <a:srgbClr val="9FE6FF"/>
          </a:solidFill>
        </p:spPr>
        <p:txBody>
          <a:bodyPr wrap="square">
            <a:noAutofit/>
          </a:bodyPr>
          <a:lstStyle/>
          <a:p>
            <a:r>
              <a:rPr lang="pt-BR" sz="2400" b="1" dirty="0">
                <a:solidFill>
                  <a:srgbClr val="000000"/>
                </a:solidFill>
                <a:latin typeface="Horley Old Style MT"/>
                <a:ea typeface="MS Gothic" panose="020B0609070205080204" pitchFamily="49" charset="-128"/>
                <a:cs typeface="Times New Roman" panose="02020603050405020304" pitchFamily="18" charset="0"/>
              </a:rPr>
              <a:t>MODFLOW é CFD. Fluidodinâmica Computacional:</a:t>
            </a:r>
          </a:p>
          <a:p>
            <a:r>
              <a:rPr lang="en-150" sz="1000" dirty="0"/>
              <a:t>_______</a:t>
            </a:r>
            <a:endParaRPr lang="pt-BR" sz="1000" b="1" dirty="0">
              <a:solidFill>
                <a:srgbClr val="000000"/>
              </a:solidFill>
              <a:latin typeface="Horley Old Style MT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[GIT Link_1]  </a:t>
            </a:r>
            <a:r>
              <a:rPr lang="pt-BR" sz="1400" b="1" dirty="0">
                <a:solidFill>
                  <a:srgbClr val="000000"/>
                </a:solidFill>
                <a:latin typeface="Horley Old Style MT"/>
                <a:ea typeface="MS Gothic" panose="020B0609070205080204" pitchFamily="49" charset="-128"/>
                <a:cs typeface="Times New Roman" panose="02020603050405020304" pitchFamily="18" charset="0"/>
                <a:hlinkClick r:id="rId3"/>
              </a:rPr>
              <a:t>https://github.com/grossiRM/CFD_ON/blob/main/04_OpenFoam/99_NOTES-on-CFD_OpenFoam.pdf</a:t>
            </a:r>
            <a:endParaRPr lang="pt-BR" sz="1400" b="1" dirty="0">
              <a:solidFill>
                <a:srgbClr val="000000"/>
              </a:solidFill>
              <a:latin typeface="Horley Old Style MT"/>
              <a:ea typeface="MS Gothic" panose="020B0609070205080204" pitchFamily="49" charset="-128"/>
              <a:cs typeface="Times New Roman" panose="02020603050405020304" pitchFamily="18" charset="0"/>
            </a:endParaRPr>
          </a:p>
          <a:p>
            <a:r>
              <a:rPr lang="en-US" b="1" dirty="0"/>
              <a:t>[GIT Link_2]  </a:t>
            </a:r>
            <a:r>
              <a:rPr lang="pt-BR" sz="1400" b="1" dirty="0">
                <a:solidFill>
                  <a:srgbClr val="000000"/>
                </a:solidFill>
                <a:latin typeface="Horley Old Style MT"/>
                <a:ea typeface="MS Gothic" panose="020B0609070205080204" pitchFamily="49" charset="-128"/>
                <a:cs typeface="Times New Roman" panose="02020603050405020304" pitchFamily="18" charset="0"/>
                <a:hlinkClick r:id="rId4"/>
              </a:rPr>
              <a:t>https://github.com/grossiRM/CFD_ON/blob/main/04_OpenFoam/99_NOTES-on-CFD_OpenFoam.ipynb</a:t>
            </a:r>
            <a:endParaRPr lang="LID4096" sz="14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3A508F-D643-8FE1-AAB1-23AF011E1329}"/>
              </a:ext>
            </a:extLst>
          </p:cNvPr>
          <p:cNvSpPr txBox="1"/>
          <p:nvPr/>
        </p:nvSpPr>
        <p:spPr>
          <a:xfrm>
            <a:off x="679009" y="2986261"/>
            <a:ext cx="5758005" cy="3338339"/>
          </a:xfrm>
          <a:prstGeom prst="rect">
            <a:avLst/>
          </a:prstGeom>
          <a:solidFill>
            <a:srgbClr val="9FE6FF"/>
          </a:solidFill>
        </p:spPr>
        <p:txBody>
          <a:bodyPr wrap="square">
            <a:noAutofit/>
          </a:bodyPr>
          <a:lstStyle/>
          <a:p>
            <a:r>
              <a:rPr lang="pt-BR" sz="2400" b="1" dirty="0">
                <a:solidFill>
                  <a:srgbClr val="000000"/>
                </a:solidFill>
                <a:latin typeface="Horley Old Style MT"/>
                <a:ea typeface="MS Gothic" panose="020B0609070205080204" pitchFamily="49" charset="-128"/>
                <a:cs typeface="Times New Roman" panose="02020603050405020304" pitchFamily="18" charset="0"/>
              </a:rPr>
              <a:t>Certo, vejamos um pouco então do que se trata o OpenFOAM, a título de curiosidade.</a:t>
            </a:r>
          </a:p>
          <a:p>
            <a:r>
              <a:rPr lang="pt-BR" sz="2400" b="1" dirty="0">
                <a:solidFill>
                  <a:srgbClr val="000000"/>
                </a:solidFill>
                <a:latin typeface="Horley Old Style MT"/>
                <a:ea typeface="MS Gothic" panose="020B0609070205080204" pitchFamily="49" charset="-128"/>
                <a:cs typeface="Times New Roman" panose="02020603050405020304" pitchFamily="18" charset="0"/>
              </a:rPr>
              <a:t>... ainda que só sua instalação seja uma novela, a ideia (eu juro) é trabalhar num ambiente (em Python) que facilite a vida de todos. </a:t>
            </a:r>
          </a:p>
          <a:p>
            <a:r>
              <a:rPr lang="pt-BR" sz="2400" b="1" dirty="0">
                <a:solidFill>
                  <a:srgbClr val="000000"/>
                </a:solidFill>
                <a:latin typeface="Horley Old Style MT"/>
                <a:ea typeface="MS Gothic" panose="020B0609070205080204" pitchFamily="49" charset="-128"/>
                <a:cs typeface="Times New Roman" panose="02020603050405020304" pitchFamily="18" charset="0"/>
              </a:rPr>
              <a:t>Observe aqui como fica fácil manipular qualquer fórmula matemática. </a:t>
            </a:r>
          </a:p>
          <a:p>
            <a:r>
              <a:rPr lang="pt-BR" sz="2400" b="1" dirty="0">
                <a:solidFill>
                  <a:srgbClr val="000000"/>
                </a:solidFill>
                <a:latin typeface="Horley Old Style MT"/>
                <a:ea typeface="MS Gothic" panose="020B0609070205080204" pitchFamily="49" charset="-128"/>
                <a:cs typeface="Times New Roman" panose="02020603050405020304" pitchFamily="18" charset="0"/>
              </a:rPr>
              <a:t>Próximo capítulo: FiPy(!)</a:t>
            </a:r>
          </a:p>
        </p:txBody>
      </p:sp>
    </p:spTree>
    <p:extLst>
      <p:ext uri="{BB962C8B-B14F-4D97-AF65-F5344CB8AC3E}">
        <p14:creationId xmlns:p14="http://schemas.microsoft.com/office/powerpoint/2010/main" val="2407097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C518FC7-2EB5-F34C-5ACD-098BE7850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9524" y="639024"/>
            <a:ext cx="4648200" cy="33528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88590C9-67E9-48DF-431B-C7A64EA3F6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2805" y="888135"/>
            <a:ext cx="3952875" cy="29813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E78686A-30C8-7DCF-6B01-6CB95AD5F730}"/>
              </a:ext>
            </a:extLst>
          </p:cNvPr>
          <p:cNvSpPr txBox="1"/>
          <p:nvPr/>
        </p:nvSpPr>
        <p:spPr>
          <a:xfrm>
            <a:off x="829523" y="4610099"/>
            <a:ext cx="10667151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Resolvi dar uma guinada, “um giro de 360º” nos meus objetivos, se é que você me entende. </a:t>
            </a:r>
            <a:endParaRPr lang="pt-BR" dirty="0"/>
          </a:p>
          <a:p>
            <a:r>
              <a:rPr lang="pt-BR" dirty="0"/>
              <a:t>Como MODFLOW é CFD, vejamos o que se entende, via OpenFOAM, por Fluidodinâmica Computacional. </a:t>
            </a:r>
          </a:p>
          <a:p>
            <a:r>
              <a:rPr lang="pt-BR" b="1" dirty="0"/>
              <a:t>Mas antes da novela da instalação, observe aqui um exemplo de como fica fácil manipular qualquer fórmula matemática neste novo ambiente.</a:t>
            </a:r>
            <a:endParaRPr lang="pt-BR" dirty="0"/>
          </a:p>
          <a:p>
            <a:r>
              <a:rPr lang="pt-BR" b="1" dirty="0"/>
              <a:t>﻿Próximo capítulo: FiPy! </a:t>
            </a:r>
            <a:endParaRPr lang="pt-BR" dirty="0"/>
          </a:p>
          <a:p>
            <a:r>
              <a:rPr lang="pt-BR" dirty="0"/>
              <a:t>https://github.com/grossiRM/CFD_ON/blob/main/04_OpenFoam/99_NOTES-on-CFD_OpenFoam.ipynb </a:t>
            </a:r>
          </a:p>
          <a:p>
            <a:r>
              <a:rPr lang="pt-BR" dirty="0"/>
              <a:t>CDF não. CFD! 😜</a:t>
            </a:r>
          </a:p>
        </p:txBody>
      </p:sp>
    </p:spTree>
    <p:extLst>
      <p:ext uri="{BB962C8B-B14F-4D97-AF65-F5344CB8AC3E}">
        <p14:creationId xmlns:p14="http://schemas.microsoft.com/office/powerpoint/2010/main" val="13840845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279</TotalTime>
  <Words>386</Words>
  <Application>Microsoft Office PowerPoint</Application>
  <PresentationFormat>Widescreen</PresentationFormat>
  <Paragraphs>35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1" baseType="lpstr">
      <vt:lpstr>Arial</vt:lpstr>
      <vt:lpstr>Calibri</vt:lpstr>
      <vt:lpstr>Calibri Light</vt:lpstr>
      <vt:lpstr>Cambria Math</vt:lpstr>
      <vt:lpstr>Consolas</vt:lpstr>
      <vt:lpstr>Horley Old Style</vt:lpstr>
      <vt:lpstr>Horley Old Style MT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grossi</dc:creator>
  <cp:lastModifiedBy>grossi</cp:lastModifiedBy>
  <cp:revision>36</cp:revision>
  <dcterms:created xsi:type="dcterms:W3CDTF">2026-05-20T13:22:55Z</dcterms:created>
  <dcterms:modified xsi:type="dcterms:W3CDTF">2026-06-30T10:41:49Z</dcterms:modified>
</cp:coreProperties>
</file>